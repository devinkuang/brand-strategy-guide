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7.xml"/>
</Relationships>
</file>

<file path=ppt/notesSlides/_rels/notesSlide2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8.xml"/>
</Relationships>
</file>

<file path=ppt/notesSlides/_rels/notesSlide2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9.xml"/>
</Relationships>
</file>

<file path=ppt/notesSlides/_rels/notesSlide3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0.xml"/>
</Relationships>
</file>

<file path=ppt/notesSlides/_rels/notesSlide3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1.xml"/>
</Relationships>
</file>

<file path=ppt/notesSlides/_rels/notesSlide3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2.xml"/>
</Relationships>
</file>

<file path=ppt/notesSlides/_rels/notesSlide3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3.xml"/>
</Relationships>
</file>

<file path=ppt/notesSlides/_rels/notesSlide3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4.xml"/>
</Relationships>
</file>

<file path=ppt/notesSlides/_rels/notesSlide3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5.xml"/>
</Relationships>
</file>

<file path=ppt/notesSlides/_rels/notesSlide3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6.xml"/>
</Relationships>
</file>

<file path=ppt/notesSlides/_rels/notesSlide3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7.xml"/>
</Relationships>
</file>

<file path=ppt/notesSlides/_rels/notesSlide3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8.xml"/>
</Relationships>
</file>

<file path=ppt/notesSlides/_rels/notesSlide3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9.xml"/>
</Relationships>
</file>

<file path=ppt/notesSlides/_rels/notesSlide4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0.xml"/>
</Relationships>
</file>

<file path=ppt/notesSlides/_rels/notesSlide4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1.xml"/>
</Relationships>
</file>

<file path=ppt/notesSlides/_rels/notesSlide4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2.xml"/>
</Relationships>
</file>

<file path=ppt/notesSlides/_rels/notesSlide4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3.xml"/>
</Relationships>
</file>

<file path=ppt/notesSlides/_rels/notesSlide4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4.xml"/>
</Relationships>
</file>

<file path=ppt/notesSlides/_rels/notesSlide4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5.xml"/>
</Relationships>
</file>

<file path=ppt/notesSlides/_rels/notesSlide4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6.xml"/>
</Relationships>
</file>

<file path=ppt/notesSlides/_rels/notesSlide4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7.xml"/>
</Relationships>
</file>

<file path=ppt/notesSlides/_rels/notesSlide4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8.xml"/>
</Relationships>
</file>

<file path=ppt/notesSlides/_rels/notesSlide4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9.xml"/>
</Relationships>
</file>

<file path=ppt/notesSlides/_rels/notesSlide5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0.xml"/>
</Relationships>
</file>

<file path=ppt/notesSlides/_rels/notesSlide5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1.xml"/>
</Relationships>
</file>

<file path=ppt/notesSlides/_rels/notesSlide5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2.xml"/>
</Relationships>
</file>

<file path=ppt/notesSlides/_rels/notesSlide5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3.xml"/>
</Relationships>
</file>

<file path=ppt/notesSlides/_rels/notesSlide5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4.xml"/>
</Relationships>
</file>

<file path=ppt/notesSlides/_rels/notesSlide5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5.xml"/>
</Relationships>
</file>

<file path=ppt/notesSlides/_rels/notesSlide5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6.xml"/>
</Relationships>
</file>

<file path=ppt/notesSlides/_rels/notesSlide5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7.xml"/>
</Relationships>
</file>

<file path=ppt/notesSlides/_rels/notesSlide5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8.xml"/>
</Relationships>
</file>

<file path=ppt/notesSlides/_rels/notesSlide5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9.xml"/>
</Relationships>
</file>

<file path=ppt/notesSlides/_rels/notesSlide6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0.xml"/>
</Relationships>
</file>

<file path=ppt/notesSlides/_rels/notesSlide6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1.xml"/>
</Relationships>
</file>

<file path=ppt/notesSlides/_rels/notesSlide6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2.xml"/>
</Relationships>
</file>

<file path=ppt/notesSlides/_rels/notesSlide6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3.xml"/>
</Relationships>
</file>

<file path=ppt/notesSlides/_rels/notesSlide6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4.xml"/>
</Relationships>
</file>

<file path=ppt/notesSlides/_rels/notesSlide6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5.xml"/>
</Relationships>
</file>

<file path=ppt/notesSlides/_rels/notesSlide6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6.xml"/>
</Relationships>
</file>

<file path=ppt/notesSlides/_rels/notesSlide6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7.xml"/>
</Relationships>
</file>

<file path=ppt/notesSlides/_rels/notesSlide6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8.xml"/>
</Relationships>
</file>

<file path=ppt/notesSlides/_rels/notesSlide6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9.xml"/>
</Relationships>
</file>

<file path=ppt/notesSlides/_rels/notesSlide7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0.xml"/>
</Relationships>
</file>

<file path=ppt/notesSlides/_rels/notesSlide7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1.xml"/>
</Relationships>
</file>

<file path=ppt/notesSlides/_rels/notesSlide7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2.xml"/>
</Relationships>
</file>

<file path=ppt/notesSlides/_rels/notesSlide7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开场白：感谢各位今天的时间。接下来90分钟，我将完整呈现"岛屿来信"品牌全案策略方案。这不是一份"怎么做潮玩"的方案——这是一封写了74页的信，关于"情绪如何被翻译成产品"。让我们开始。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先看整体结构。方案分三大部分：市场调研、战略定位、战略执行，外加附录。第一部分回答"生态位在哪里"——外部环境、竞争格局、用户洞察、自身诊断，最终指向一个生态位的判断。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第二部分是战略定位——基于生态位构建品牌身份。从定位方法选择开始，到品牌价值体系搭建：使命、愿景、价值观、人格、故事、命名、广告语、视觉。这一部分回答"我是谁"。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好，进入第一部分：发现价值——市场调研。这一部分的目标不是堆积数据，而是找到品牌生态位。生态位 = 市场空白 ∩ 用户需求 ∩ 自身能力。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PESTEL雷达图，六个维度扫描宏观环境。重点看两个方向：政策端——文化产业十四五规划明确支持原创IP；社会端——独居经济+情绪消费双重浪潮叠加。这两个趋势不是短期风口，是结构性变化。后面会展开。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六个维度的深度解读。请关注几个关键数字：中国潮玩市场规模在2025年已突破800亿，但"情绪陪伴"这个细分品类几乎没有品牌化产品。这就是结构性缺口。政策、经济、社会三个维度都在指向同一个方向——用户需要的不只是"好看的摆件"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PESTEL的结论很明确：大环境有利，但真正的机会不在"潮玩品类增长"这个所有人都看到的趋势上——在"情感价值型消费品"这个更大的赛道。潮玩是载体，情感是内核。这个判断直接影响了我们后面的定位选择。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现在进入竞争格局分析。我们用"功能-情感"和"大众-小众"两个轴画出10家竞品的位置。请关注右上象限——"高情感+小众"——几乎是空的。左下角"高功能+大众"挤满了品牌。这个空白就是我们的生态位方向。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对10家竞品逐个扫描。不只看它们在卖什么产品，更要看它们在说什么故事。大多数潮玩品牌讲的是"收藏+稀有+盲盒的惊喜"——这是功能价值的故事。没有人讲"情绪陪伴+被理解"的故事。这不是竞品做得不好——是它们选择了不同的定位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竞品替代分析。用户不买潮玩的时候，他们用什么满足情绪需求？书本、音乐、宠物、心理咨询、日记……这些"替代品"的共同特征：需要用户主动投入精力。我们的机会：做一个"被动的陪伴者"——放在桌上，不用互动，它就在那里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构性的缺口已经非常清晰了。功能侧：潮玩市场供给过剩，同质化严重，用户忠诚度低。情感侧：有强烈需求，但没有品牌化供给。"情感陪伴型潮玩"不是一个小众需求——它是一个没有被品牌化的大众需求。这就是生态位的核心判断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用户画像的第一位：小夏。25岁，一线城市独居，互联网运营。她的核心痛点是"下班回到空房间的那种安静"。她买过盲盒，但拆完就放一边了。她需要的是一个"知道她在"的存在。请关注她的原话——这些是从真实用户访谈中提炼的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阿哲。28岁，程序员，社交圈小。他的核心痛点是"话少但想被理解"。他不是不想社交，是社交对他来说是消耗。他需要一个"不用说话也懂他"的角色。雾人这个角色，某种程度上就是为阿哲设计的。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小念。22岁，大学生，正在经历"第一次真正意义上的孤独"。离开家、离开老朋友，在新城市还没有建立新的连接。她的需求是"过渡期的陪伴"——不是永久的，但这段时期很重要。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柳。32岁，自由职业者，在家工作。她的核心痛点是"一个人工作，一整天不说话"。她需要一个"工位上的陪伴者"。注意她和阿哲的区别——阿哲是社交回避，大柳是社交缺失。不同的人，同一个解决方案：一个安静的陪伴者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画像的交叉矩阵。请关注"共同痛点"这一栏：四个完全不同的人，共享同一个痛点——"缺乏低负担的情感连接"。这不是巧合，这是生态位的用户基础。四类人、四个生活场景、同一个需求——这就是品类机会的强度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户旅程地图，选取了小夏的一天作为叙事线。从"早上起床看到桌上的雾人"到"晚上回家打开小程序读日报"。每一个触点上标注了用户的心理状态和品牌的机会点。关键洞察：用户不是"购买时刻"变成用户的——是在"使用时刻"慢慢变成用户的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情绪曲线。用户旅程中情绪最高和最低的点。最高点是"拆开信封看到角色来信的那一刻"——这是品牌的核心峰值体验。最低点是"下班后的孤独感"。品牌的角色就是在这两个极点之间架桥——在低谷时出现，在高峰时被记住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户流失与回流分析。为什么用户会离开？因为"新鲜感过了"。为什么用户会回来？因为"有一天特别难过的时候想起了它"。这个模式告诉我们：品牌的核心KPI不是DAU，是"用户难过的时候会不会想起你"。这是后面内容策略和社群策略的核心逻辑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WOT分析。优势：差异化定位、"情感翻译者"的独特视角。劣势：新品牌无认知、资金有限。机会：情绪消费大趋势、品类品牌空白。威胁：大厂进入、用户新鲜感衰减。SWOT不是"列出来就完了"——它是下一步TOWS策略制定的输入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WS交叉策略。SO策略——用差异化定位抓住情绪消费趋势，这是主攻方向。WO策略——用内容（不是广告费）建立品牌认知。ST策略——用"角色人格深度"建立壁垒，让大厂"做不了"。WT策略——用"克制的内容节奏"对抗用户疲劳。每一条都对应后面的执行模块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生态位确认页。三个圆的交集：市场空白（情感陪伴型潮玩无品牌化产品）、用户需求（低负担的情感连接）、自身能力（内容创作+品牌叙事）。交集处就是我们的生态位——"情绪翻译者"。这不是一个产品定义，是一个品牌身份定义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第一部分小结。市场调研的最终结论就是这三个词：市场有空白、用户有需求、我们能做。空白不是"没人做潮玩"——是"没人把潮玩做成情绪陪伴的载体"。这个判断将直接导出第二部分的定位策略选择。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进入第二部分：创造价值——战略定位。市场调研告诉我们"空白在哪里"，这一部分要回答"我们应该成为谁来占据这个空白"。不是创造最好的品牌，是创造最适合这个生态位的品牌。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定位方法决策树。四种定位方法不是菜单——是漏斗。四个问题依次过滤：品类有领导品牌吗？领导有结构性弱点吗？品类功能同质化严重吗？用户是价值观驱动型吗？对于岛屿来信，第三个问题一击即中——潮玩市场功能高度同质化，情感是未被利用的差异化维度。结论：情感价值型定位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数据验证情感价值型定位的选择。三个证据：竞品分析显示"情感维度供给空白"、用户画像显示"情感需求是第一购买动力"、品类趋势显示"功能同质化→情感差异化是行业规律"。不是"我们想用情感定位"——是"生态位只允许情感定位"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定位陈述。岛屿来信，为"需要被理解但不需要被打扰"的年轻人，提供"可以放在桌上的情绪陪伴实体"。不同于传统潮玩——我们不卖收藏价值，我们卖"被理解的感觉"。这页是整份方案最重要的50个字，后面74页都在为这50个字服务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品牌价值画布。把定位翻译成用户可感知的价值。功能价值：实体潮玩角色+小程序内容。情感价值：被理解、被陪伴、不孤单。意义价值：你的每一种情绪都值得被看见。"岛屿来信"的"来信"两个字的含义就在这里展开——不是你在写信，是你收到了回信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"翻译三部曲"——这是我们自创的战略工具。品牌的核心能力定义为"翻译"：第一步，把情绪翻译成角色（雾人=迷茫）；第二步，把角色翻译成产品（雾人的材质、尺寸、触感都翻译"迷茫"这种情绪）；第三步，把产品翻译成内容（日报、来信、社群话题）。三步层层递进，确保定位不衰减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使命宣言。岛屿来信的使命不是"做最好的潮玩"——是"让每一种说不清的情绪收到一封回信"。请品一下"说不清"这三个字——它不是针对那些已经知道自己需要什么的用户，而是针对那些"总觉得少了点什么但说不出来"的用户。这个使命很窄，但很锋利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愿景。不是"成为中国最大的潮玩品牌"——是"让每个感到'说不清'的人桌面上有来自岛屿的信"。可感知、可验证。衡量愿景是否达成的标准不是市场份额，是"有多少人因为我们的存在而觉得自己被理解了"。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大价值观。克制、诚实、从容、具体。每一条都有"不做"的对应项——克制的反面不是张扬，是"不打扰"；诚实的反面不是欺骗，是"不美化"；从容的反面不是急躁，是"不催促"；具体的反面不是抽象，是"不说正确的废话"。价值观的定义方式不是"我们要做什么"——是"我们不做的事情是什么"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品牌原型：照顾者+创造者的混合。照顾者负责"陪伴"——雾人不需要你做任何事，它就在那里。创造者负责"翻译"——把那些说不清的情绪变成具体的角色、文字、产品。为什么不是"英雄"原型？因为英雄要拯救你，而照顾者只是陪着你。这个品牌不需要"拯救"用户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语气指南。品牌说话的方式决定了用户感受到的温度。四个核心原则：不鸡汤、不说教、不卖惨、不装。对应的语气是：平淡中有温度、简短中有深意、具体中有共情。这页有具体的"该说的"和"不该说的"对照表——比如不该说"加油，你是最棒的！"，应该说"今天不想说话也没关系。我在这里。"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创始人故事。"为什么是你来做这件事？"——这不是可选项，是品牌信任的核心来源。三个故事：创立的原因（看见了什么别人没看见的东西）、坚持的信念（再难也不会妥协的是什么）、未来的承诺（品牌十年后还在坚守什么）。创始人的故事不是包装——是品牌故事的原型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故事验证，用"可信/独特/相关/简洁"四个标准检验创始人故事和品牌故事。关键：故事不是编出来的——是从品牌的核心决策中提炼出来的。如果一个品牌的故事和它的定价策略、渠道策略、内容策略对不上，故事就成了广告文案。这一页确保故事经得起四个维度的检验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品牌命名解析。"岛屿来信"四个字拆开来看：岛屿=独立的小世界，每一个岛屿都不一样；来信=被动的接收，不是你在写信，是你收到了回信。"岛屿"代表个性，"来信"代表被理解。名字本身就在说一个故事——你不需要主动求助，理解会自己找到你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广告语体系。三层结构：品牌级广告语——"让每一种说不清的情绪收到一封回信"（使命即广告语）；产品级广告语——"你的情绪，有人听懂"（强调"翻译"能力）；传播级广告语——"这封信，写给你"（与包装概念呼应）。三层各有用途，不能混用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色彩系统。"旧纸白"为底，"深空蓝"为字，"雾灰"为功能色，"铜绿"为强调色。五套情感色：夜光黄、嫩芽绿、半透明蓝、暖棕、做旧铜色——每种颜色对应一种情绪基调。这个色彩系统的核心逻辑：不是"好看"，是"对"——每一种颜色都在翻译一种情绪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ogo与字体。Logo的设计逻辑：不是图形优先，是文字优先。"岛屿来信"四个字的手写感变化就是Logo的核心识别。字体选择：KaiTi作标题——有手写温度，Georgia作英文衬线——有书信感。字体的选择标准不是"好看"，是"像一封信上的字"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视觉方向。三个维度定义品牌的视觉语言：摄影方向（侧光×微距×暗角×负空间——四个关键词）、包装设计（信封式结构×触感材质×纤维/温度/重量/声音——触感优先于视觉）、品牌场景图（每个角色一张场景图——不是摄影棚，是真实的桌面/床边/书架）。核心原则：视觉不是在"设计"，是在"翻译"品牌故事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部分小结。战略定位的最终产出：品牌身份体系——从定位方法到视觉方向，九个模块全部对齐到同一个主轴："情绪翻译者"。如果把"情绪翻译者"这个定位拿走，后面的使命、愿景、价值观、人格、故事、命名、广告语、视觉——全部会塌掉。这就是定位一致性的力量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三部分：传播价值——战略执行。前面我们定义了品牌"是谁"，现在要回答"怎么做"——产品、定价、渠道、内容、社群、年度规划。每一个执行决策都必须可以追溯到定位策略。如果追溯不回去，就说明这个决策不该做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产品策略：四波产品节奏。Wave 1：雾人（单角色上市，验证核心假设）。Wave 2：碎片雾组件（降低门槛，扩大用户群）。Wave 3：角色扩展（涟漪、石头、根根——四个角色陆续上市）。Wave 4：场景延伸（邮局体验空间、信纸周边）。四波不是四个产品——是四个验证节点，每一波验证一个假设。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"为什么是雾人，而且只有雾人？"——这是产品策略中最关键的决策。四个角色中选雾人作为首发角色，因为"迷茫"是最普世的情绪。另外三个理由：制造稀缺感（不是四个一起出）、集中资源打透一个、避免用户选择困难。这个决策的背后逻辑就是定位：情感价值型品牌不能"多"，要"深"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雾人MVP定义。产品规格：约8cm高、搪胶材质、哑光表面、带信封式外包装和一封角色来信。定价69元。关键设计决策：雾人的"模糊边界"——不是工艺限制，是有意为之。雾人是迷茫的情绪实体化，迷茫本身就是模糊的。产品设计语言和品牌定位完全咬合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碎片雾——Wave 2的核心产品。把雾人拆成碎片状的小组件，用户可以自己组装。这里借用了IKEA效应：用户对自己组装的东西有更高的价值感知。"拼雾星期三"是一个内容+产品+社群的复合设计。用户不是买了一个产品，是"用三个星期三拼出了一个雾人"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产品一致性检验。四个"不做"原则：不做盲盒（与"被理解的确定性"矛盾）、不做限量编号（制造焦虑，与陪伴感矛盾）、不做联名（稀释品牌身份）、不做功能性迭代（雾人不需要2.0版——情绪不需要升级）。每一条"不做"都是从定位推导出来的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层价值模型。基础层——产品价值：实体潮玩的品质、触感、工艺。中间层——内容价值：角色来信、日报、社群话题。顶层——意义价值：被理解、被看见、不孤单。定价的信心来源：用户不是在为一个搪胶公仔付69元——是在为三层价值付费。69元=两杯喜茶=一个持续陪伴的情感载体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户关系里程碑。从"路人→关注者→购买者→共建者→传播者"的五阶段模型。每个阶段用不同的KPI指标，不做一刀切的"增长"。里程碑设计呼应了"克制的陪伴"——我们不催促用户"快进入下一阶段"，而是"在每个阶段做到最好"。慢，就是这个品牌的增长方式。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定价结构。单角色69元、碎片雾组件39元、完整角色套装88元。价格带设计逻辑：不跟竞品比价格——跟"替代品"比价格。69元在用户心智中的锚点不是"其他潮玩多少钱"，而是"两杯喜茶的钱=一个一直陪着你的雾人"。锚定效应加上情感溢价，构成了定价的底气。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"不打折"原则。这不是骄傲——是对"信"的价值的确定。理由三层：Le Labo不打折→用户对价格的信赖建立在"今天明天都一样"上；打折伤害早期支持者→众筹用户花69元，后来打折到49元，他们会觉得被背叛；打折=对品牌价值的自我否定→"如果这个陪伴值69元，为什么今天只要49？"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创始人IP策略。三个故事：创立故事（为什么开始）、信念故事（坚持什么）、未来故事（要去哪里）。内容分工：创始人讲品牌故事和行业洞察，角色讲日常陪伴和情绪共鸣。创始人=品牌的"人话版"，角色=品牌的"诗意版"。两者不能混淆，也不能缺失。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内容三支柱。创始人内容（10%）：品牌故事、行业观点、价值观表达。品牌内容（20%）：角色介绍、产品设计理念、品牌活动。角色内容（70%）：日报、来信、情绪共鸣、日常陪伴。比例不是拍脑袋——70%给角色内容，因为用户关注的是"雾人今天说了什么"，不是"品牌今天发布了什么"。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信任螺旋漏斗。从"知道→兴趣→信任→购买→复购→共建"六个阶段，每个阶段的内容策略和关键指标不同。重点看第三层"信任"——这是传统AISAS漏斗没有的。用户不是从"兴趣"直接跳到"购买"——中间需要"信任"这个情感桥梁。内容公式：信任内容=真实故事×高频出现×不推销。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SAS模型修正。标准AISAS：注意→兴趣→搜索→行动→分享。岛屿来信修正版：A→I→Silence→A→S。把"Search搜索"改成"Silence沉默"——这是我们在战略中最核心的洞察之一。用户不是通过搜索比较来做决定——是在"沉默的陪伴中被慢慢说服"的。Silence=品牌默默在那里，不说服、不催促、不叫卖。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内容矩阵。五个角色×七个内容系列的网格。每个角色在不同内容系列中的频次和主力方向不同。雾人是"主力"——五个系列都有他。其他角色各有侧重。右下角的"每周内容日历"是一份可执行的操作表——哪个角色在星期几、什么时间、发什么类型的内容。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内容KPI。左边四个"不"：不追热点、不说教、不抽奖、不品牌说话。右边核心指标："这我指数"——内容下用户回复"说的是我"类评论的比例，目标≥15%。传统KPI（阅读量、涨粉数）放在次要位置。考核标准对定义策略：如果我们的KPI是涨粉数，我们会追热点。如果KPI是"这我指数"，我们会写更深的情绪内容。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社群"群岛"架构。三层模型：群岛居民（付费用户，第一封信×日报×拼雾星期三）、岛屿访客（关注未购买，日报可见×部分内容）、公海层（公众号/小红书/微博的泛关注者）。三层之间的转化路径和每层的核心仪式。不是做大群——是做深"群岛"。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社群的仪式感与慢哲学。四个仪式：每周三"拼雾星期三"、每月"角色来信日"、每季度"岛屿故事征集"、每年"岛屿日"。五个"慢哲学"原则：不追求活跃度、不追求群人数、不追求消息数、追求"沉默留存率"、追求"回来那天说了什么"。"慢"不是效率低——是给情绪留出空间。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渠道路线图。四阶段：①众筹启动（验证需求+积累种子用户）→②自营小程序（建立品牌体验闭环）→③精选零售渠道（破圈触达新用户）→④自有邮局体验空间（品牌空间实体化）。每个阶段有明确的进入条件和退出标准，不跳跃、不急躁。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渠道选择原则。"三不铺"：不铺快（不追求铺货速度，追求铺货质量）、不铺杂（不进入与品牌定位不符的渠道，比如量贩店）、不铺冷（不进入体验做不好的渠道）。每个潜在渠道用六个维度打分：品牌调性匹配度、用户画像重叠度、体验可控度、利润可持续性、合作稳定性、长期战略价值。不是"能进去的都进"——是"进去的每一个都在讲品牌故事"。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2026年度甘特图。五条工作线并行：产品开发、内容储备、社群搭建、众筹准备、品牌基建。关键里程碑：7月品牌基建启动→8月内容开始储备→9月雾人打样完成→10月众筹启动→11月众筹结束→12月生产排期。资源分配上，产品和内容占大头——这是品牌早期的正确配比。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2027年度甘特图。五条线的延续：产品交付、Wave 2上线、内容运营、社群扩展、渠道拓展。三个"三点检查"：Q1验证内容体验（用户读不读来信）、Q2验证增长模式（礼品场景是否成立）、Q3验证空间体验（快闪店数据）。每个检查点有明确的通过/不通过标准和对应的决策逻辑。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预算瀑布图。总预算150万，五个大项：产品开发55万（36.7%）、内容创作30万（20%）、社群运营25万（16.7%）、渠道拓展25万（16.7%）、品牌基建15万（10%）。预算结构翻译了品牌策略：钱花在"做出好东西"和"说出好故事"上，而不是花在"买流量"和"铺渠道"上。这是定位的预算表达。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里程碑与KPI体系。三个检查点、九个KPI、一个北极星指标。北极星：沉默留存率≥60%。为什么不是GMV、不是用户数？因为这个品牌的核心资产不是"卖了多少个雾人"，而是"有多少人把雾人留在了桌上"。沉默留存率=用户不互动但也不取关、不退群——说明品牌已经是"桌子上的雾人"了。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部分小结。七个模块的一致性回顾：产品（四波节奏×四不做×IKEA效应）、定价（三层价值×不打折×锚定替代品）、创始人IP（三个故事×两轨分工）、内容（漏斗×AISAS修正×矩阵×KPI）、社群（三层架构×仪式×慢哲学）、渠道（四阶段×三不铺×打分矩阵）、年度规划（甘特图×预算×KPI）。每一个执行决策都可以画一条线回到第28页的定位陈述。画不出这条线的决策，就是赘肉。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附录部分。前面68页是"论证"，后面这几页是"溯源"——我们用了哪些理论框架、做了哪些完整性检查、列出了哪些待验证假设、站在了哪些巨人的肩膀上。附录是方案的"参考文献"——不是为了凑页数，是为了让读者知道这份方案的边界和诚实之处。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理论框架溯源。七套核心框架的来源和在本方案中的具体应用：PESTEL、波特五力、SWOT/TOWS、特劳特定位四方法、电通AISAS模型、荣格品牌原型、信任螺旋。"三用三不用"原则：用框架作为思考工具、不用框架作为装饰；用框架的实质逻辑、不用框架的表面术语；用框架推动决策、不用框架证明已有结论。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完整性自检。四层质量门逐项检查。Layer 0——结构完整：74页、三大阶段+附录全覆盖。Layer 1——逻辑自洽：从生态位到定位到执行，所有决策可以溯源。Layer 2——洞察深度：有真实案例佐证、有数据来源、有不显而易见的结论。Layer 3——可执行性：创始人明天拿到这份方案知道第一步做什么。自检不是自我表扬——是诚实地标记"我们确认了什么、我们假设了什么"。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待验证假设清单。P0级（不验证就死）：用户愿意为情绪陪伴付费69元、角色来信+日报是留存核心动力、情感价值型品牌在中国潮玩市场成立。P1级（重要可延后）：礼品场景占比、零售渠道破圈效果。P2级（锦上添花）：自有空间盈利、海外市场。每一条假设都配了验证方法、验证时机、成功标准。这份方案的诚实之处——不是每页都写着"一定对"，而是"我们知道哪些需要验证，给验证留了方法和时间"。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巨人的肩膀。三层同心圆——内圈（精神内核）：吉卜力的"日常中的神性"、杉本博司的"时间作为表达"、谷川俊太郎的"最简单的语言说最复杂的情感"。中圈（品类启发）：Jellycat的"人格化"、Le Labo的"不打折"、MUJI的"够好不需要大声"。外圈（方法论工具）：波特、特劳特、电通、荣格。站在巨人的肩膀上不是模仿——是看清楚他们看到了什么，然后往自己的方向走远一点。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封底。这封信写了74页。接下来，该寄出去了。感谢各位的时间。开放提问。</a:t>
            </a:r>
          </a:p>
          <a:p>
            <a:endParaRPr lang="zh-CN" dirty="0"/>
          </a:p>
          <a:p>
            <a:r>
              <a:rPr lang="zh-CN" dirty="0"/>
              <a:t>岛屿来信。让每一种说不清的情绪，收到一封回信。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703a46b58ee98c5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609c533d43df7a14.jp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d7671f57211ecdc.jpg"/>
  <Relationship Id="rId3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5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6.xml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7.xml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8.xml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9.xml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0.xml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1.xml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2.xml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3.xml"/>
</Relationships>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4.xml"/>
</Relationships>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5.xml"/>
</Relationships>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6.xml"/>
</Relationships>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7.xml"/>
</Relationships>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8.xml"/>
</Relationships>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9.xml"/>
</Relationships>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0.xml"/>
</Relationships>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02c57f4f9776594.jpg"/>
  <Relationship Id="rId3" Type="http://schemas.openxmlformats.org/officeDocument/2006/relationships/notesSlide" Target="../notesSlides/notesSlide41.xml"/>
</Relationships>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2.xml"/>
</Relationships>
</file>

<file path=ppt/slides/_rels/slide4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85893a09e32dd9f.jpg"/>
  <Relationship Id="rId3" Type="http://schemas.openxmlformats.org/officeDocument/2006/relationships/notesSlide" Target="../notesSlides/notesSlide43.xml"/>
</Relationships>
</file>

<file path=ppt/slides/_rels/slide4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4.xml"/>
</Relationships>
</file>

<file path=ppt/slides/_rels/slide4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5.xml"/>
</Relationships>
</file>

<file path=ppt/slides/_rels/slide4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6.xml"/>
</Relationships>
</file>

<file path=ppt/slides/_rels/slide4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7.xml"/>
</Relationships>
</file>

<file path=ppt/slides/_rels/slide4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8.xml"/>
</Relationships>
</file>

<file path=ppt/slides/_rels/slide4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9.xml"/>
</Relationships>
</file>

<file path=ppt/slides/_rels/slide5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0.xml"/>
</Relationships>
</file>

<file path=ppt/slides/_rels/slide5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1.xml"/>
</Relationships>
</file>

<file path=ppt/slides/_rels/slide5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2.xml"/>
</Relationships>
</file>

<file path=ppt/slides/_rels/slide5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3.xml"/>
</Relationships>
</file>

<file path=ppt/slides/_rels/slide5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4.xml"/>
</Relationships>
</file>

<file path=ppt/slides/_rels/slide5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5.xml"/>
</Relationships>
</file>

<file path=ppt/slides/_rels/slide5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6.xml"/>
</Relationships>
</file>

<file path=ppt/slides/_rels/slide5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7.xml"/>
</Relationships>
</file>

<file path=ppt/slides/_rels/slide5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8.xml"/>
</Relationships>
</file>

<file path=ppt/slides/_rels/slide5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9.xml"/>
</Relationships>
</file>

<file path=ppt/slides/_rels/slide6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0.xml"/>
</Relationships>
</file>

<file path=ppt/slides/_rels/slide6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1.xml"/>
</Relationships>
</file>

<file path=ppt/slides/_rels/slide6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2.xml"/>
</Relationships>
</file>

<file path=ppt/slides/_rels/slide6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3.xml"/>
</Relationships>
</file>

<file path=ppt/slides/_rels/slide6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4.xml"/>
</Relationships>
</file>

<file path=ppt/slides/_rels/slide6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5.xml"/>
</Relationships>
</file>

<file path=ppt/slides/_rels/slide6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6.xml"/>
</Relationships>
</file>

<file path=ppt/slides/_rels/slide6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7.xml"/>
</Relationships>
</file>

<file path=ppt/slides/_rels/slide6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a72f54aa7c7f9fa.jpg"/>
  <Relationship Id="rId3" Type="http://schemas.openxmlformats.org/officeDocument/2006/relationships/notesSlide" Target="../notesSlides/notesSlide68.xml"/>
</Relationships>
</file>

<file path=ppt/slides/_rels/slide6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9.xml"/>
</Relationships>
</file>

<file path=ppt/slides/_rels/slide7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0.xml"/>
</Relationships>
</file>

<file path=ppt/slides/_rels/slide7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1.xml"/>
</Relationships>
</file>

<file path=ppt/slides/_rels/slide7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2.xml"/>
</Relationships>
</file>

<file path=ppt/slides/_rels/slide7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ebb26ef3fe8af3c5.jpg"/>
  <Relationship Id="rId3" Type="http://schemas.openxmlformats.org/officeDocument/2006/relationships/notesSlide" Target="../notesSlides/notesSlide7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8906" r="0" b="289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1905000"/>
          </a:xfrm>
          <a:prstGeom prst="rect">
            <a:avLst/>
          </a:prstGeom>
          <a:gradFill>
            <a:gsLst>
              <a:gs pos="0">
                <a:srgbClr val="3C3C5C">
                  <a:alpha val="30000"/>
                </a:srgbClr>
              </a:gs>
              <a:gs pos="100000">
                <a:srgbClr val="3C3C5C">
                  <a:alpha val="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810000"/>
            <a:ext cx="12192000" cy="3048000"/>
          </a:xfrm>
          <a:prstGeom prst="rect">
            <a:avLst/>
          </a:prstGeom>
          <a:gradFill>
            <a:gsLst>
              <a:gs pos="0">
                <a:srgbClr val="3C3C5C">
                  <a:alpha val="0"/>
                </a:srgbClr>
              </a:gs>
              <a:gs pos="60000">
                <a:srgbClr val="3C3C5C">
                  <a:alpha val="25000"/>
                </a:srgbClr>
              </a:gs>
              <a:gs pos="100000">
                <a:srgbClr val="3C3C5C">
                  <a:alpha val="55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5143500" y="31432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8B9D8B">
                <a:alpha val="5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4850320" y="3388995"/>
            <a:ext cx="2491359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F5F0E8"/>
                </a:solidFill>
                <a:latin typeface="Georgia"/>
                <a:ea typeface="KaiTi"/>
                <a:cs typeface="Georgia"/>
              </a:rPr>
              <a:t>岛屿来信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11115" y="4108132"/>
            <a:ext cx="19697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D5D0C8"/>
                </a:solidFill>
                <a:latin typeface="Georgia"/>
                <a:ea typeface="KaiTi"/>
                <a:cs typeface="Georgia"/>
              </a:rPr>
              <a:t>有些情绪是孤岛。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70132" y="4412932"/>
            <a:ext cx="245173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D5D0C8"/>
                </a:solidFill>
                <a:latin typeface="Georgia"/>
                <a:ea typeface="KaiTi"/>
                <a:cs typeface="Georgia"/>
              </a:rPr>
              <a:t>这封信从岛上寄出来。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93946" y="6085999"/>
            <a:ext cx="20041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品牌全案策略方案 · 2026年5月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57622" y="6681788"/>
            <a:ext cx="1724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8665" y="64865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目录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8763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9525">
            <a:solidFill>
              <a:srgbClr val="8B9D8B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733425" y="995362"/>
            <a:ext cx="250695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Part 1 发现价值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8665" y="14106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找到品牌生态位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50570" y="1855470"/>
            <a:ext cx="3486436" cy="1935480"/>
            <a:chOff x="750570" y="1855470"/>
            <a:chExt cx="3486436" cy="1935480"/>
          </a:xfrm>
        </p:grpSpPr>
        <p:sp>
          <p:nvSpPr>
            <p:cNvPr id="8" name="TextBox 8"/>
            <p:cNvSpPr txBox="1"/>
            <p:nvPr/>
          </p:nvSpPr>
          <p:spPr>
            <a:xfrm>
              <a:off x="750570" y="1855470"/>
              <a:ext cx="14424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P04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分隔页：发现价值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0570" y="2074545"/>
              <a:ext cx="24414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P05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PESTEL 宏观环境：六维信号雷达图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0570" y="2293620"/>
              <a:ext cx="27043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P06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PESTEL 深度：关键变量与利润结构迁移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0570" y="2512695"/>
              <a:ext cx="23100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P07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PESTEL 结论：三重社会信号叠加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0570" y="2731770"/>
              <a:ext cx="30198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P08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竞争格局全景：10家竞品 × 四梯队战略集团图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0570" y="2950845"/>
              <a:ext cx="28817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P09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竞争格局深度：Top 3 解剖 + 内容策略对标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0570" y="3169920"/>
              <a:ext cx="22179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P10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独立艺术家品牌 × 跨品类替代品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0570" y="3388995"/>
              <a:ext cx="34864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P11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结构性缺口：59-79元 × 高内容深度 × 完整情绪世界观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0570" y="3608070"/>
              <a:ext cx="31315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P12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用户画像 A：小夏 —— 凌晨3点醒来的产品设计师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75070" y="1855470"/>
            <a:ext cx="3335274" cy="2373630"/>
            <a:chOff x="6275070" y="1855470"/>
            <a:chExt cx="3335274" cy="2373630"/>
          </a:xfrm>
        </p:grpSpPr>
        <p:sp>
          <p:nvSpPr>
            <p:cNvPr id="18" name="TextBox 18"/>
            <p:cNvSpPr txBox="1"/>
            <p:nvPr/>
          </p:nvSpPr>
          <p:spPr>
            <a:xfrm>
              <a:off x="6275070" y="1855470"/>
              <a:ext cx="2940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P13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用户画像 B：阿哲 —— "精神离职"的大厂运营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75070" y="2074545"/>
              <a:ext cx="29277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P14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用户画像 C：小念 —— 寻找情绪出口的大学生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75070" y="2293620"/>
              <a:ext cx="33352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P15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用户画像 D：大刘 —— 需要"有意义的礼物"的送礼者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75070" y="2512695"/>
              <a:ext cx="22179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P16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用户画像对比矩阵 × 跨画像洞察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75070" y="2731770"/>
              <a:ext cx="28489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P17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消费者旅程：小夏的 AISAS × 五层触点矩阵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75070" y="2950845"/>
              <a:ext cx="16724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P18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消费者旅程：情绪曲线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75070" y="3169920"/>
              <a:ext cx="25466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P19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消费者旅程：阿哲的"退坑→回归"路径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75070" y="3388995"/>
              <a:ext cx="27437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P20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SWOT 内部诊断：优势与劣势的深度拆解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75070" y="3608070"/>
              <a:ext cx="15279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P21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TOWS 交叉策略矩阵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75070" y="3827145"/>
              <a:ext cx="18368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P22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生态位结论：情绪翻译者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75070" y="4046220"/>
              <a:ext cx="10612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P23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Part 1 小结</a:t>
              </a:r>
            </a:p>
          </p:txBody>
        </p:sp>
      </p:grpSp>
      <p:sp>
        <p:nvSpPr>
          <p:cNvPr id="30" name="Line 30"/>
          <p:cNvSpPr/>
          <p:nvPr/>
        </p:nvSpPr>
        <p:spPr>
          <a:xfrm>
            <a:off x="6096000" y="1714500"/>
            <a:ext cx="9525" cy="4191000"/>
          </a:xfrm>
          <a:custGeom>
            <a:avLst/>
            <a:gdLst/>
            <a:ahLst/>
            <a:cxnLst/>
            <a:rect l="l" t="t" r="r" b="b"/>
            <a:pathLst>
              <a:path w="9525" h="4191000">
                <a:moveTo>
                  <a:pt x="0" y="0"/>
                </a:moveTo>
                <a:lnTo>
                  <a:pt x="0" y="419100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008108" y="4347210"/>
            <a:ext cx="18181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不是"市场分析报告"——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72547" y="4594860"/>
            <a:ext cx="1353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是"情绪翻译者的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472547" y="4842510"/>
            <a:ext cx="1353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生态位在哪里"。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8665" y="6486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目录（续）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876300"/>
            <a:ext cx="1238250" cy="9525"/>
          </a:xfrm>
          <a:custGeom>
            <a:avLst/>
            <a:gdLst/>
            <a:ahLst/>
            <a:cxnLst/>
            <a:rect l="l" t="t" r="r" b="b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/>
          <a:ln w="9525">
            <a:solidFill>
              <a:srgbClr val="8B9D8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733425" y="995362"/>
            <a:ext cx="2593217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Part 2 创造价值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8665" y="139160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基于生态位构建品牌身份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50570" y="1760220"/>
            <a:ext cx="3308985" cy="4126230"/>
            <a:chOff x="750570" y="1760220"/>
            <a:chExt cx="3308985" cy="4126230"/>
          </a:xfrm>
        </p:grpSpPr>
        <p:sp>
          <p:nvSpPr>
            <p:cNvPr id="7" name="TextBox 7"/>
            <p:cNvSpPr txBox="1"/>
            <p:nvPr/>
          </p:nvSpPr>
          <p:spPr>
            <a:xfrm>
              <a:off x="750570" y="1760220"/>
              <a:ext cx="14424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P25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分隔页：创造价值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0570" y="1979295"/>
              <a:ext cx="32958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P26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定位方法决策树：四问推导——为什么是情感价值型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0570" y="2198370"/>
              <a:ext cx="31775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P27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情感价值型落地验证：三顿半 × 观夏 × Jellycat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0570" y="2417445"/>
              <a:ext cx="26386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P28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品牌定位语：填表→压缩→检验三步推导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0570" y="2636520"/>
              <a:ext cx="28883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P29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品牌价值画布：从用户独处时刻到品牌承诺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0570" y="2855595"/>
              <a:ext cx="26254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P30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品牌价值画布：竞争差异化的三个翻译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0570" y="3074670"/>
              <a:ext cx="24611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P31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使命：品牌消失后，用户失去什么？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0570" y="3293745"/>
              <a:ext cx="23428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P32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愿景：10年后用户怎么描述我们？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0570" y="3512820"/>
              <a:ext cx="33089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P33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价值观：边界比规模更重要——三个"再赚钱也不做"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0570" y="3731895"/>
              <a:ext cx="29212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P34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品牌人格化：照顾者 × 诗人——双重原型选择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0570" y="3950970"/>
              <a:ext cx="29738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P35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品牌人格化：说话方式——5个场景的语气指南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0570" y="4170045"/>
              <a:ext cx="29146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P36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品牌故事：创始故事——"我画了第一个雾人"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0570" y="4389120"/>
              <a:ext cx="29080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P37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品牌故事：与定位的一致性验证 × 风险平衡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0570" y="4608195"/>
              <a:ext cx="31775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P38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品牌命名："岛屿来信"四个字的重量——五维分析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0570" y="4827270"/>
              <a:ext cx="25268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P39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广告语：主/副/角色三层 + 四不原则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0570" y="5046345"/>
              <a:ext cx="31775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P40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视觉识别：色彩系统——从"雨后清晨的路面"开始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0570" y="5265420"/>
              <a:ext cx="26583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P41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视觉识别：Logo方向 × 字体 × 图形系统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0570" y="5484495"/>
              <a:ext cx="31183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P42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视觉识别：摄影方向 × 包装设计 × Mood Board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0570" y="5703570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P43</a:t>
              </a:r>
              <a:r>
                <a:rPr lang="zh-CN" sz="90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900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Part 2 小结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257925" y="995362"/>
            <a:ext cx="2593217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Part 3 传播价值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273165" y="139160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让生态位变成用户心智中的事实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276022" y="1768316"/>
            <a:ext cx="3009138" cy="1967865"/>
            <a:chOff x="6276022" y="1768316"/>
            <a:chExt cx="3009138" cy="1967865"/>
          </a:xfrm>
        </p:grpSpPr>
        <p:sp>
          <p:nvSpPr>
            <p:cNvPr id="29" name="TextBox 29"/>
            <p:cNvSpPr txBox="1"/>
            <p:nvPr/>
          </p:nvSpPr>
          <p:spPr>
            <a:xfrm>
              <a:off x="6276022" y="1768316"/>
              <a:ext cx="13222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P44</a:t>
              </a:r>
              <a:r>
                <a:rPr lang="zh-CN" sz="825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825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分隔页：传播价值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76022" y="1968341"/>
              <a:ext cx="286454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P45-49</a:t>
              </a:r>
              <a:r>
                <a:rPr lang="zh-CN" sz="825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825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产品策略：四波产品线 + MVP + 一致性验证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76022" y="2168366"/>
              <a:ext cx="235246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P50-51</a:t>
              </a:r>
              <a:r>
                <a:rPr lang="zh-CN" sz="825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825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三层价值金字塔 + 用户关系里程碑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76022" y="2368391"/>
              <a:ext cx="29067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P52-53</a:t>
              </a:r>
              <a:r>
                <a:rPr lang="zh-CN" sz="825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825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定价策略：69元 + "不打折"哲学 + 礼品场景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76022" y="2568416"/>
              <a:ext cx="27259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P54-55</a:t>
              </a:r>
              <a:r>
                <a:rPr lang="zh-CN" sz="825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825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创始人IP策略：三个故事 + 内容矩阵分工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76022" y="2768441"/>
              <a:ext cx="30091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P56-59</a:t>
              </a:r>
              <a:r>
                <a:rPr lang="zh-CN" sz="825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825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内容营销：信任螺旋 + AISAS + 内容系列 + KPI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76022" y="2968466"/>
              <a:ext cx="223196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P60-61</a:t>
              </a:r>
              <a:r>
                <a:rPr lang="zh-CN" sz="825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825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社群建设：三层架构 + 四个仪式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76022" y="3168491"/>
              <a:ext cx="26356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P62-63</a:t>
              </a:r>
              <a:r>
                <a:rPr lang="zh-CN" sz="825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825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渠道策略：四阶段演进 + "三不铺"原则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76022" y="3368516"/>
              <a:ext cx="2207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P64-67</a:t>
              </a:r>
              <a:r>
                <a:rPr lang="zh-CN" sz="825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825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年度规划：甘特图 + 预算 + KPI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76022" y="3568541"/>
              <a:ext cx="10029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P68</a:t>
              </a:r>
              <a:r>
                <a:rPr lang="zh-CN" sz="825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825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Part 3 小结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6263640" y="3901440"/>
            <a:ext cx="59778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附录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6276022" y="4292441"/>
            <a:ext cx="2858524" cy="1167765"/>
            <a:chOff x="6276022" y="4292441"/>
            <a:chExt cx="2858524" cy="1167765"/>
          </a:xfrm>
        </p:grpSpPr>
        <p:sp>
          <p:nvSpPr>
            <p:cNvPr id="41" name="TextBox 41"/>
            <p:cNvSpPr txBox="1"/>
            <p:nvPr/>
          </p:nvSpPr>
          <p:spPr>
            <a:xfrm>
              <a:off x="6276022" y="4292441"/>
              <a:ext cx="10812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P69</a:t>
              </a:r>
              <a:r>
                <a:rPr lang="zh-CN" sz="825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825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分隔页：附录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76022" y="4492466"/>
              <a:ext cx="243680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P70</a:t>
              </a:r>
              <a:r>
                <a:rPr lang="zh-CN" sz="825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825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理论溯源：7个框架 × 7个关键决策依据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76022" y="4692491"/>
              <a:ext cx="24970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P71</a:t>
              </a:r>
              <a:r>
                <a:rPr lang="zh-CN" sz="825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825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完整性检查：Layer 0-3 四层质量门自检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76022" y="4892516"/>
              <a:ext cx="28585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P72</a:t>
              </a:r>
              <a:r>
                <a:rPr lang="zh-CN" sz="825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825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待验证假设：P0/P1/P2 三级 × 验证方法 × 时机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76022" y="5092541"/>
              <a:ext cx="216569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P73</a:t>
              </a:r>
              <a:r>
                <a:rPr lang="zh-CN" sz="825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825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巨人的肩膀：从吉卜力到杉本博司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76022" y="5292566"/>
              <a:ext cx="15752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P74</a:t>
              </a:r>
              <a:r>
                <a:rPr lang="zh-CN" sz="825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 xml:space="preserve"> │ </a:t>
              </a:r>
              <a:r>
                <a:rPr lang="zh-CN" sz="825" dirty="0">
                  <a:solidFill>
                    <a:srgbClr val="7B7B8E"/>
                  </a:solidFill>
                  <a:latin typeface="Arial"/>
                  <a:ea typeface="Microsoft YaHei"/>
                  <a:cs typeface="Arial"/>
                </a:rPr>
                <a:t>封底：这封信写了74页</a:t>
              </a:r>
            </a:p>
          </p:txBody>
        </p:sp>
      </p:grpSp>
      <p:sp>
        <p:nvSpPr>
          <p:cNvPr id="48" name="Line 48"/>
          <p:cNvSpPr/>
          <p:nvPr/>
        </p:nvSpPr>
        <p:spPr>
          <a:xfrm>
            <a:off x="6096000" y="1714500"/>
            <a:ext cx="9525" cy="4191000"/>
          </a:xfrm>
          <a:custGeom>
            <a:avLst/>
            <a:gdLst/>
            <a:ahLst/>
            <a:cxnLst/>
            <a:rect l="l" t="t" r="r" b="b"/>
            <a:pathLst>
              <a:path w="9525" h="4191000">
                <a:moveTo>
                  <a:pt x="0" y="0"/>
                </a:moveTo>
                <a:lnTo>
                  <a:pt x="0" y="419100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1875" r="0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1905000"/>
          </a:xfrm>
          <a:prstGeom prst="rect">
            <a:avLst/>
          </a:prstGeom>
          <a:gradFill>
            <a:gsLst>
              <a:gs pos="0">
                <a:srgbClr val="3C3C5C">
                  <a:alpha val="30000"/>
                </a:srgbClr>
              </a:gs>
              <a:gs pos="100000">
                <a:srgbClr val="3C3C5C">
                  <a:alpha val="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619500"/>
            <a:ext cx="12192000" cy="3238500"/>
          </a:xfrm>
          <a:prstGeom prst="rect">
            <a:avLst/>
          </a:prstGeom>
          <a:gradFill>
            <a:gsLst>
              <a:gs pos="0">
                <a:srgbClr val="3C3C5C">
                  <a:alpha val="0"/>
                </a:srgbClr>
              </a:gs>
              <a:gs pos="50000">
                <a:srgbClr val="3C3C5C">
                  <a:alpha val="25000"/>
                </a:srgbClr>
              </a:gs>
              <a:gs pos="100000">
                <a:srgbClr val="3C3C5C">
                  <a:alpha val="55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5334000" y="304800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9525">
            <a:solidFill>
              <a:srgbClr val="8B9D8B">
                <a:alpha val="5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4853726" y="3504248"/>
            <a:ext cx="2484549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D5D0C8"/>
                </a:solidFill>
                <a:latin typeface="Georgia"/>
                <a:ea typeface="KaiTi"/>
                <a:cs typeface="Georgia"/>
              </a:rPr>
              <a:t>"有些情绪是孤岛。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14536" y="3885248"/>
            <a:ext cx="4762929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D5D0C8"/>
                </a:solidFill>
                <a:latin typeface="Georgia"/>
                <a:ea typeface="KaiTi"/>
                <a:cs typeface="Georgia"/>
              </a:rPr>
              <a:t>如果有人能从岛上寄一封信出来呢？"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91826" y="4471035"/>
            <a:ext cx="300834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5F0E8"/>
                </a:solidFill>
                <a:latin typeface="Georgia"/>
                <a:ea typeface="KaiTi"/>
                <a:cs typeface="Georgia"/>
              </a:rPr>
              <a:t>Part 1 发现价值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67350" y="50139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找到品牌生态位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361950"/>
            <a:ext cx="362654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PESTEL 宏观环境：六维信号雷达图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645795"/>
            <a:ext cx="46694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三重社会信号叠加——1.25亿独居人口 × 情绪消费第一驱动力 × 心理健康去污名化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57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1498044" y="1421606"/>
            <a:ext cx="5004912" cy="5238750"/>
            <a:chOff x="1498044" y="1421606"/>
            <a:chExt cx="5004912" cy="5238750"/>
          </a:xfrm>
        </p:grpSpPr>
        <p:sp>
          <p:nvSpPr>
            <p:cNvPr id="6" name="Polygon 6"/>
            <p:cNvSpPr/>
            <p:nvPr/>
          </p:nvSpPr>
          <p:spPr>
            <a:xfrm>
              <a:off x="2021205" y="1714500"/>
              <a:ext cx="3958590" cy="4572000"/>
            </a:xfrm>
            <a:custGeom>
              <a:avLst/>
              <a:gdLst/>
              <a:ahLst/>
              <a:cxnLst/>
              <a:rect l="l" t="t" r="r" b="b"/>
              <a:pathLst>
                <a:path w="3958590" h="4572000">
                  <a:moveTo>
                    <a:pt x="1979295" y="0"/>
                  </a:moveTo>
                  <a:lnTo>
                    <a:pt x="3958590" y="1143000"/>
                  </a:lnTo>
                  <a:lnTo>
                    <a:pt x="3958590" y="3429000"/>
                  </a:lnTo>
                  <a:lnTo>
                    <a:pt x="1979295" y="4572000"/>
                  </a:lnTo>
                  <a:lnTo>
                    <a:pt x="0" y="3429000"/>
                  </a:lnTo>
                  <a:lnTo>
                    <a:pt x="0" y="1143000"/>
                  </a:lnTo>
                  <a:close/>
                </a:path>
              </a:pathLst>
            </a:custGeom>
            <a:noFill/>
            <a:ln w="9525">
              <a:solidFill>
                <a:srgbClr val="D5D0C8"/>
              </a:solidFill>
            </a:ln>
          </p:spPr>
        </p:sp>
        <p:sp>
          <p:nvSpPr>
            <p:cNvPr id="7" name="Polygon 7"/>
            <p:cNvSpPr/>
            <p:nvPr/>
          </p:nvSpPr>
          <p:spPr>
            <a:xfrm>
              <a:off x="2416492" y="2171700"/>
              <a:ext cx="3168015" cy="3657600"/>
            </a:xfrm>
            <a:custGeom>
              <a:avLst/>
              <a:gdLst/>
              <a:ahLst/>
              <a:cxnLst/>
              <a:rect l="l" t="t" r="r" b="b"/>
              <a:pathLst>
                <a:path w="3168015" h="3657600">
                  <a:moveTo>
                    <a:pt x="1584008" y="0"/>
                  </a:moveTo>
                  <a:lnTo>
                    <a:pt x="3168015" y="914400"/>
                  </a:lnTo>
                  <a:lnTo>
                    <a:pt x="3168015" y="2743200"/>
                  </a:lnTo>
                  <a:lnTo>
                    <a:pt x="1584008" y="3657600"/>
                  </a:lnTo>
                  <a:lnTo>
                    <a:pt x="0" y="2743200"/>
                  </a:lnTo>
                  <a:lnTo>
                    <a:pt x="0" y="914400"/>
                  </a:lnTo>
                  <a:close/>
                </a:path>
              </a:pathLst>
            </a:custGeom>
            <a:noFill/>
            <a:ln w="6668">
              <a:solidFill>
                <a:srgbClr val="D5D0C8"/>
              </a:solidFill>
            </a:ln>
          </p:spPr>
        </p:sp>
        <p:sp>
          <p:nvSpPr>
            <p:cNvPr id="8" name="Polygon 8"/>
            <p:cNvSpPr/>
            <p:nvPr/>
          </p:nvSpPr>
          <p:spPr>
            <a:xfrm>
              <a:off x="2812732" y="2628900"/>
              <a:ext cx="2375535" cy="2743200"/>
            </a:xfrm>
            <a:custGeom>
              <a:avLst/>
              <a:gdLst/>
              <a:ahLst/>
              <a:cxnLst/>
              <a:rect l="l" t="t" r="r" b="b"/>
              <a:pathLst>
                <a:path w="2375535" h="2743200">
                  <a:moveTo>
                    <a:pt x="1187768" y="0"/>
                  </a:moveTo>
                  <a:lnTo>
                    <a:pt x="2375535" y="685800"/>
                  </a:lnTo>
                  <a:lnTo>
                    <a:pt x="2375535" y="2057400"/>
                  </a:lnTo>
                  <a:lnTo>
                    <a:pt x="1187768" y="2743200"/>
                  </a:lnTo>
                  <a:lnTo>
                    <a:pt x="0" y="2057400"/>
                  </a:lnTo>
                  <a:lnTo>
                    <a:pt x="0" y="685800"/>
                  </a:lnTo>
                  <a:close/>
                </a:path>
              </a:pathLst>
            </a:custGeom>
            <a:noFill/>
            <a:ln w="6668">
              <a:solidFill>
                <a:srgbClr val="D5D0C8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3208972" y="3086100"/>
              <a:ext cx="1583055" cy="1828800"/>
            </a:xfrm>
            <a:custGeom>
              <a:avLst/>
              <a:gdLst/>
              <a:ahLst/>
              <a:cxnLst/>
              <a:rect l="l" t="t" r="r" b="b"/>
              <a:pathLst>
                <a:path w="1583055" h="1828800">
                  <a:moveTo>
                    <a:pt x="791528" y="0"/>
                  </a:moveTo>
                  <a:lnTo>
                    <a:pt x="1583055" y="457200"/>
                  </a:lnTo>
                  <a:lnTo>
                    <a:pt x="1583055" y="1371600"/>
                  </a:lnTo>
                  <a:lnTo>
                    <a:pt x="791528" y="1828800"/>
                  </a:lnTo>
                  <a:lnTo>
                    <a:pt x="0" y="1371600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w="6668">
              <a:solidFill>
                <a:srgbClr val="D5D0C8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3604260" y="3543300"/>
              <a:ext cx="792480" cy="914400"/>
            </a:xfrm>
            <a:custGeom>
              <a:avLst/>
              <a:gdLst/>
              <a:ahLst/>
              <a:cxnLst/>
              <a:rect l="l" t="t" r="r" b="b"/>
              <a:pathLst>
                <a:path w="792480" h="914400">
                  <a:moveTo>
                    <a:pt x="396240" y="0"/>
                  </a:moveTo>
                  <a:lnTo>
                    <a:pt x="792480" y="228600"/>
                  </a:lnTo>
                  <a:lnTo>
                    <a:pt x="792480" y="685800"/>
                  </a:lnTo>
                  <a:lnTo>
                    <a:pt x="396240" y="914400"/>
                  </a:lnTo>
                  <a:lnTo>
                    <a:pt x="0" y="685800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6668">
              <a:solidFill>
                <a:srgbClr val="D5D0C8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000500" y="17145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22860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9E9EAD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4000500" y="2857500"/>
              <a:ext cx="1979295" cy="1143000"/>
            </a:xfrm>
            <a:custGeom>
              <a:avLst/>
              <a:gdLst/>
              <a:ahLst/>
              <a:cxnLst/>
              <a:rect l="l" t="t" r="r" b="b"/>
              <a:pathLst>
                <a:path w="1979295" h="1143000">
                  <a:moveTo>
                    <a:pt x="0" y="1143000"/>
                  </a:moveTo>
                  <a:lnTo>
                    <a:pt x="1979295" y="0"/>
                  </a:lnTo>
                </a:path>
              </a:pathLst>
            </a:custGeom>
            <a:noFill/>
            <a:ln w="9525">
              <a:solidFill>
                <a:srgbClr val="9E9EAD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4000500" y="4000500"/>
              <a:ext cx="1979295" cy="1143000"/>
            </a:xfrm>
            <a:custGeom>
              <a:avLst/>
              <a:gdLst/>
              <a:ahLst/>
              <a:cxnLst/>
              <a:rect l="l" t="t" r="r" b="b"/>
              <a:pathLst>
                <a:path w="1979295" h="1143000">
                  <a:moveTo>
                    <a:pt x="0" y="0"/>
                  </a:moveTo>
                  <a:lnTo>
                    <a:pt x="1979295" y="1143000"/>
                  </a:lnTo>
                </a:path>
              </a:pathLst>
            </a:custGeom>
            <a:noFill/>
            <a:ln w="9525">
              <a:solidFill>
                <a:srgbClr val="9E9EAD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000500" y="40005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9525">
              <a:solidFill>
                <a:srgbClr val="9E9EAD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2021205" y="4000500"/>
              <a:ext cx="1979295" cy="1143000"/>
            </a:xfrm>
            <a:custGeom>
              <a:avLst/>
              <a:gdLst/>
              <a:ahLst/>
              <a:cxnLst/>
              <a:rect l="l" t="t" r="r" b="b"/>
              <a:pathLst>
                <a:path w="1979295" h="1143000">
                  <a:moveTo>
                    <a:pt x="1979295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9E9EAD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2021205" y="2857500"/>
              <a:ext cx="1979295" cy="1143000"/>
            </a:xfrm>
            <a:custGeom>
              <a:avLst/>
              <a:gdLst/>
              <a:ahLst/>
              <a:cxnLst/>
              <a:rect l="l" t="t" r="r" b="b"/>
              <a:pathLst>
                <a:path w="1979295" h="1143000">
                  <a:moveTo>
                    <a:pt x="1979295" y="11430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9E9EAD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2812732" y="2400300"/>
              <a:ext cx="2968942" cy="2971800"/>
            </a:xfrm>
            <a:custGeom>
              <a:avLst/>
              <a:gdLst/>
              <a:ahLst/>
              <a:cxnLst/>
              <a:rect l="l" t="t" r="r" b="b"/>
              <a:pathLst>
                <a:path w="2968942" h="2971800">
                  <a:moveTo>
                    <a:pt x="1187768" y="0"/>
                  </a:moveTo>
                  <a:lnTo>
                    <a:pt x="2672715" y="742950"/>
                  </a:lnTo>
                  <a:lnTo>
                    <a:pt x="2968942" y="2628900"/>
                  </a:lnTo>
                  <a:lnTo>
                    <a:pt x="1187768" y="2971800"/>
                  </a:lnTo>
                  <a:lnTo>
                    <a:pt x="0" y="2286000"/>
                  </a:lnTo>
                  <a:lnTo>
                    <a:pt x="198120" y="1028700"/>
                  </a:lnTo>
                  <a:close/>
                </a:path>
              </a:pathLst>
            </a:custGeom>
            <a:solidFill>
              <a:srgbClr val="8B9D8B">
                <a:alpha val="15000"/>
              </a:srgbClr>
            </a:solidFill>
            <a:ln w="23812">
              <a:solidFill>
                <a:srgbClr val="8B9D8B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962400" y="2362200"/>
              <a:ext cx="76200" cy="76200"/>
            </a:xfrm>
            <a:prstGeom prst="ellipse">
              <a:avLst/>
            </a:prstGeom>
            <a:solidFill>
              <a:srgbClr val="F5F0E8"/>
            </a:solidFill>
            <a:ln w="19050">
              <a:solidFill>
                <a:srgbClr val="8B9D8B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5447348" y="3105150"/>
              <a:ext cx="76200" cy="76200"/>
            </a:xfrm>
            <a:prstGeom prst="ellipse">
              <a:avLst/>
            </a:prstGeom>
            <a:solidFill>
              <a:srgbClr val="F5F0E8"/>
            </a:solidFill>
            <a:ln w="19050">
              <a:solidFill>
                <a:srgbClr val="8B9D8B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5743575" y="4991100"/>
              <a:ext cx="76200" cy="76200"/>
            </a:xfrm>
            <a:prstGeom prst="ellipse">
              <a:avLst/>
            </a:prstGeom>
            <a:solidFill>
              <a:srgbClr val="F5F0E8"/>
            </a:solidFill>
            <a:ln w="19050">
              <a:solidFill>
                <a:srgbClr val="8B9D8B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3962400" y="5334000"/>
              <a:ext cx="76200" cy="76200"/>
            </a:xfrm>
            <a:prstGeom prst="ellipse">
              <a:avLst/>
            </a:prstGeom>
            <a:solidFill>
              <a:srgbClr val="F5F0E8"/>
            </a:solidFill>
            <a:ln w="19050">
              <a:solidFill>
                <a:srgbClr val="8B9D8B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2774632" y="4648200"/>
              <a:ext cx="76200" cy="76200"/>
            </a:xfrm>
            <a:prstGeom prst="ellipse">
              <a:avLst/>
            </a:prstGeom>
            <a:solidFill>
              <a:srgbClr val="F5F0E8"/>
            </a:solidFill>
            <a:ln w="19050">
              <a:solidFill>
                <a:srgbClr val="8B9D8B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2972752" y="3390900"/>
              <a:ext cx="76200" cy="76200"/>
            </a:xfrm>
            <a:prstGeom prst="ellipse">
              <a:avLst/>
            </a:prstGeom>
            <a:solidFill>
              <a:srgbClr val="F5F0E8"/>
            </a:solidFill>
            <a:ln w="19050">
              <a:solidFill>
                <a:srgbClr val="8B9D8B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2614612" y="2171700"/>
              <a:ext cx="3049905" cy="3429000"/>
            </a:xfrm>
            <a:custGeom>
              <a:avLst/>
              <a:gdLst/>
              <a:ahLst/>
              <a:cxnLst/>
              <a:rect l="l" t="t" r="r" b="b"/>
              <a:pathLst>
                <a:path w="3049905" h="3429000">
                  <a:moveTo>
                    <a:pt x="1385888" y="0"/>
                  </a:moveTo>
                  <a:lnTo>
                    <a:pt x="2969895" y="914400"/>
                  </a:lnTo>
                  <a:lnTo>
                    <a:pt x="3049905" y="2790825"/>
                  </a:lnTo>
                  <a:lnTo>
                    <a:pt x="1385888" y="3429000"/>
                  </a:lnTo>
                  <a:lnTo>
                    <a:pt x="0" y="2628900"/>
                  </a:lnTo>
                  <a:lnTo>
                    <a:pt x="198120" y="1143000"/>
                  </a:lnTo>
                  <a:close/>
                </a:path>
              </a:pathLst>
            </a:custGeom>
            <a:noFill/>
            <a:ln w="14288">
              <a:solidFill>
                <a:srgbClr val="7B7B8E"/>
              </a:solidFill>
              <a:prstDash val="dash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813691" y="142160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政治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29338" y="2688431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经济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29338" y="511730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社会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13691" y="643175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技术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98044" y="511730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环境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98044" y="2688431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3C3C5C"/>
                  </a:solidFill>
                  <a:latin typeface="Arial"/>
                  <a:ea typeface="Microsoft YaHei"/>
                  <a:cs typeface="Arial"/>
                </a:rPr>
                <a:t>法律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30729" y="2586038"/>
              <a:ext cx="13954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>70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30729" y="2128838"/>
              <a:ext cx="13954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E9EAD"/>
                  </a:solidFill>
                  <a:latin typeface="Arial"/>
                  <a:ea typeface="Microsoft YaHei"/>
                  <a:cs typeface="Arial"/>
                </a:rPr>
                <a:t>80</a:t>
              </a:r>
            </a:p>
          </p:txBody>
        </p:sp>
      </p:grpSp>
      <p:sp>
        <p:nvSpPr>
          <p:cNvPr id="34" name="Rectangle 34"/>
          <p:cNvSpPr/>
          <p:nvPr/>
        </p:nvSpPr>
        <p:spPr>
          <a:xfrm>
            <a:off x="571500" y="5715000"/>
            <a:ext cx="95250" cy="95250"/>
          </a:xfrm>
          <a:prstGeom prst="rect">
            <a:avLst/>
          </a:prstGeom>
          <a:solidFill>
            <a:srgbClr val="8B9D8B">
              <a:alpha val="15000"/>
            </a:srgbClr>
          </a:solidFill>
          <a:ln w="14288">
            <a:solidFill>
              <a:srgbClr val="8B9D8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32472" y="5721191"/>
            <a:ext cx="13463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需求相关度（岛屿来信）</a:t>
            </a:r>
          </a:p>
        </p:txBody>
      </p:sp>
      <p:sp>
        <p:nvSpPr>
          <p:cNvPr id="36" name="Line 36"/>
          <p:cNvSpPr/>
          <p:nvPr/>
        </p:nvSpPr>
        <p:spPr>
          <a:xfrm>
            <a:off x="2190750" y="5762625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4288">
            <a:solidFill>
              <a:srgbClr val="7B7B8E"/>
            </a:solidFill>
            <a:prstDash val="dash"/>
          </a:ln>
        </p:spPr>
      </p:sp>
      <p:sp>
        <p:nvSpPr>
          <p:cNvPr id="37" name="TextBox 37"/>
          <p:cNvSpPr txBox="1"/>
          <p:nvPr/>
        </p:nvSpPr>
        <p:spPr>
          <a:xfrm>
            <a:off x="2542222" y="5721191"/>
            <a:ext cx="13463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行业影响强度（参考线）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191500" y="1047750"/>
            <a:ext cx="3429000" cy="4476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367712" y="1212056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影响强度热力表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71522" y="1453991"/>
            <a:ext cx="13764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8个关键子维度 × 5级强度</a:t>
            </a:r>
          </a:p>
        </p:txBody>
      </p:sp>
      <p:sp>
        <p:nvSpPr>
          <p:cNvPr id="41" name="Line 41"/>
          <p:cNvSpPr/>
          <p:nvPr/>
        </p:nvSpPr>
        <p:spPr>
          <a:xfrm>
            <a:off x="8382000" y="16383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8372475" y="1776412"/>
            <a:ext cx="249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维度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229725" y="1776412"/>
            <a:ext cx="479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关键信号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753725" y="1776412"/>
            <a:ext cx="249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强度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370570" y="1998345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政治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228772" y="2006441"/>
            <a:ext cx="17198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文化创意产业"十四五"重点扶持</a:t>
            </a:r>
          </a:p>
        </p:txBody>
      </p:sp>
      <p:sp>
        <p:nvSpPr>
          <p:cNvPr id="47" name="Rectangle 47"/>
          <p:cNvSpPr/>
          <p:nvPr/>
        </p:nvSpPr>
        <p:spPr>
          <a:xfrm>
            <a:off x="10763250" y="1990725"/>
            <a:ext cx="171450" cy="133350"/>
          </a:xfrm>
          <a:prstGeom prst="rect">
            <a:avLst/>
          </a:prstGeom>
          <a:solidFill>
            <a:srgbClr val="8B9D8B">
              <a:alpha val="80000"/>
            </a:srgbClr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10953750" y="1990725"/>
            <a:ext cx="171450" cy="133350"/>
          </a:xfrm>
          <a:prstGeom prst="rect">
            <a:avLst/>
          </a:prstGeom>
          <a:solidFill>
            <a:srgbClr val="8B9D8B">
              <a:alpha val="80000"/>
            </a:srgbClr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11144250" y="1990725"/>
            <a:ext cx="171450" cy="133350"/>
          </a:xfrm>
          <a:prstGeom prst="rect">
            <a:avLst/>
          </a:prstGeom>
          <a:solidFill>
            <a:srgbClr val="8B9D8B">
              <a:alpha val="60000"/>
            </a:srgbClr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11334750" y="1990725"/>
            <a:ext cx="171450" cy="133350"/>
          </a:xfrm>
          <a:prstGeom prst="rect">
            <a:avLst/>
          </a:prstGeom>
          <a:solidFill>
            <a:srgbClr val="D5D0C8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11525250" y="1990725"/>
            <a:ext cx="171450" cy="133350"/>
          </a:xfrm>
          <a:prstGeom prst="rect">
            <a:avLst/>
          </a:prstGeom>
          <a:solidFill>
            <a:srgbClr val="D5D0C8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370570" y="233172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经济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228772" y="2339816"/>
            <a:ext cx="15572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消费分级利好59-79元平价段</a:t>
            </a:r>
          </a:p>
        </p:txBody>
      </p:sp>
      <p:sp>
        <p:nvSpPr>
          <p:cNvPr id="54" name="Rectangle 54"/>
          <p:cNvSpPr/>
          <p:nvPr/>
        </p:nvSpPr>
        <p:spPr>
          <a:xfrm>
            <a:off x="10763250" y="2324100"/>
            <a:ext cx="171450" cy="133350"/>
          </a:xfrm>
          <a:prstGeom prst="rect">
            <a:avLst/>
          </a:prstGeom>
          <a:solidFill>
            <a:srgbClr val="8B9D8B">
              <a:alpha val="80000"/>
            </a:srgbClr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10953750" y="2324100"/>
            <a:ext cx="171450" cy="133350"/>
          </a:xfrm>
          <a:prstGeom prst="rect">
            <a:avLst/>
          </a:prstGeom>
          <a:solidFill>
            <a:srgbClr val="8B9D8B">
              <a:alpha val="80000"/>
            </a:srgbClr>
          </a:solidFill>
          <a:ln>
            <a:noFill/>
          </a:ln>
        </p:spPr>
      </p:sp>
      <p:sp>
        <p:nvSpPr>
          <p:cNvPr id="56" name="Rectangle 56"/>
          <p:cNvSpPr/>
          <p:nvPr/>
        </p:nvSpPr>
        <p:spPr>
          <a:xfrm>
            <a:off x="11144250" y="2324100"/>
            <a:ext cx="171450" cy="133350"/>
          </a:xfrm>
          <a:prstGeom prst="rect">
            <a:avLst/>
          </a:prstGeom>
          <a:solidFill>
            <a:srgbClr val="8B9D8B">
              <a:alpha val="80000"/>
            </a:srgbClr>
          </a:solidFill>
          <a:ln>
            <a:noFill/>
          </a:ln>
        </p:spPr>
      </p:sp>
      <p:sp>
        <p:nvSpPr>
          <p:cNvPr id="57" name="Rectangle 57"/>
          <p:cNvSpPr/>
          <p:nvPr/>
        </p:nvSpPr>
        <p:spPr>
          <a:xfrm>
            <a:off x="11334750" y="2324100"/>
            <a:ext cx="171450" cy="133350"/>
          </a:xfrm>
          <a:prstGeom prst="rect">
            <a:avLst/>
          </a:prstGeom>
          <a:solidFill>
            <a:srgbClr val="8B9D8B">
              <a:alpha val="40000"/>
            </a:srgbClr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11525250" y="2324100"/>
            <a:ext cx="171450" cy="133350"/>
          </a:xfrm>
          <a:prstGeom prst="rect">
            <a:avLst/>
          </a:prstGeom>
          <a:solidFill>
            <a:srgbClr val="D5D0C8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8370570" y="2665095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社会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228772" y="2673191"/>
            <a:ext cx="20090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1.25亿独居人口+情绪消费第一驱动力</a:t>
            </a:r>
          </a:p>
        </p:txBody>
      </p:sp>
      <p:sp>
        <p:nvSpPr>
          <p:cNvPr id="61" name="Rectangle 61"/>
          <p:cNvSpPr/>
          <p:nvPr/>
        </p:nvSpPr>
        <p:spPr>
          <a:xfrm>
            <a:off x="10763250" y="2657475"/>
            <a:ext cx="171450" cy="133350"/>
          </a:xfrm>
          <a:prstGeom prst="rect">
            <a:avLst/>
          </a:prstGeom>
          <a:solidFill>
            <a:srgbClr val="8B9D8B">
              <a:alpha val="80000"/>
            </a:srgbClr>
          </a:solidFill>
          <a:ln>
            <a:noFill/>
          </a:ln>
        </p:spPr>
      </p:sp>
      <p:sp>
        <p:nvSpPr>
          <p:cNvPr id="62" name="Rectangle 62"/>
          <p:cNvSpPr/>
          <p:nvPr/>
        </p:nvSpPr>
        <p:spPr>
          <a:xfrm>
            <a:off x="10953750" y="2657475"/>
            <a:ext cx="171450" cy="133350"/>
          </a:xfrm>
          <a:prstGeom prst="rect">
            <a:avLst/>
          </a:prstGeom>
          <a:solidFill>
            <a:srgbClr val="8B9D8B">
              <a:alpha val="80000"/>
            </a:srgbClr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11144250" y="2657475"/>
            <a:ext cx="171450" cy="133350"/>
          </a:xfrm>
          <a:prstGeom prst="rect">
            <a:avLst/>
          </a:prstGeom>
          <a:solidFill>
            <a:srgbClr val="8B9D8B">
              <a:alpha val="80000"/>
            </a:srgbClr>
          </a:solidFill>
          <a:ln>
            <a:noFill/>
          </a:ln>
        </p:spPr>
      </p:sp>
      <p:sp>
        <p:nvSpPr>
          <p:cNvPr id="64" name="Rectangle 64"/>
          <p:cNvSpPr/>
          <p:nvPr/>
        </p:nvSpPr>
        <p:spPr>
          <a:xfrm>
            <a:off x="11334750" y="2657475"/>
            <a:ext cx="171450" cy="133350"/>
          </a:xfrm>
          <a:prstGeom prst="rect">
            <a:avLst/>
          </a:prstGeom>
          <a:solidFill>
            <a:srgbClr val="8B9D8B">
              <a:alpha val="80000"/>
            </a:srgbClr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11525250" y="2657475"/>
            <a:ext cx="171450" cy="133350"/>
          </a:xfrm>
          <a:prstGeom prst="rect">
            <a:avLst/>
          </a:prstGeom>
          <a:solidFill>
            <a:srgbClr val="8B9D8B">
              <a:alpha val="60000"/>
            </a:srgbClr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8370570" y="29984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技术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228772" y="3006566"/>
            <a:ext cx="14487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AI内容工具降低创作者门槛</a:t>
            </a:r>
          </a:p>
        </p:txBody>
      </p:sp>
      <p:sp>
        <p:nvSpPr>
          <p:cNvPr id="68" name="Rectangle 68"/>
          <p:cNvSpPr/>
          <p:nvPr/>
        </p:nvSpPr>
        <p:spPr>
          <a:xfrm>
            <a:off x="10763250" y="2990850"/>
            <a:ext cx="171450" cy="133350"/>
          </a:xfrm>
          <a:prstGeom prst="rect">
            <a:avLst/>
          </a:prstGeom>
          <a:solidFill>
            <a:srgbClr val="8B9D8B">
              <a:alpha val="80000"/>
            </a:srgbClr>
          </a:solidFill>
          <a:ln>
            <a:noFill/>
          </a:ln>
        </p:spPr>
      </p:sp>
      <p:sp>
        <p:nvSpPr>
          <p:cNvPr id="69" name="Rectangle 69"/>
          <p:cNvSpPr/>
          <p:nvPr/>
        </p:nvSpPr>
        <p:spPr>
          <a:xfrm>
            <a:off x="10953750" y="2990850"/>
            <a:ext cx="171450" cy="133350"/>
          </a:xfrm>
          <a:prstGeom prst="rect">
            <a:avLst/>
          </a:prstGeom>
          <a:solidFill>
            <a:srgbClr val="8B9D8B">
              <a:alpha val="60000"/>
            </a:srgbClr>
          </a:solidFill>
          <a:ln>
            <a:noFill/>
          </a:ln>
        </p:spPr>
      </p:sp>
      <p:sp>
        <p:nvSpPr>
          <p:cNvPr id="70" name="Rectangle 70"/>
          <p:cNvSpPr/>
          <p:nvPr/>
        </p:nvSpPr>
        <p:spPr>
          <a:xfrm>
            <a:off x="11144250" y="2990850"/>
            <a:ext cx="171450" cy="133350"/>
          </a:xfrm>
          <a:prstGeom prst="rect">
            <a:avLst/>
          </a:prstGeom>
          <a:solidFill>
            <a:srgbClr val="8B9D8B">
              <a:alpha val="40000"/>
            </a:srgbClr>
          </a:solidFill>
          <a:ln>
            <a:noFill/>
          </a:ln>
        </p:spPr>
      </p:sp>
      <p:sp>
        <p:nvSpPr>
          <p:cNvPr id="71" name="Rectangle 71"/>
          <p:cNvSpPr/>
          <p:nvPr/>
        </p:nvSpPr>
        <p:spPr>
          <a:xfrm>
            <a:off x="11334750" y="2990850"/>
            <a:ext cx="171450" cy="133350"/>
          </a:xfrm>
          <a:prstGeom prst="rect">
            <a:avLst/>
          </a:prstGeom>
          <a:solidFill>
            <a:srgbClr val="D5D0C8"/>
          </a:solidFill>
          <a:ln>
            <a:noFill/>
          </a:ln>
        </p:spPr>
      </p:sp>
      <p:sp>
        <p:nvSpPr>
          <p:cNvPr id="72" name="Rectangle 72"/>
          <p:cNvSpPr/>
          <p:nvPr/>
        </p:nvSpPr>
        <p:spPr>
          <a:xfrm>
            <a:off x="11525250" y="2990850"/>
            <a:ext cx="171450" cy="133350"/>
          </a:xfrm>
          <a:prstGeom prst="rect">
            <a:avLst/>
          </a:prstGeom>
          <a:solidFill>
            <a:srgbClr val="D5D0C8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8370570" y="3331845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环境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228772" y="3339941"/>
            <a:ext cx="17861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ESG趋势下环保材质包装溢价空间</a:t>
            </a:r>
          </a:p>
        </p:txBody>
      </p:sp>
      <p:sp>
        <p:nvSpPr>
          <p:cNvPr id="75" name="Rectangle 75"/>
          <p:cNvSpPr/>
          <p:nvPr/>
        </p:nvSpPr>
        <p:spPr>
          <a:xfrm>
            <a:off x="10763250" y="3324225"/>
            <a:ext cx="171450" cy="133350"/>
          </a:xfrm>
          <a:prstGeom prst="rect">
            <a:avLst/>
          </a:prstGeom>
          <a:solidFill>
            <a:srgbClr val="8B9D8B">
              <a:alpha val="80000"/>
            </a:srgbClr>
          </a:solidFill>
          <a:ln>
            <a:noFill/>
          </a:ln>
        </p:spPr>
      </p:sp>
      <p:sp>
        <p:nvSpPr>
          <p:cNvPr id="76" name="Rectangle 76"/>
          <p:cNvSpPr/>
          <p:nvPr/>
        </p:nvSpPr>
        <p:spPr>
          <a:xfrm>
            <a:off x="10953750" y="3324225"/>
            <a:ext cx="171450" cy="133350"/>
          </a:xfrm>
          <a:prstGeom prst="rect">
            <a:avLst/>
          </a:prstGeom>
          <a:solidFill>
            <a:srgbClr val="8B9D8B">
              <a:alpha val="80000"/>
            </a:srgbClr>
          </a:solidFill>
          <a:ln>
            <a:noFill/>
          </a:ln>
        </p:spPr>
      </p:sp>
      <p:sp>
        <p:nvSpPr>
          <p:cNvPr id="77" name="Rectangle 77"/>
          <p:cNvSpPr/>
          <p:nvPr/>
        </p:nvSpPr>
        <p:spPr>
          <a:xfrm>
            <a:off x="11144250" y="3324225"/>
            <a:ext cx="171450" cy="133350"/>
          </a:xfrm>
          <a:prstGeom prst="rect">
            <a:avLst/>
          </a:prstGeom>
          <a:solidFill>
            <a:srgbClr val="8B9D8B">
              <a:alpha val="40000"/>
            </a:srgbClr>
          </a:solidFill>
          <a:ln>
            <a:noFill/>
          </a:ln>
        </p:spPr>
      </p:sp>
      <p:sp>
        <p:nvSpPr>
          <p:cNvPr id="78" name="Rectangle 78"/>
          <p:cNvSpPr/>
          <p:nvPr/>
        </p:nvSpPr>
        <p:spPr>
          <a:xfrm>
            <a:off x="11334750" y="3324225"/>
            <a:ext cx="171450" cy="133350"/>
          </a:xfrm>
          <a:prstGeom prst="rect">
            <a:avLst/>
          </a:prstGeom>
          <a:solidFill>
            <a:srgbClr val="D5D0C8"/>
          </a:solidFill>
          <a:ln>
            <a:noFill/>
          </a:ln>
        </p:spPr>
      </p:sp>
      <p:sp>
        <p:nvSpPr>
          <p:cNvPr id="79" name="Rectangle 79"/>
          <p:cNvSpPr/>
          <p:nvPr/>
        </p:nvSpPr>
        <p:spPr>
          <a:xfrm>
            <a:off x="11525250" y="3324225"/>
            <a:ext cx="171450" cy="133350"/>
          </a:xfrm>
          <a:prstGeom prst="rect">
            <a:avLst/>
          </a:prstGeom>
          <a:solidFill>
            <a:srgbClr val="D5D0C8"/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8370570" y="366522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法律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9228772" y="3673316"/>
            <a:ext cx="15692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IP保护加强，原创设计师受益</a:t>
            </a:r>
          </a:p>
        </p:txBody>
      </p:sp>
      <p:sp>
        <p:nvSpPr>
          <p:cNvPr id="82" name="Rectangle 82"/>
          <p:cNvSpPr/>
          <p:nvPr/>
        </p:nvSpPr>
        <p:spPr>
          <a:xfrm>
            <a:off x="10763250" y="3657600"/>
            <a:ext cx="171450" cy="133350"/>
          </a:xfrm>
          <a:prstGeom prst="rect">
            <a:avLst/>
          </a:prstGeom>
          <a:solidFill>
            <a:srgbClr val="8B9D8B">
              <a:alpha val="80000"/>
            </a:srgbClr>
          </a:solidFill>
          <a:ln>
            <a:noFill/>
          </a:ln>
        </p:spPr>
      </p:sp>
      <p:sp>
        <p:nvSpPr>
          <p:cNvPr id="83" name="Rectangle 83"/>
          <p:cNvSpPr/>
          <p:nvPr/>
        </p:nvSpPr>
        <p:spPr>
          <a:xfrm>
            <a:off x="10953750" y="3657600"/>
            <a:ext cx="171450" cy="133350"/>
          </a:xfrm>
          <a:prstGeom prst="rect">
            <a:avLst/>
          </a:prstGeom>
          <a:solidFill>
            <a:srgbClr val="8B9D8B">
              <a:alpha val="80000"/>
            </a:srgbClr>
          </a:solidFill>
          <a:ln>
            <a:noFill/>
          </a:ln>
        </p:spPr>
      </p:sp>
      <p:sp>
        <p:nvSpPr>
          <p:cNvPr id="84" name="Rectangle 84"/>
          <p:cNvSpPr/>
          <p:nvPr/>
        </p:nvSpPr>
        <p:spPr>
          <a:xfrm>
            <a:off x="11144250" y="3657600"/>
            <a:ext cx="171450" cy="133350"/>
          </a:xfrm>
          <a:prstGeom prst="rect">
            <a:avLst/>
          </a:prstGeom>
          <a:solidFill>
            <a:srgbClr val="8B9D8B">
              <a:alpha val="60000"/>
            </a:srgbClr>
          </a:solidFill>
          <a:ln>
            <a:noFill/>
          </a:ln>
        </p:spPr>
      </p:sp>
      <p:sp>
        <p:nvSpPr>
          <p:cNvPr id="85" name="Rectangle 85"/>
          <p:cNvSpPr/>
          <p:nvPr/>
        </p:nvSpPr>
        <p:spPr>
          <a:xfrm>
            <a:off x="11334750" y="3657600"/>
            <a:ext cx="171450" cy="133350"/>
          </a:xfrm>
          <a:prstGeom prst="rect">
            <a:avLst/>
          </a:prstGeom>
          <a:solidFill>
            <a:srgbClr val="8B9D8B">
              <a:alpha val="40000"/>
            </a:srgbClr>
          </a:solidFill>
          <a:ln>
            <a:noFill/>
          </a:ln>
        </p:spPr>
      </p:sp>
      <p:sp>
        <p:nvSpPr>
          <p:cNvPr id="86" name="Rectangle 86"/>
          <p:cNvSpPr/>
          <p:nvPr/>
        </p:nvSpPr>
        <p:spPr>
          <a:xfrm>
            <a:off x="11525250" y="3657600"/>
            <a:ext cx="171450" cy="133350"/>
          </a:xfrm>
          <a:prstGeom prst="rect">
            <a:avLst/>
          </a:prstGeom>
          <a:solidFill>
            <a:srgbClr val="D5D0C8"/>
          </a:solidFill>
          <a:ln>
            <a:noFill/>
          </a:ln>
        </p:spPr>
      </p:sp>
      <p:sp>
        <p:nvSpPr>
          <p:cNvPr id="87" name="TextBox 87"/>
          <p:cNvSpPr txBox="1"/>
          <p:nvPr/>
        </p:nvSpPr>
        <p:spPr>
          <a:xfrm>
            <a:off x="8370570" y="4093845"/>
            <a:ext cx="7888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社会·子维度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9228772" y="4101941"/>
            <a:ext cx="23584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独居经济：一人食/一人住/一人玩 万亿市场</a:t>
            </a:r>
          </a:p>
        </p:txBody>
      </p:sp>
      <p:sp>
        <p:nvSpPr>
          <p:cNvPr id="89" name="Rectangle 89"/>
          <p:cNvSpPr/>
          <p:nvPr/>
        </p:nvSpPr>
        <p:spPr>
          <a:xfrm>
            <a:off x="10763250" y="4086225"/>
            <a:ext cx="171450" cy="133350"/>
          </a:xfrm>
          <a:prstGeom prst="rect">
            <a:avLst/>
          </a:prstGeom>
          <a:solidFill>
            <a:srgbClr val="8B9D8B">
              <a:alpha val="80000"/>
            </a:srgbClr>
          </a:solidFill>
          <a:ln>
            <a:noFill/>
          </a:ln>
        </p:spPr>
      </p:sp>
      <p:sp>
        <p:nvSpPr>
          <p:cNvPr id="90" name="Rectangle 90"/>
          <p:cNvSpPr/>
          <p:nvPr/>
        </p:nvSpPr>
        <p:spPr>
          <a:xfrm>
            <a:off x="10953750" y="4086225"/>
            <a:ext cx="171450" cy="133350"/>
          </a:xfrm>
          <a:prstGeom prst="rect">
            <a:avLst/>
          </a:prstGeom>
          <a:solidFill>
            <a:srgbClr val="8B9D8B">
              <a:alpha val="80000"/>
            </a:srgbClr>
          </a:solidFill>
          <a:ln>
            <a:noFill/>
          </a:ln>
        </p:spPr>
      </p:sp>
      <p:sp>
        <p:nvSpPr>
          <p:cNvPr id="91" name="Rectangle 91"/>
          <p:cNvSpPr/>
          <p:nvPr/>
        </p:nvSpPr>
        <p:spPr>
          <a:xfrm>
            <a:off x="11144250" y="4086225"/>
            <a:ext cx="171450" cy="133350"/>
          </a:xfrm>
          <a:prstGeom prst="rect">
            <a:avLst/>
          </a:prstGeom>
          <a:solidFill>
            <a:srgbClr val="8B9D8B">
              <a:alpha val="80000"/>
            </a:srgbClr>
          </a:solidFill>
          <a:ln>
            <a:noFill/>
          </a:ln>
        </p:spPr>
      </p:sp>
      <p:sp>
        <p:nvSpPr>
          <p:cNvPr id="92" name="Rectangle 92"/>
          <p:cNvSpPr/>
          <p:nvPr/>
        </p:nvSpPr>
        <p:spPr>
          <a:xfrm>
            <a:off x="11334750" y="4086225"/>
            <a:ext cx="171450" cy="133350"/>
          </a:xfrm>
          <a:prstGeom prst="rect">
            <a:avLst/>
          </a:prstGeom>
          <a:solidFill>
            <a:srgbClr val="8B9D8B">
              <a:alpha val="80000"/>
            </a:srgbClr>
          </a:solidFill>
          <a:ln>
            <a:noFill/>
          </a:ln>
        </p:spPr>
      </p:sp>
      <p:sp>
        <p:nvSpPr>
          <p:cNvPr id="93" name="Rectangle 93"/>
          <p:cNvSpPr/>
          <p:nvPr/>
        </p:nvSpPr>
        <p:spPr>
          <a:xfrm>
            <a:off x="11525250" y="4086225"/>
            <a:ext cx="171450" cy="133350"/>
          </a:xfrm>
          <a:prstGeom prst="rect">
            <a:avLst/>
          </a:prstGeom>
          <a:solidFill>
            <a:srgbClr val="8B9D8B">
              <a:alpha val="80000"/>
            </a:srgbClr>
          </a:solidFill>
          <a:ln>
            <a:noFill/>
          </a:ln>
        </p:spPr>
      </p:sp>
      <p:sp>
        <p:nvSpPr>
          <p:cNvPr id="94" name="TextBox 94"/>
          <p:cNvSpPr txBox="1"/>
          <p:nvPr/>
        </p:nvSpPr>
        <p:spPr>
          <a:xfrm>
            <a:off x="8370570" y="4427220"/>
            <a:ext cx="7888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社会·子维度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9228772" y="4435316"/>
            <a:ext cx="23223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心理健康去污名化，"情绪价值"成日常词汇</a:t>
            </a:r>
          </a:p>
        </p:txBody>
      </p:sp>
      <p:sp>
        <p:nvSpPr>
          <p:cNvPr id="96" name="Rectangle 96"/>
          <p:cNvSpPr/>
          <p:nvPr/>
        </p:nvSpPr>
        <p:spPr>
          <a:xfrm>
            <a:off x="10763250" y="4419600"/>
            <a:ext cx="171450" cy="133350"/>
          </a:xfrm>
          <a:prstGeom prst="rect">
            <a:avLst/>
          </a:prstGeom>
          <a:solidFill>
            <a:srgbClr val="8B9D8B">
              <a:alpha val="80000"/>
            </a:srgbClr>
          </a:solidFill>
          <a:ln>
            <a:noFill/>
          </a:ln>
        </p:spPr>
      </p:sp>
      <p:sp>
        <p:nvSpPr>
          <p:cNvPr id="97" name="Rectangle 97"/>
          <p:cNvSpPr/>
          <p:nvPr/>
        </p:nvSpPr>
        <p:spPr>
          <a:xfrm>
            <a:off x="10953750" y="4419600"/>
            <a:ext cx="171450" cy="133350"/>
          </a:xfrm>
          <a:prstGeom prst="rect">
            <a:avLst/>
          </a:prstGeom>
          <a:solidFill>
            <a:srgbClr val="8B9D8B">
              <a:alpha val="80000"/>
            </a:srgbClr>
          </a:solidFill>
          <a:ln>
            <a:noFill/>
          </a:ln>
        </p:spPr>
      </p:sp>
      <p:sp>
        <p:nvSpPr>
          <p:cNvPr id="98" name="Rectangle 98"/>
          <p:cNvSpPr/>
          <p:nvPr/>
        </p:nvSpPr>
        <p:spPr>
          <a:xfrm>
            <a:off x="11144250" y="4419600"/>
            <a:ext cx="171450" cy="133350"/>
          </a:xfrm>
          <a:prstGeom prst="rect">
            <a:avLst/>
          </a:prstGeom>
          <a:solidFill>
            <a:srgbClr val="8B9D8B">
              <a:alpha val="80000"/>
            </a:srgbClr>
          </a:solidFill>
          <a:ln>
            <a:noFill/>
          </a:ln>
        </p:spPr>
      </p:sp>
      <p:sp>
        <p:nvSpPr>
          <p:cNvPr id="99" name="Rectangle 99"/>
          <p:cNvSpPr/>
          <p:nvPr/>
        </p:nvSpPr>
        <p:spPr>
          <a:xfrm>
            <a:off x="11334750" y="4419600"/>
            <a:ext cx="171450" cy="133350"/>
          </a:xfrm>
          <a:prstGeom prst="rect">
            <a:avLst/>
          </a:prstGeom>
          <a:solidFill>
            <a:srgbClr val="8B9D8B">
              <a:alpha val="80000"/>
            </a:srgbClr>
          </a:solidFill>
          <a:ln>
            <a:noFill/>
          </a:ln>
        </p:spPr>
      </p:sp>
      <p:sp>
        <p:nvSpPr>
          <p:cNvPr id="100" name="Rectangle 100"/>
          <p:cNvSpPr/>
          <p:nvPr/>
        </p:nvSpPr>
        <p:spPr>
          <a:xfrm>
            <a:off x="11525250" y="4419600"/>
            <a:ext cx="171450" cy="133350"/>
          </a:xfrm>
          <a:prstGeom prst="rect">
            <a:avLst/>
          </a:prstGeom>
          <a:solidFill>
            <a:srgbClr val="8B9D8B">
              <a:alpha val="40000"/>
            </a:srgbClr>
          </a:solidFill>
          <a:ln>
            <a:noFill/>
          </a:ln>
        </p:spPr>
      </p:sp>
      <p:sp>
        <p:nvSpPr>
          <p:cNvPr id="101" name="TextBox 101"/>
          <p:cNvSpPr txBox="1"/>
          <p:nvPr/>
        </p:nvSpPr>
        <p:spPr>
          <a:xfrm>
            <a:off x="10754678" y="4880134"/>
            <a:ext cx="11572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高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1516678" y="4880134"/>
            <a:ext cx="11572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低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560070" y="6189345"/>
            <a:ext cx="63585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结论：社会维度（独居经济+情绪消费+去污名化）构成最强信号叠加，为"情绪翻译者"生态位提供宏观支撑。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361950"/>
            <a:ext cx="454666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PESTEL 深度分析：关键变量与利润结构迁移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645795"/>
            <a:ext cx="30723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不是"行业不错"——是三重信号在同一个时间窗口叠加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57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3524250" cy="2476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047750"/>
            <a:ext cx="352425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92480" y="1187768"/>
            <a:ext cx="23115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政策：合规淘汰低端产能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7242" y="1494949"/>
            <a:ext cx="24384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文化产业"十四五"规划推动原创IP保护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9148" y="1815941"/>
            <a:ext cx="19427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江苏/广东/浙江出台专项扶持政策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9148" y="2025491"/>
            <a:ext cx="15692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知识产权保护力度逐年加强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9148" y="2235041"/>
            <a:ext cx="19427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潮玩行业从"灰色地带"进入规范化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9148" y="2444591"/>
            <a:ext cx="14487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低端仿冒品面临合规淘汰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9148" y="2768441"/>
            <a:ext cx="22922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利好原创设计师品牌，原创力成为护城河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0100" y="3157538"/>
            <a:ext cx="259865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影响强度: ★★★★☆ │ 确定性: 高 │ 窗口期: 2026-2028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33875" y="1047750"/>
            <a:ext cx="3524250" cy="2476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4333875" y="1047750"/>
            <a:ext cx="352425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554855" y="1187768"/>
            <a:ext cx="25186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经济：消费分级利好平价段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59618" y="1494949"/>
            <a:ext cx="27873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"口红效应" × 理性消费 × 体验经济三重叠加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61522" y="1815941"/>
            <a:ext cx="22620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GDP增速放缓，消费者转向"小确幸"消费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61522" y="2025491"/>
            <a:ext cx="26235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59-99元价格带：决策成本低、复购率高的甜区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61522" y="2235041"/>
            <a:ext cx="20753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消费者从"买更贵"转向"买更有意义"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61522" y="2444591"/>
            <a:ext cx="20873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潮玩市场2025年超600亿，CAGR 15%+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61522" y="2768441"/>
            <a:ext cx="20753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69元定价精准切入"小确幸消费"甜区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62475" y="3157538"/>
            <a:ext cx="227552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影响强度: ★★★★☆ │ 确定性: 高 │ 窗口期: 持续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096250" y="1047750"/>
            <a:ext cx="3524250" cy="2952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8096250" y="1047750"/>
            <a:ext cx="352425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317230" y="1187768"/>
            <a:ext cx="29326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社会：情绪消费成为第一驱动力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21992" y="1494949"/>
            <a:ext cx="26733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独居 × 内卷 × 心理健康去污名化 三浪叠加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22945" y="180784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核心发现：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23898" y="2025491"/>
            <a:ext cx="286454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中国独居人口1.25亿（2025年），2030年预计1.5亿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23898" y="2235041"/>
            <a:ext cx="29127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18-35岁消费决策中，"情绪价值"排在功能/价格之前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23898" y="2444591"/>
            <a:ext cx="195484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线上心理健康平台用户年增长200%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23898" y="2654141"/>
            <a:ext cx="25512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年轻人常用"焦虑""emo""精神内耗"描述日常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23898" y="2939891"/>
            <a:ext cx="21837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"情绪翻译者"定位与这个趋势完全契合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23898" y="3149441"/>
            <a:ext cx="23163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用户不需要"解决情绪"，需要"理解情绪"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23898" y="3435191"/>
            <a:ext cx="25452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最高信号强度——这不是小众需求，是代际变迁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24850" y="3729038"/>
            <a:ext cx="26589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影响强度: ★★★★★ │ 确定性: 高 │ 窗口期: 2026-2030+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56260" y="4061460"/>
            <a:ext cx="279082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技术 · 环境 · 法律 —— 支撑性趋势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4381500"/>
            <a:ext cx="3524250" cy="10001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49618" y="4514374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技术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1522" y="4721066"/>
            <a:ext cx="30151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AI内容工具降低创作门槛，中小团队可高效产出角色内容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51522" y="4911566"/>
            <a:ext cx="18283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社交媒体平台推动内容分发精准化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2475" y="5157788"/>
            <a:ext cx="85153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影响强度: ★★★☆☆</a:t>
            </a:r>
          </a:p>
        </p:txBody>
      </p:sp>
      <p:sp>
        <p:nvSpPr>
          <p:cNvPr id="45" name="Rectangle 45"/>
          <p:cNvSpPr/>
          <p:nvPr/>
        </p:nvSpPr>
        <p:spPr>
          <a:xfrm>
            <a:off x="4333875" y="4381500"/>
            <a:ext cx="3524250" cy="10001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4511992" y="4514374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环境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513898" y="4721066"/>
            <a:ext cx="25090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ESG消费趋势，环保包装成为品牌溢价的支撑点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513898" y="4911566"/>
            <a:ext cx="2081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再生纸/大豆油墨/可降解材料成本下降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514850" y="5157788"/>
            <a:ext cx="85153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影响强度: ★★★☆☆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096250" y="4381500"/>
            <a:ext cx="3524250" cy="10001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8274368" y="4514374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法律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276272" y="4721066"/>
            <a:ext cx="28946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《著作权法》修订加强IP保护，原创角色版权有法可依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276272" y="4911566"/>
            <a:ext cx="19488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电商平台知识产权投诉处理效率提升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277225" y="5157788"/>
            <a:ext cx="85153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影响强度: ★★★☆☆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71500" y="5619750"/>
            <a:ext cx="11049000" cy="457200"/>
          </a:xfrm>
          <a:prstGeom prst="rect">
            <a:avLst/>
          </a:prstGeom>
          <a:solidFill>
            <a:srgbClr val="3C3C5C">
              <a:alpha val="5000"/>
            </a:srgbClr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748665" y="57159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交叉洞察：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702118" y="5724049"/>
            <a:ext cx="69382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政策保护原创 × 经济利好平价段 × 社会情绪消费升级 × 技术降低内容门槛 = 原创情绪IP的"黄金三角"时间窗口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51522" y="5930741"/>
            <a:ext cx="49189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这个窗口可能只有2-3年。一旦头部品牌形成内容生态壁垒，后进者需要三倍投入才能追赶。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0545" y="345758"/>
            <a:ext cx="14588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PESTEL 结论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9118" y="656749"/>
            <a:ext cx="3015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三个不曾交叉的信号，在这个时间点撞在了一起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953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952500" y="1714500"/>
            <a:ext cx="2857500" cy="2667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952500" y="1714500"/>
            <a:ext cx="285750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806321" y="1948815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独居经济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36234" y="2185035"/>
            <a:ext cx="129003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1.25亿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65173" y="2617470"/>
            <a:ext cx="123215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独居人口（2025年）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27772" y="2958941"/>
            <a:ext cx="13463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一个人吃饭、一个人住、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7772" y="3149441"/>
            <a:ext cx="9969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一个人度过夜晚——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7772" y="3339941"/>
            <a:ext cx="14788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"一个人"不再是过渡状态，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7772" y="3530441"/>
            <a:ext cx="14668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是越来越多人选择的常态。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28725" y="3919538"/>
            <a:ext cx="119110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2030年预计达到1.5-2亿</a:t>
            </a:r>
          </a:p>
        </p:txBody>
      </p:sp>
      <p:sp>
        <p:nvSpPr>
          <p:cNvPr id="16" name="Line 16"/>
          <p:cNvSpPr/>
          <p:nvPr/>
        </p:nvSpPr>
        <p:spPr>
          <a:xfrm>
            <a:off x="3905250" y="30480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19050">
            <a:solidFill>
              <a:srgbClr val="8B9D8B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4476750" y="3000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8B9D8B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4667250" y="1714500"/>
            <a:ext cx="2857500" cy="2667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4667250" y="1714500"/>
            <a:ext cx="285750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521071" y="1948815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情绪消费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26581" y="2185035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第一驱动力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60206" y="2617470"/>
            <a:ext cx="1271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18-35岁消费决策排序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942522" y="2958941"/>
            <a:ext cx="12379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"情绪价值"超过功能、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942522" y="3149441"/>
            <a:ext cx="12258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价格、品牌，成为购买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42522" y="3339941"/>
            <a:ext cx="11174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决策的第一优先级——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942522" y="3530441"/>
            <a:ext cx="11174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不是"买了什么"，是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942522" y="3720941"/>
            <a:ext cx="12379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"买的时候什么感觉"。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943475" y="3919538"/>
            <a:ext cx="167854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京东/天猫2025消费报告 [待验证]</a:t>
            </a:r>
          </a:p>
        </p:txBody>
      </p:sp>
      <p:sp>
        <p:nvSpPr>
          <p:cNvPr id="29" name="Line 29"/>
          <p:cNvSpPr/>
          <p:nvPr/>
        </p:nvSpPr>
        <p:spPr>
          <a:xfrm>
            <a:off x="7620000" y="30480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19050">
            <a:solidFill>
              <a:srgbClr val="8B9D8B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8191500" y="3000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8B9D8B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8382000" y="1714500"/>
            <a:ext cx="2857500" cy="2667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8382000" y="1714500"/>
            <a:ext cx="2857500" cy="38100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235821" y="1948815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去污名化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720628" y="2185035"/>
            <a:ext cx="218024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7BA4B5"/>
                </a:solidFill>
                <a:latin typeface="Arial"/>
                <a:ea typeface="Microsoft YaHei"/>
                <a:cs typeface="Arial"/>
              </a:rPr>
              <a:t>"情绪价值"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04985" y="261747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成为日常词汇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657272" y="2958941"/>
            <a:ext cx="13644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谈论"焦虑""内耗""emo"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57272" y="3149441"/>
            <a:ext cx="6354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不再羞耻——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657272" y="3339941"/>
            <a:ext cx="11716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"我需要一个能理解我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657272" y="3530441"/>
            <a:ext cx="12921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情绪的东西"是公开表达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657272" y="372094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的消费需求。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658225" y="3919538"/>
            <a:ext cx="16566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小红书/微博话题量趋势 [待验证]</a:t>
            </a:r>
          </a:p>
        </p:txBody>
      </p:sp>
      <p:sp>
        <p:nvSpPr>
          <p:cNvPr id="42" name="Line 42"/>
          <p:cNvSpPr/>
          <p:nvPr/>
        </p:nvSpPr>
        <p:spPr>
          <a:xfrm>
            <a:off x="2381250" y="457200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9525">
            <a:solidFill>
              <a:srgbClr val="8B9D8B"/>
            </a:solidFill>
          </a:ln>
        </p:spPr>
      </p:sp>
      <p:sp>
        <p:nvSpPr>
          <p:cNvPr id="43" name="Line 43"/>
          <p:cNvSpPr/>
          <p:nvPr/>
        </p:nvSpPr>
        <p:spPr>
          <a:xfrm>
            <a:off x="6096000" y="457200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9525">
            <a:solidFill>
              <a:srgbClr val="8B9D8B"/>
            </a:solidFill>
          </a:ln>
        </p:spPr>
      </p:sp>
      <p:sp>
        <p:nvSpPr>
          <p:cNvPr id="44" name="Line 44"/>
          <p:cNvSpPr/>
          <p:nvPr/>
        </p:nvSpPr>
        <p:spPr>
          <a:xfrm>
            <a:off x="9810750" y="457200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9525">
            <a:solidFill>
              <a:srgbClr val="8B9D8B"/>
            </a:solidFill>
          </a:ln>
        </p:spPr>
      </p:sp>
      <p:sp>
        <p:nvSpPr>
          <p:cNvPr id="45" name="Line 45"/>
          <p:cNvSpPr/>
          <p:nvPr/>
        </p:nvSpPr>
        <p:spPr>
          <a:xfrm>
            <a:off x="2381250" y="5048250"/>
            <a:ext cx="7429500" cy="9525"/>
          </a:xfrm>
          <a:custGeom>
            <a:avLst/>
            <a:gdLst/>
            <a:ahLst/>
            <a:cxnLst/>
            <a:rect l="l" t="t" r="r" b="b"/>
            <a:pathLst>
              <a:path w="7429500" h="9525">
                <a:moveTo>
                  <a:pt x="0" y="0"/>
                </a:moveTo>
                <a:lnTo>
                  <a:pt x="7429500" y="0"/>
                </a:lnTo>
              </a:path>
            </a:pathLst>
          </a:custGeom>
          <a:noFill/>
          <a:ln w="19050">
            <a:solidFill>
              <a:srgbClr val="8B9D8B"/>
            </a:solidFill>
          </a:ln>
        </p:spPr>
      </p:sp>
      <p:sp>
        <p:nvSpPr>
          <p:cNvPr id="46" name="Line 46"/>
          <p:cNvSpPr/>
          <p:nvPr/>
        </p:nvSpPr>
        <p:spPr>
          <a:xfrm>
            <a:off x="6096000" y="50482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>
            <a:solidFill>
              <a:srgbClr val="8B9D8B"/>
            </a:solidFill>
          </a:ln>
        </p:spPr>
      </p:sp>
      <p:sp>
        <p:nvSpPr>
          <p:cNvPr id="47" name="Polygon 47"/>
          <p:cNvSpPr/>
          <p:nvPr/>
        </p:nvSpPr>
        <p:spPr>
          <a:xfrm>
            <a:off x="6029325" y="5305425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66675" y="171450"/>
                </a:lnTo>
                <a:lnTo>
                  <a:pt x="133350" y="0"/>
                </a:lnTo>
                <a:close/>
              </a:path>
            </a:pathLst>
          </a:custGeom>
          <a:solidFill>
            <a:srgbClr val="8B9D8B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3238500" y="5524500"/>
            <a:ext cx="5715000" cy="666750"/>
          </a:xfrm>
          <a:prstGeom prst="rect">
            <a:avLst/>
          </a:prstGeom>
          <a:solidFill>
            <a:srgbClr val="3C3C5C">
              <a:alpha val="5000"/>
            </a:srgbClr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219468" y="5648325"/>
            <a:ext cx="375306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三重社会信号叠加 → 结构性机会窗口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865406" y="5943124"/>
            <a:ext cx="64611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不是某一年的风口——是代际变迁带来的长期趋势。这个窗口期为"情绪翻译者"生态位提供了宏观支撑。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314325"/>
            <a:ext cx="46386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竞争格局全景：10家竞品 × 四梯队战略集团图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98170"/>
            <a:ext cx="60890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不是"没有竞品"——是没有"这个位置的"竞品。横轴：价格带（¥） 纵轴：内容深度（品牌世界观完整度）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96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Line 6"/>
          <p:cNvSpPr/>
          <p:nvPr/>
        </p:nvSpPr>
        <p:spPr>
          <a:xfrm>
            <a:off x="1143000" y="5905500"/>
            <a:ext cx="6667500" cy="9525"/>
          </a:xfrm>
          <a:custGeom>
            <a:avLst/>
            <a:gdLst/>
            <a:ahLst/>
            <a:cxnLst/>
            <a:rect l="l" t="t" r="r" b="b"/>
            <a:pathLst>
              <a:path w="6667500" h="9525">
                <a:moveTo>
                  <a:pt x="0" y="0"/>
                </a:moveTo>
                <a:lnTo>
                  <a:pt x="6667500" y="0"/>
                </a:lnTo>
              </a:path>
            </a:pathLst>
          </a:custGeom>
          <a:noFill/>
          <a:ln w="14288">
            <a:solidFill>
              <a:srgbClr val="3C3C5C"/>
            </a:solidFill>
          </a:ln>
        </p:spPr>
      </p:sp>
      <p:sp>
        <p:nvSpPr>
          <p:cNvPr id="7" name="Line 7"/>
          <p:cNvSpPr/>
          <p:nvPr/>
        </p:nvSpPr>
        <p:spPr>
          <a:xfrm>
            <a:off x="1143000" y="1143000"/>
            <a:ext cx="9525" cy="4762500"/>
          </a:xfrm>
          <a:custGeom>
            <a:avLst/>
            <a:gdLst/>
            <a:ahLst/>
            <a:cxnLst/>
            <a:rect l="l" t="t" r="r" b="b"/>
            <a:pathLst>
              <a:path w="9525" h="4762500">
                <a:moveTo>
                  <a:pt x="0" y="4762500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3C3C5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03352" y="6015038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40104" y="6015038"/>
            <a:ext cx="1395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06979" y="6015038"/>
            <a:ext cx="1395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99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57424" y="6015038"/>
            <a:ext cx="1724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159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80484" y="6015038"/>
            <a:ext cx="2600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299+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04799" y="617839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价格带（元）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8688" y="5872162"/>
            <a:ext cx="1285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8688" y="4300538"/>
            <a:ext cx="1285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中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8688" y="2681288"/>
            <a:ext cx="1285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9150" y="106203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极深</a:t>
            </a:r>
          </a:p>
        </p:txBody>
      </p:sp>
      <p:sp>
        <p:nvSpPr>
          <p:cNvPr id="18" name="Line 18"/>
          <p:cNvSpPr/>
          <p:nvPr/>
        </p:nvSpPr>
        <p:spPr>
          <a:xfrm>
            <a:off x="2809875" y="1143000"/>
            <a:ext cx="9525" cy="4762500"/>
          </a:xfrm>
          <a:custGeom>
            <a:avLst/>
            <a:gdLst/>
            <a:ahLst/>
            <a:cxnLst/>
            <a:rect l="l" t="t" r="r" b="b"/>
            <a:pathLst>
              <a:path w="9525" h="4762500">
                <a:moveTo>
                  <a:pt x="0" y="0"/>
                </a:moveTo>
                <a:lnTo>
                  <a:pt x="0" y="4762500"/>
                </a:lnTo>
              </a:path>
            </a:pathLst>
          </a:custGeom>
          <a:noFill/>
          <a:ln w="4762">
            <a:solidFill>
              <a:srgbClr val="D5D0C8"/>
            </a:solidFill>
            <a:prstDash val="dash"/>
          </a:ln>
        </p:spPr>
      </p:sp>
      <p:sp>
        <p:nvSpPr>
          <p:cNvPr id="19" name="Line 19"/>
          <p:cNvSpPr/>
          <p:nvPr/>
        </p:nvSpPr>
        <p:spPr>
          <a:xfrm>
            <a:off x="4476750" y="1143000"/>
            <a:ext cx="9525" cy="4762500"/>
          </a:xfrm>
          <a:custGeom>
            <a:avLst/>
            <a:gdLst/>
            <a:ahLst/>
            <a:cxnLst/>
            <a:rect l="l" t="t" r="r" b="b"/>
            <a:pathLst>
              <a:path w="9525" h="4762500">
                <a:moveTo>
                  <a:pt x="0" y="0"/>
                </a:moveTo>
                <a:lnTo>
                  <a:pt x="0" y="4762500"/>
                </a:lnTo>
              </a:path>
            </a:pathLst>
          </a:custGeom>
          <a:noFill/>
          <a:ln w="4762">
            <a:solidFill>
              <a:srgbClr val="D5D0C8"/>
            </a:solidFill>
            <a:prstDash val="dash"/>
          </a:ln>
        </p:spPr>
      </p:sp>
      <p:sp>
        <p:nvSpPr>
          <p:cNvPr id="20" name="Line 20"/>
          <p:cNvSpPr/>
          <p:nvPr/>
        </p:nvSpPr>
        <p:spPr>
          <a:xfrm>
            <a:off x="6143625" y="1143000"/>
            <a:ext cx="9525" cy="4762500"/>
          </a:xfrm>
          <a:custGeom>
            <a:avLst/>
            <a:gdLst/>
            <a:ahLst/>
            <a:cxnLst/>
            <a:rect l="l" t="t" r="r" b="b"/>
            <a:pathLst>
              <a:path w="9525" h="4762500">
                <a:moveTo>
                  <a:pt x="0" y="0"/>
                </a:moveTo>
                <a:lnTo>
                  <a:pt x="0" y="4762500"/>
                </a:lnTo>
              </a:path>
            </a:pathLst>
          </a:custGeom>
          <a:noFill/>
          <a:ln w="4762">
            <a:solidFill>
              <a:srgbClr val="D5D0C8"/>
            </a:solidFill>
            <a:prstDash val="dash"/>
          </a:ln>
        </p:spPr>
      </p:sp>
      <p:sp>
        <p:nvSpPr>
          <p:cNvPr id="21" name="Line 21"/>
          <p:cNvSpPr/>
          <p:nvPr/>
        </p:nvSpPr>
        <p:spPr>
          <a:xfrm>
            <a:off x="1143000" y="4381500"/>
            <a:ext cx="6667500" cy="9525"/>
          </a:xfrm>
          <a:custGeom>
            <a:avLst/>
            <a:gdLst/>
            <a:ahLst/>
            <a:cxnLst/>
            <a:rect l="l" t="t" r="r" b="b"/>
            <a:pathLst>
              <a:path w="6667500" h="9525">
                <a:moveTo>
                  <a:pt x="0" y="0"/>
                </a:moveTo>
                <a:lnTo>
                  <a:pt x="6667500" y="0"/>
                </a:lnTo>
              </a:path>
            </a:pathLst>
          </a:custGeom>
          <a:noFill/>
          <a:ln w="4762">
            <a:solidFill>
              <a:srgbClr val="D5D0C8"/>
            </a:solidFill>
            <a:prstDash val="dash"/>
          </a:ln>
        </p:spPr>
      </p:sp>
      <p:sp>
        <p:nvSpPr>
          <p:cNvPr id="22" name="Line 22"/>
          <p:cNvSpPr/>
          <p:nvPr/>
        </p:nvSpPr>
        <p:spPr>
          <a:xfrm>
            <a:off x="1143000" y="2762250"/>
            <a:ext cx="6667500" cy="9525"/>
          </a:xfrm>
          <a:custGeom>
            <a:avLst/>
            <a:gdLst/>
            <a:ahLst/>
            <a:cxnLst/>
            <a:rect l="l" t="t" r="r" b="b"/>
            <a:pathLst>
              <a:path w="6667500" h="9525">
                <a:moveTo>
                  <a:pt x="0" y="0"/>
                </a:moveTo>
                <a:lnTo>
                  <a:pt x="6667500" y="0"/>
                </a:lnTo>
              </a:path>
            </a:pathLst>
          </a:custGeom>
          <a:noFill/>
          <a:ln w="4762">
            <a:solidFill>
              <a:srgbClr val="D5D0C8"/>
            </a:solidFill>
            <a:prstDash val="dash"/>
          </a:ln>
        </p:spPr>
      </p:sp>
      <p:sp>
        <p:nvSpPr>
          <p:cNvPr id="23" name="Rectangle 23"/>
          <p:cNvSpPr/>
          <p:nvPr/>
        </p:nvSpPr>
        <p:spPr>
          <a:xfrm>
            <a:off x="2857500" y="3048000"/>
            <a:ext cx="1619250" cy="1333500"/>
          </a:xfrm>
          <a:prstGeom prst="rect">
            <a:avLst/>
          </a:prstGeom>
          <a:solidFill>
            <a:srgbClr val="8B9D8B">
              <a:alpha val="10000"/>
            </a:srgbClr>
          </a:solidFill>
          <a:ln w="14288">
            <a:solidFill>
              <a:srgbClr val="8B9D8B"/>
            </a:solidFill>
            <a:prstDash val="dash"/>
          </a:ln>
        </p:spPr>
      </p:sp>
      <p:sp>
        <p:nvSpPr>
          <p:cNvPr id="24" name="TextBox 24"/>
          <p:cNvSpPr txBox="1"/>
          <p:nvPr/>
        </p:nvSpPr>
        <p:spPr>
          <a:xfrm>
            <a:off x="3403616" y="353044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岛屿来信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38525" y="3709988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目标位置</a:t>
            </a:r>
          </a:p>
        </p:txBody>
      </p:sp>
      <p:sp>
        <p:nvSpPr>
          <p:cNvPr id="26" name="Ellipse 26"/>
          <p:cNvSpPr/>
          <p:nvPr/>
        </p:nvSpPr>
        <p:spPr>
          <a:xfrm>
            <a:off x="3028950" y="1600200"/>
            <a:ext cx="609600" cy="609600"/>
          </a:xfrm>
          <a:prstGeom prst="ellipse">
            <a:avLst/>
          </a:prstGeom>
          <a:solidFill>
            <a:srgbClr val="7B7B8E">
              <a:alpha val="25000"/>
            </a:srgbClr>
          </a:solidFill>
          <a:ln w="14288">
            <a:solidFill>
              <a:srgbClr val="7B7B8E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3094196" y="1785938"/>
            <a:ext cx="479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泡泡玛特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161824" y="1935480"/>
            <a:ext cx="343852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59-89元</a:t>
            </a:r>
          </a:p>
        </p:txBody>
      </p:sp>
      <p:sp>
        <p:nvSpPr>
          <p:cNvPr id="29" name="Ellipse 29"/>
          <p:cNvSpPr/>
          <p:nvPr/>
        </p:nvSpPr>
        <p:spPr>
          <a:xfrm>
            <a:off x="4248150" y="2057400"/>
            <a:ext cx="457200" cy="457200"/>
          </a:xfrm>
          <a:prstGeom prst="ellipse">
            <a:avLst/>
          </a:prstGeom>
          <a:solidFill>
            <a:srgbClr val="7B7B8E">
              <a:alpha val="25000"/>
            </a:srgbClr>
          </a:solidFill>
          <a:ln w="14288">
            <a:solidFill>
              <a:srgbClr val="7B7B8E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265950" y="2176462"/>
            <a:ext cx="421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52TOYS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91679" y="2326005"/>
            <a:ext cx="370142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59-129元</a:t>
            </a:r>
          </a:p>
        </p:txBody>
      </p:sp>
      <p:sp>
        <p:nvSpPr>
          <p:cNvPr id="32" name="Ellipse 32"/>
          <p:cNvSpPr/>
          <p:nvPr/>
        </p:nvSpPr>
        <p:spPr>
          <a:xfrm>
            <a:off x="4857750" y="2476500"/>
            <a:ext cx="381000" cy="381000"/>
          </a:xfrm>
          <a:prstGeom prst="ellipse">
            <a:avLst/>
          </a:prstGeom>
          <a:solidFill>
            <a:srgbClr val="9E9EAD">
              <a:alpha val="25000"/>
            </a:srgbClr>
          </a:solidFill>
          <a:ln w="14288">
            <a:solidFill>
              <a:srgbClr val="9E9EAD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4780895" y="2565559"/>
            <a:ext cx="53471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寻找独角兽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876324" y="2707005"/>
            <a:ext cx="343852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69-99元</a:t>
            </a:r>
          </a:p>
        </p:txBody>
      </p:sp>
      <p:sp>
        <p:nvSpPr>
          <p:cNvPr id="35" name="Ellipse 35"/>
          <p:cNvSpPr/>
          <p:nvPr/>
        </p:nvSpPr>
        <p:spPr>
          <a:xfrm>
            <a:off x="5734050" y="3067050"/>
            <a:ext cx="342900" cy="342900"/>
          </a:xfrm>
          <a:prstGeom prst="ellipse">
            <a:avLst/>
          </a:prstGeom>
          <a:solidFill>
            <a:srgbClr val="9E9EAD">
              <a:alpha val="25000"/>
            </a:srgbClr>
          </a:solidFill>
          <a:ln w="14288">
            <a:solidFill>
              <a:srgbClr val="9E9EAD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5726131" y="3137059"/>
            <a:ext cx="35873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TopToy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733574" y="3278505"/>
            <a:ext cx="343852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59-89元</a:t>
            </a:r>
          </a:p>
        </p:txBody>
      </p:sp>
      <p:sp>
        <p:nvSpPr>
          <p:cNvPr id="38" name="Ellipse 38"/>
          <p:cNvSpPr/>
          <p:nvPr/>
        </p:nvSpPr>
        <p:spPr>
          <a:xfrm>
            <a:off x="2228850" y="4419600"/>
            <a:ext cx="304800" cy="304800"/>
          </a:xfrm>
          <a:prstGeom prst="ellipse">
            <a:avLst/>
          </a:prstGeom>
          <a:solidFill>
            <a:srgbClr val="9E9EAD">
              <a:alpha val="20000"/>
            </a:srgbClr>
          </a:solidFill>
          <a:ln w="9525">
            <a:solidFill>
              <a:srgbClr val="9E9EAD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2165652" y="4470559"/>
            <a:ext cx="43119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名创优品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220278" y="4612005"/>
            <a:ext cx="321945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19-49元</a:t>
            </a:r>
          </a:p>
        </p:txBody>
      </p:sp>
      <p:sp>
        <p:nvSpPr>
          <p:cNvPr id="41" name="Ellipse 41"/>
          <p:cNvSpPr/>
          <p:nvPr/>
        </p:nvSpPr>
        <p:spPr>
          <a:xfrm>
            <a:off x="3200400" y="4057650"/>
            <a:ext cx="266700" cy="266700"/>
          </a:xfrm>
          <a:prstGeom prst="ellipse">
            <a:avLst/>
          </a:prstGeom>
          <a:solidFill>
            <a:srgbClr val="9E9EAD">
              <a:alpha val="20000"/>
            </a:srgbClr>
          </a:solidFill>
          <a:ln w="9525">
            <a:solidFill>
              <a:srgbClr val="9E9EAD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118152" y="4089559"/>
            <a:ext cx="43119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酷乐潮玩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61824" y="4231005"/>
            <a:ext cx="343852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29-59元</a:t>
            </a:r>
          </a:p>
        </p:txBody>
      </p:sp>
      <p:sp>
        <p:nvSpPr>
          <p:cNvPr id="44" name="Ellipse 44"/>
          <p:cNvSpPr/>
          <p:nvPr/>
        </p:nvSpPr>
        <p:spPr>
          <a:xfrm>
            <a:off x="6534150" y="1581150"/>
            <a:ext cx="266700" cy="266700"/>
          </a:xfrm>
          <a:prstGeom prst="ellipse">
            <a:avLst/>
          </a:prstGeom>
          <a:solidFill>
            <a:srgbClr val="D5D0C8">
              <a:alpha val="30000"/>
            </a:srgbClr>
          </a:solidFill>
          <a:ln w="9525">
            <a:solidFill>
              <a:srgbClr val="D5D0C8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6371679" y="1546384"/>
            <a:ext cx="59164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独立艺术家A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458331" y="1687830"/>
            <a:ext cx="418338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150-300元</a:t>
            </a:r>
          </a:p>
        </p:txBody>
      </p:sp>
      <p:sp>
        <p:nvSpPr>
          <p:cNvPr id="47" name="Ellipse 47"/>
          <p:cNvSpPr/>
          <p:nvPr/>
        </p:nvSpPr>
        <p:spPr>
          <a:xfrm>
            <a:off x="6934200" y="1981200"/>
            <a:ext cx="228600" cy="228600"/>
          </a:xfrm>
          <a:prstGeom prst="ellipse">
            <a:avLst/>
          </a:prstGeom>
          <a:solidFill>
            <a:srgbClr val="D5D0C8">
              <a:alpha val="30000"/>
            </a:srgbClr>
          </a:solidFill>
          <a:ln w="9525">
            <a:solidFill>
              <a:srgbClr val="D5D0C8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6856192" y="1927384"/>
            <a:ext cx="38461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艺术家B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828377" y="2068830"/>
            <a:ext cx="440245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200-500元</a:t>
            </a:r>
          </a:p>
        </p:txBody>
      </p:sp>
      <p:sp>
        <p:nvSpPr>
          <p:cNvPr id="50" name="Ellipse 50"/>
          <p:cNvSpPr/>
          <p:nvPr/>
        </p:nvSpPr>
        <p:spPr>
          <a:xfrm>
            <a:off x="3876675" y="3400425"/>
            <a:ext cx="247650" cy="247650"/>
          </a:xfrm>
          <a:prstGeom prst="ellipse">
            <a:avLst/>
          </a:prstGeom>
          <a:solidFill>
            <a:srgbClr val="D5D0C8">
              <a:alpha val="30000"/>
            </a:srgbClr>
          </a:solidFill>
          <a:ln w="9525">
            <a:solidFill>
              <a:srgbClr val="D5D0C8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3794760" y="3422809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潮玩星球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828574" y="3564255"/>
            <a:ext cx="343852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49-79元</a:t>
            </a:r>
          </a:p>
        </p:txBody>
      </p:sp>
      <p:sp>
        <p:nvSpPr>
          <p:cNvPr id="53" name="Ellipse 53"/>
          <p:cNvSpPr/>
          <p:nvPr/>
        </p:nvSpPr>
        <p:spPr>
          <a:xfrm>
            <a:off x="2647950" y="4933950"/>
            <a:ext cx="228600" cy="228600"/>
          </a:xfrm>
          <a:prstGeom prst="ellipse">
            <a:avLst/>
          </a:prstGeom>
          <a:solidFill>
            <a:srgbClr val="D5D0C8">
              <a:alpha val="30000"/>
            </a:srgbClr>
          </a:solidFill>
          <a:ln w="9525">
            <a:solidFill>
              <a:srgbClr val="D5D0C8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2507218" y="4946809"/>
            <a:ext cx="51006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九木杂物社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590324" y="5088255"/>
            <a:ext cx="343852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29-69元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096250" y="952500"/>
            <a:ext cx="3524250" cy="4857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271510" y="1108710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四梯队战略集团</a:t>
            </a:r>
          </a:p>
        </p:txBody>
      </p:sp>
      <p:sp>
        <p:nvSpPr>
          <p:cNvPr id="58" name="Rectangle 58"/>
          <p:cNvSpPr/>
          <p:nvPr/>
        </p:nvSpPr>
        <p:spPr>
          <a:xfrm>
            <a:off x="8286750" y="1409700"/>
            <a:ext cx="3143250" cy="666750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8418195" y="1503045"/>
            <a:ext cx="12443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Tier 1 龙头综合平台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419148" y="1682591"/>
            <a:ext cx="26898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泡泡玛特、52TOYS —— 自有IP+渠道网络+资本优势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420100" y="1843088"/>
            <a:ext cx="165115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年营收 50亿+/10亿+，全渠道覆盖</a:t>
            </a:r>
          </a:p>
        </p:txBody>
      </p:sp>
      <p:sp>
        <p:nvSpPr>
          <p:cNvPr id="62" name="Rectangle 62"/>
          <p:cNvSpPr/>
          <p:nvPr/>
        </p:nvSpPr>
        <p:spPr>
          <a:xfrm>
            <a:off x="8286750" y="2171700"/>
            <a:ext cx="3143250" cy="666750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8418195" y="2265045"/>
            <a:ext cx="10027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Tier 2 第二梯队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419148" y="2444591"/>
            <a:ext cx="2719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寻找独角兽、TopToy —— 差异化IP矩阵+中高端定位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420100" y="2605088"/>
            <a:ext cx="144851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FARMER BOB/卓大王等头部IP</a:t>
            </a:r>
          </a:p>
        </p:txBody>
      </p:sp>
      <p:sp>
        <p:nvSpPr>
          <p:cNvPr id="66" name="Rectangle 66"/>
          <p:cNvSpPr/>
          <p:nvPr/>
        </p:nvSpPr>
        <p:spPr>
          <a:xfrm>
            <a:off x="8286750" y="2933700"/>
            <a:ext cx="3143250" cy="666750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8418195" y="3027045"/>
            <a:ext cx="11408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Tier 3 渠道型玩家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419148" y="3206591"/>
            <a:ext cx="28464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名创优品、酷乐潮玩 —— 低价格带+高频SKU+渠道密度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420100" y="3367088"/>
            <a:ext cx="105965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价格带集中在19-59元</a:t>
            </a:r>
          </a:p>
        </p:txBody>
      </p:sp>
      <p:sp>
        <p:nvSpPr>
          <p:cNvPr id="70" name="Rectangle 70"/>
          <p:cNvSpPr/>
          <p:nvPr/>
        </p:nvSpPr>
        <p:spPr>
          <a:xfrm>
            <a:off x="8286750" y="3695700"/>
            <a:ext cx="3143250" cy="809625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8418195" y="3789045"/>
            <a:ext cx="17687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Tier 4 独立艺术家/小众品牌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419148" y="3968591"/>
            <a:ext cx="30091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个人工作室、独立设计师 —— 高内容深度+高价格+小产能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419148" y="4140041"/>
            <a:ext cx="21536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潮玩星球、九木杂物社 —— 二线商场渠道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420100" y="4300538"/>
            <a:ext cx="18373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150-500元段，产能不足，难以规模化</a:t>
            </a:r>
          </a:p>
        </p:txBody>
      </p:sp>
      <p:sp>
        <p:nvSpPr>
          <p:cNvPr id="75" name="Rectangle 75"/>
          <p:cNvSpPr/>
          <p:nvPr/>
        </p:nvSpPr>
        <p:spPr>
          <a:xfrm>
            <a:off x="8286750" y="4667250"/>
            <a:ext cx="3143250" cy="571500"/>
          </a:xfrm>
          <a:prstGeom prst="rect">
            <a:avLst/>
          </a:prstGeom>
          <a:solidFill>
            <a:srgbClr val="3C3C5C">
              <a:alpha val="6000"/>
            </a:srgbClr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8419148" y="4768691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关键发现：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8419148" y="4940141"/>
            <a:ext cx="21958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59-79元 × 高内容深度 × 完整情绪世界观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8419148" y="5092541"/>
            <a:ext cx="18102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→ 四梯队地图上的结构性空白区域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314325"/>
            <a:ext cx="43971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竞争格局深度：Top 3 解剖 + 内容策略对标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98170"/>
            <a:ext cx="19945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它们做对了什么，留下了什么空白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96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00125"/>
            <a:ext cx="3524250" cy="3619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000125"/>
            <a:ext cx="352425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90575" y="1123950"/>
            <a:ext cx="202784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泡泡玛特 Pop Mart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8195" y="1407795"/>
            <a:ext cx="25334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龙头综合平台 | 年营收 60亿+ | 自有IP 90%+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9148" y="1720691"/>
            <a:ext cx="140660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SKU极多，盲盒机制成熟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9148" y="1911191"/>
            <a:ext cx="2111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MOLLY/DIMOO/Skullpanda 等IP矩阵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9148" y="2101691"/>
            <a:ext cx="17379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Robot Shop + 线上全渠道覆盖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9148" y="2292191"/>
            <a:ext cx="16174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IP内容以视觉设计+展览为主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9148" y="2625566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做的好的：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9148" y="2816066"/>
            <a:ext cx="19608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盲盒机制×IP矩阵 = 抽盒快乐+收集欲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9148" y="3149441"/>
            <a:ext cx="7800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留下的空白：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9148" y="3339941"/>
            <a:ext cx="21476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角色≠"有生命的存在"，缺乏独立世界观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9148" y="3530441"/>
            <a:ext cx="22018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内容深度不足，用户记不住角色的"人设"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9148" y="3720941"/>
            <a:ext cx="16114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社交传播靠"拆盒"而非"共鸣"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0100" y="4110038"/>
            <a:ext cx="18811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内容策略：视觉驱动，缺乏叙事性内容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0100" y="4281488"/>
            <a:ext cx="19633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小红书：10万+条/月 → "开箱+展示"为主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333875" y="1000125"/>
            <a:ext cx="3524250" cy="3619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4333875" y="1000125"/>
            <a:ext cx="3524250" cy="38100"/>
          </a:xfrm>
          <a:prstGeom prst="rect">
            <a:avLst/>
          </a:prstGeom>
          <a:solidFill>
            <a:srgbClr val="9E9EAD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552950" y="1123950"/>
            <a:ext cx="8432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52TOYS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60570" y="1407795"/>
            <a:ext cx="22442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第二梯队 | 年营收 10亿+ | 机甲+动物IP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61522" y="1720691"/>
            <a:ext cx="17439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BEASTBOX（猛兽匣）核心IP线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61522" y="1911191"/>
            <a:ext cx="10873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线上线下渠道均衡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61522" y="2101691"/>
            <a:ext cx="17198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IP多为合作/引进，自有IP较弱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61522" y="2292191"/>
            <a:ext cx="13282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机甲爱好者社群粘性高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61522" y="2625566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做的好的：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61522" y="2816066"/>
            <a:ext cx="1840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品类垂直+男性向差异化+粉丝共创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61522" y="3149441"/>
            <a:ext cx="7800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留下的空白：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61522" y="3339941"/>
            <a:ext cx="20693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强品类弱品牌，缺乏统一的世界观内核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61522" y="3530441"/>
            <a:ext cx="20693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内容输出偏向功能展示，缺乏情感叙事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61522" y="3720941"/>
            <a:ext cx="864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女性用户群体小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562475" y="4110038"/>
            <a:ext cx="20509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内容策略：短视频+测评为主，内容深度低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562475" y="4281488"/>
            <a:ext cx="151423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B站/抖音：开箱测评+机甲改造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096250" y="1000125"/>
            <a:ext cx="3524250" cy="3619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8096250" y="1000125"/>
            <a:ext cx="3524250" cy="38100"/>
          </a:xfrm>
          <a:prstGeom prst="rect">
            <a:avLst/>
          </a:prstGeom>
          <a:solidFill>
            <a:srgbClr val="D5D0C8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315325" y="1123950"/>
            <a:ext cx="29249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寻找独角兽 Finding Unicorn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322945" y="1407795"/>
            <a:ext cx="23428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第二梯队 | 设计师IP孵化 | 单一爆款策略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323898" y="1720691"/>
            <a:ext cx="22922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FARMER BOB = 核心爆款（占营收80%+）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323898" y="1911191"/>
            <a:ext cx="12740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艺术家人设+强设计感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323898" y="2101691"/>
            <a:ext cx="14186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中高端定位（69-99元）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323898" y="2292191"/>
            <a:ext cx="10692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单一IP依赖风险高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323898" y="2625566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做的好的：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323898" y="2816066"/>
            <a:ext cx="22018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设计师IP化×限量策略 = 稀缺感+收藏价值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323898" y="3149441"/>
            <a:ext cx="7800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留下的空白：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323898" y="3339941"/>
            <a:ext cx="15572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"设计师个人"≠"角色世界观"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323898" y="3530441"/>
            <a:ext cx="19488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爆款依赖于名人效应，而非角色人格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323898" y="3720941"/>
            <a:ext cx="13282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一旦IP退潮，品牌无支撑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324850" y="4110038"/>
            <a:ext cx="17716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内容策略：艺术家个人社交媒体驱动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324850" y="4281488"/>
            <a:ext cx="21550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设计师个人INS/微博：艺术品曝光+潮流联名</a:t>
            </a:r>
          </a:p>
        </p:txBody>
      </p:sp>
      <p:sp>
        <p:nvSpPr>
          <p:cNvPr id="54" name="Rectangle 54"/>
          <p:cNvSpPr/>
          <p:nvPr/>
        </p:nvSpPr>
        <p:spPr>
          <a:xfrm>
            <a:off x="571500" y="4857750"/>
            <a:ext cx="11049000" cy="666750"/>
          </a:xfrm>
          <a:prstGeom prst="rect">
            <a:avLst/>
          </a:prstGeom>
          <a:solidFill>
            <a:srgbClr val="3C3C5C">
              <a:alpha val="5000"/>
            </a:srgbClr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747712" y="4974431"/>
            <a:ext cx="56149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交叉发现：三者的共同空白 = 59-79元的"有完整世界观、会持续说话的"角色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50570" y="5217795"/>
            <a:ext cx="79161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泡泡玛特有产能无深度内容 · 52TOYS有品类无品牌世界观 · 寻找独角兽有设计师无角色人格 · 没有一个品牌把"角色即内容创作者"做透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61022" y="5816441"/>
            <a:ext cx="9065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内容策略对标：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61022" y="6006941"/>
            <a:ext cx="702752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泡泡玛特小红书月均10万+条笔记 → 82%是"开箱展示" → 角色内容不足 ← 岛屿来信的内容策略（角色日常+情绪故事）直接填这个空白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61022" y="6178391"/>
            <a:ext cx="40453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52TOYS B站月均视频互动量高 → 集中在"把玩/测评" → 缺乏"角色视角"内容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61022" y="6349841"/>
            <a:ext cx="58647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寻找独角兽设计师社交账号粉丝粘性强 → 粉丝追随"人"而非"角色" → 一旦设计师离开品牌，角色无独立生命力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314325"/>
            <a:ext cx="490320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竞争格局深度：独立艺术家品牌 × 跨品类替代品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98170"/>
            <a:ext cx="29540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不是"竞争对手"——是"用户把钱和时间花在了哪里"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96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00125"/>
            <a:ext cx="5429250" cy="3619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92480" y="1140142"/>
            <a:ext cx="30568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独立艺术家品牌（150-500元段）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1426845"/>
            <a:ext cx="28555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高内容深度 × 低产能 × 高价格 → "展览作品"逻辑</a:t>
            </a:r>
          </a:p>
        </p:txBody>
      </p:sp>
      <p:sp>
        <p:nvSpPr>
          <p:cNvPr id="9" name="Rectangle 9"/>
          <p:cNvSpPr/>
          <p:nvPr/>
        </p:nvSpPr>
        <p:spPr>
          <a:xfrm>
            <a:off x="809625" y="1714500"/>
            <a:ext cx="5000625" cy="809625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41070" y="1807845"/>
            <a:ext cx="24588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艺术玩具/设计师玩具（Designer Toy）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2022" y="2006441"/>
            <a:ext cx="48165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单人工作室/独立原型师，每款限量200-500体，价格300-2000元。强艺术家个人风格、高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2022" y="2177891"/>
            <a:ext cx="39429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雕塑品质、展览/画廊渠道为主。典型：末那工作室、袁星亮、擦主席等。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2022" y="2349341"/>
            <a:ext cx="508158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与本项目的差异：价格段差5-10倍，产能不可同日而语。他们卖"艺术品"，我们卖"陪伴者"。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09625" y="2667000"/>
            <a:ext cx="5000625" cy="809625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41070" y="2760345"/>
            <a:ext cx="18998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独立潮玩品牌（100-300元段）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2022" y="2958941"/>
            <a:ext cx="478638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小批量、设计师工作室品牌，内容质感好但产能有限。依赖展会+社群渠道，难以规模化。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2022" y="3130391"/>
            <a:ext cx="353930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典型：所乐、末那、白石等。强在"作品感"，弱在"内容持续性"。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2022" y="3301841"/>
            <a:ext cx="47261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与本项目的差异：他们的核心资产是"艺术家本人"，不是"角色世界观"。产能不足是岛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2022" y="3473291"/>
            <a:ext cx="39971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屿来信的差异化机会：同样的内容深度，但规模化生产带来更亲民的价格。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09625" y="3619500"/>
            <a:ext cx="5000625" cy="523875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1070" y="3712845"/>
            <a:ext cx="21138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独立插画师/IP作者（30-80元段）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2022" y="3911441"/>
            <a:ext cx="49189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插画周边/贴纸/明信片/手机壳，有内容但缺乏三维产品化能力。典型：小红书独立插画师。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2022" y="4082891"/>
            <a:ext cx="30031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→ 产品形态不同（2D vs 3D），不完全在同一竞争维度。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191250" y="1000125"/>
            <a:ext cx="5429250" cy="3619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412230" y="1140142"/>
            <a:ext cx="40091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跨品类替代品——"用户的钱和注意力花在哪"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17945" y="1426845"/>
            <a:ext cx="24414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69元可以在2026年买到什么"情绪陪伴"？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429375" y="1714500"/>
            <a:ext cx="5000625" cy="619125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560820" y="180784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内容订阅类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61772" y="2006441"/>
            <a:ext cx="39067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得到/小宇宙/微信读书会员（15-30元/月）。提供知识/信息/音频陪伴。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61772" y="2177891"/>
            <a:ext cx="39911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→ 竞争的是"独处时间的填充方式"。胜：短期新鲜感。败：无物理存在感。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429375" y="2428875"/>
            <a:ext cx="5000625" cy="619125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560820" y="2522220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生活方式小物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61772" y="2720816"/>
            <a:ext cx="34609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香薰蜡烛（50-150元）/ 手账（30-80元）/ 绿植（20-100元）。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61772" y="2892266"/>
            <a:ext cx="33886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→ 有物理存在感和仪式感。败：不会"说话"，不产生情感互动。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429375" y="3143250"/>
            <a:ext cx="5000625" cy="619125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6560820" y="3236595"/>
            <a:ext cx="10165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心理/情绪类App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61772" y="3435191"/>
            <a:ext cx="35995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潮汐/小睡眠/Mooda（免费+订阅）。提供冥想/白噪音/情绪记录。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561772" y="3606641"/>
            <a:ext cx="33886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→ 强情绪场景，高频使用。败：纯数字体验，无法"放在桌上"。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429375" y="3857625"/>
            <a:ext cx="5000625" cy="619125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6560820" y="3950970"/>
            <a:ext cx="7888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礼品/伴手礼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61772" y="4149566"/>
            <a:ext cx="36115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花束（80-200元）/ 巧克力/香氛礼盒。有仪式感和"用心"的信号。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561772" y="4321016"/>
            <a:ext cx="41236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→ 岛屿来信的礼品场景是核心增长杠杆："送一个角色"比"送一束花"更持久。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4857750"/>
            <a:ext cx="11049000" cy="571500"/>
          </a:xfrm>
          <a:prstGeom prst="rect">
            <a:avLst/>
          </a:prstGeom>
          <a:solidFill>
            <a:srgbClr val="3C3C5C">
              <a:alpha val="5000"/>
            </a:srgbClr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3210878" y="4966335"/>
            <a:ext cx="57702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关键结论：在所有"情绪陪伴"的竞品/替代品中，没有一个产品同时做到——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897797" y="5209699"/>
            <a:ext cx="43964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物理存在感 + 情绪叙事内容 + 69元亲民价格 + 角色人格化 = 四维空白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61022" y="5721191"/>
            <a:ext cx="55515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内容订阅有"陪伴"无"存在" · 小物有"存在"无"说话" · App有"功能"无"温度" · 礼品有"仪式"无"持续"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61022" y="5911691"/>
            <a:ext cx="45393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→ 岛屿来信的角色 = 桌上的陪伴者 + 会说话的"情绪翻译官" + 69元不需要犹豫的价格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57622" y="6681788"/>
            <a:ext cx="1724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314325"/>
            <a:ext cx="55702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结构性缺口：59-79元 × 高内容深度 × 完整情绪世界观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98170"/>
            <a:ext cx="34667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三重空白叠加——不是任何一个维度的"更好"，是一个新位置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96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762000" y="1143000"/>
            <a:ext cx="3238500" cy="4953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1143000"/>
            <a:ext cx="323850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727716" y="1393508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价格带空白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1075" y="1704499"/>
            <a:ext cx="18403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59-79元：大众与高端的断层</a:t>
            </a:r>
          </a:p>
        </p:txBody>
      </p:sp>
      <p:sp>
        <p:nvSpPr>
          <p:cNvPr id="10" name="Line 10"/>
          <p:cNvSpPr/>
          <p:nvPr/>
        </p:nvSpPr>
        <p:spPr>
          <a:xfrm>
            <a:off x="1047750" y="200025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036320" y="2188845"/>
            <a:ext cx="11960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低端段（19-59元）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7272" y="2406491"/>
            <a:ext cx="17198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名创优品/酷乐潮玩/九木杂物社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7272" y="2596991"/>
            <a:ext cx="12258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价格低但内容深度极浅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7272" y="2768441"/>
            <a:ext cx="15873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无角色世界观，纯装饰品逻辑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6320" y="3141345"/>
            <a:ext cx="14444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中高端段（99-299元）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7272" y="3358991"/>
            <a:ext cx="16596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泡泡玛特/52TOYS/寻找独角兽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7272" y="3549491"/>
            <a:ext cx="14126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有内容但不深，品牌&gt;角色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7272" y="3720941"/>
            <a:ext cx="12198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用户买IP而非交"朋友"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6320" y="4093845"/>
            <a:ext cx="13478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高端段（150-500元）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7272" y="4311491"/>
            <a:ext cx="12921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独立艺术家/设计师限量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7272" y="4501991"/>
            <a:ext cx="13463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内容深度高但价格门槛高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7272" y="4673441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产能低，无法规模化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047750" y="5048250"/>
            <a:ext cx="2667000" cy="342900"/>
          </a:xfrm>
          <a:prstGeom prst="rect">
            <a:avLst/>
          </a:prstGeom>
          <a:solidFill>
            <a:srgbClr val="8B9D8B">
              <a:alpha val="15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714723" y="5162074"/>
            <a:ext cx="13330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59-79元：空白甜区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8225" y="5538788"/>
            <a:ext cx="150328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数据来源：京东/天猫潮玩品类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38225" y="5710238"/>
            <a:ext cx="11582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价格分布统计 [待验证]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476750" y="1143000"/>
            <a:ext cx="3238500" cy="4953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4476750" y="1143000"/>
            <a:ext cx="323850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315950" y="1393508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内容深度空白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293304" y="1704499"/>
            <a:ext cx="16053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没有人让角色"自己说话"</a:t>
            </a:r>
          </a:p>
        </p:txBody>
      </p:sp>
      <p:sp>
        <p:nvSpPr>
          <p:cNvPr id="31" name="Line 31"/>
          <p:cNvSpPr/>
          <p:nvPr/>
        </p:nvSpPr>
        <p:spPr>
          <a:xfrm>
            <a:off x="4762500" y="200025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752022" y="2196941"/>
            <a:ext cx="12258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现有潮玩的内容策略：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752022" y="2435066"/>
            <a:ext cx="19608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■ 官微/小红书 = 新品发布+活动公告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752022" y="2673191"/>
            <a:ext cx="16536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■ 内容形式 = 开箱视频+展示图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752022" y="2911316"/>
            <a:ext cx="15813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■ 角色在品牌内容中"不说话"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752022" y="3339941"/>
            <a:ext cx="12258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岛屿来信的内容模式：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752022" y="3578066"/>
            <a:ext cx="15692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■ 角色有自己的社交媒体人格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752022" y="3816191"/>
            <a:ext cx="19006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■ 每日发布"雾人日报"/"刺刺手记"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752022" y="4054316"/>
            <a:ext cx="17018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■ 角色之间互动、有"邻里关系"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752022" y="4292441"/>
            <a:ext cx="13403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■ 用户可以与角色"对话"</a:t>
            </a:r>
          </a:p>
        </p:txBody>
      </p:sp>
      <p:sp>
        <p:nvSpPr>
          <p:cNvPr id="41" name="Rectangle 41"/>
          <p:cNvSpPr/>
          <p:nvPr/>
        </p:nvSpPr>
        <p:spPr>
          <a:xfrm>
            <a:off x="4762500" y="4667250"/>
            <a:ext cx="2667000" cy="342900"/>
          </a:xfrm>
          <a:prstGeom prst="rect">
            <a:avLst/>
          </a:prstGeom>
          <a:solidFill>
            <a:srgbClr val="8B9D8B">
              <a:alpha val="15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4954751" y="4781074"/>
            <a:ext cx="22824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角色的"内容自主权"是差异化核心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752022" y="5149691"/>
            <a:ext cx="22922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案例参照：Line Friends的角色内容矩阵，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752022" y="5359241"/>
            <a:ext cx="15331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每个角色有独立人设+内容线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752022" y="5568791"/>
            <a:ext cx="21295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但Line Friends走"可爱+商业化"路线，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752022" y="5778341"/>
            <a:ext cx="23343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岛屿来信走"情绪+陪伴"路线→情感深度更高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191500" y="1143000"/>
            <a:ext cx="3429000" cy="4953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8191500" y="1143000"/>
            <a:ext cx="3429000" cy="38100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999434" y="1393508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情绪世界观空白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889706" y="1704499"/>
            <a:ext cx="20325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没有一个世界是"为情绪而建"的</a:t>
            </a:r>
          </a:p>
        </p:txBody>
      </p:sp>
      <p:sp>
        <p:nvSpPr>
          <p:cNvPr id="51" name="Line 51"/>
          <p:cNvSpPr/>
          <p:nvPr/>
        </p:nvSpPr>
        <p:spPr>
          <a:xfrm>
            <a:off x="8477250" y="20002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8466772" y="2196941"/>
            <a:ext cx="13463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现有潮玩世界观的类型：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466772" y="2435066"/>
            <a:ext cx="13945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■ 奇幻/科幻（泡泡玛特）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466772" y="2673191"/>
            <a:ext cx="13343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■ 机甲/动物（52TOYS）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466772" y="2911316"/>
            <a:ext cx="15692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■ 艺术家美学（寻找独角兽）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466772" y="33399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岛屿来信的差异：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466772" y="3606641"/>
            <a:ext cx="15993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A4B5"/>
                </a:solidFill>
                <a:latin typeface="Arial"/>
                <a:ea typeface="Microsoft YaHei"/>
                <a:cs typeface="Arial"/>
              </a:rPr>
              <a:t>世界不是建在外太空或森林——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466772" y="3873341"/>
            <a:ext cx="17198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A4B5"/>
                </a:solidFill>
                <a:latin typeface="Arial"/>
                <a:ea typeface="Microsoft YaHei"/>
                <a:cs typeface="Arial"/>
              </a:rPr>
              <a:t>世界建在"用户自己的情绪里"。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466772" y="4197191"/>
            <a:ext cx="11294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雾人不是"外星人"——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466772" y="4435316"/>
            <a:ext cx="1840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它是"你今天早上醒来时的形状"。</a:t>
            </a:r>
          </a:p>
        </p:txBody>
      </p:sp>
      <p:sp>
        <p:nvSpPr>
          <p:cNvPr id="61" name="Rectangle 61"/>
          <p:cNvSpPr/>
          <p:nvPr/>
        </p:nvSpPr>
        <p:spPr>
          <a:xfrm>
            <a:off x="8477250" y="4762500"/>
            <a:ext cx="2857500" cy="342900"/>
          </a:xfrm>
          <a:prstGeom prst="rect">
            <a:avLst/>
          </a:prstGeom>
          <a:solidFill>
            <a:srgbClr val="8B9D8B">
              <a:alpha val="15000"/>
            </a:srgbClr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8910532" y="4876324"/>
            <a:ext cx="19909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情绪世界观 = 用户自己的故事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466772" y="5244941"/>
            <a:ext cx="18222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不是"创造一个IP世界让用户进来"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466772" y="5454491"/>
            <a:ext cx="14246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是"用户已经在情绪里了——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466772" y="5664041"/>
            <a:ext cx="16536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我们只是把情绪翻译成角色"。</a:t>
            </a:r>
          </a:p>
        </p:txBody>
      </p:sp>
      <p:sp>
        <p:nvSpPr>
          <p:cNvPr id="66" name="Rectangle 66"/>
          <p:cNvSpPr/>
          <p:nvPr/>
        </p:nvSpPr>
        <p:spPr>
          <a:xfrm>
            <a:off x="571500" y="6238875"/>
            <a:ext cx="11049000" cy="1905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4594774" y="6347460"/>
            <a:ext cx="30024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三重空白的交集 = 岛屿来信的生态位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705416" y="6570345"/>
            <a:ext cx="47811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59-79元 × 完整角色内容体系 × 以用户情绪为地基的世界观 = 一个全新的品类位置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485007" y="6681788"/>
            <a:ext cx="14501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89170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用户画像 A：小夏 —— 凌晨3点醒来的产品设计师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6573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凌晨3点，手机屏幕是亮的——不是刷社交媒体，是不知道看什么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971550"/>
            <a:ext cx="3810000" cy="5334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971550"/>
            <a:ext cx="381000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84860" y="1122998"/>
            <a:ext cx="64760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小夏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7242" y="1466374"/>
            <a:ext cx="19542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27岁 · 女 · 上海 · 产品设计师</a:t>
            </a:r>
          </a:p>
        </p:txBody>
      </p:sp>
      <p:sp>
        <p:nvSpPr>
          <p:cNvPr id="10" name="Line 10"/>
          <p:cNvSpPr/>
          <p:nvPr/>
        </p:nvSpPr>
        <p:spPr>
          <a:xfrm>
            <a:off x="809625" y="1733550"/>
            <a:ext cx="3333750" cy="9525"/>
          </a:xfrm>
          <a:custGeom>
            <a:avLst/>
            <a:gdLst/>
            <a:ahLst/>
            <a:cxnLst/>
            <a:rect l="l" t="t" r="r" b="b"/>
            <a:pathLst>
              <a:path w="3333750" h="9525">
                <a:moveTo>
                  <a:pt x="0" y="0"/>
                </a:moveTo>
                <a:lnTo>
                  <a:pt x="333375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98195" y="190309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基础画像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9148" y="2120741"/>
            <a:ext cx="19608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单身独居，租住在一间40平米的公寓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9148" y="2311241"/>
            <a:ext cx="140660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月入18K，每月可支配约5K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9148" y="2501741"/>
            <a:ext cx="23163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典型的一天：9点上班→22点下班→凌晨1点睡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9148" y="2692241"/>
            <a:ext cx="17861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手机屏幕使用时间：日均7.2小时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8195" y="304609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消费行为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9148" y="3263741"/>
            <a:ext cx="21536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潮玩月均消费：80-150元（2-3个盲盒）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9148" y="3454241"/>
            <a:ext cx="14668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买过泡泡玛特、寻找独角兽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9148" y="3644741"/>
            <a:ext cx="15813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也会买香薰蜡烛（150元/个）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9148" y="3835241"/>
            <a:ext cx="20150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主要购买渠道：小红书种草→天猫下单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8195" y="418909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情绪痛点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9148" y="4406741"/>
            <a:ext cx="25753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工作上"被需求推着走"，很少有"为自己"的时刻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9148" y="4597241"/>
            <a:ext cx="18945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经常凌晨3点醒来，焦虑明天的评审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9148" y="4787741"/>
            <a:ext cx="17078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有表达的欲望但没有表达的出口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8195" y="514159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消费动机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9148" y="5359241"/>
            <a:ext cx="258741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买的不只是"好看的东西"——买的是"这东西懂我"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9148" y="5549741"/>
            <a:ext cx="30392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会为一个角色"人设"买单：如果角色也"社恐"→ 立刻共鸣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9148" y="5768816"/>
            <a:ext cx="1840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桌上需要一个"不用说话的陪伴者"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572000" y="971550"/>
            <a:ext cx="7048500" cy="2476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842510" y="1127760"/>
            <a:ext cx="16314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凌晨3点 · 情绪场景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846320" y="1426845"/>
            <a:ext cx="24020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她的一天中，唯一"真正属于自己"的时间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846320" y="1712595"/>
            <a:ext cx="67528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小夏凌晨3点醒来。她拿起手机，刷了一遍朋友圈——看完更空虚。打开抖音，看几个视频，关掉。微信读书翻了3页，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846320" y="1922145"/>
            <a:ext cx="37164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又退出。她不知道该看什么——不是没内容，是没人在对她说话。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846320" y="2188845"/>
            <a:ext cx="57012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她看了一眼桌上的盲盒——"挺可爱的"。但可爱之后呢？角色静静地站在那里，和她之间没有对话。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846320" y="2455545"/>
            <a:ext cx="48534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如果有人能在凌晨3点给她发一封信——"我看到你今天又醒了。没关系，我也醒着。"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844415" y="2706052"/>
            <a:ext cx="39754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她买的不是一个手办——是一个"也在凌晨3点醒着"的角色。</a:t>
            </a:r>
          </a:p>
        </p:txBody>
      </p:sp>
      <p:sp>
        <p:nvSpPr>
          <p:cNvPr id="37" name="Rectangle 37"/>
          <p:cNvSpPr/>
          <p:nvPr/>
        </p:nvSpPr>
        <p:spPr>
          <a:xfrm>
            <a:off x="4572000" y="3619500"/>
            <a:ext cx="7048500" cy="1238250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4842510" y="37757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品牌机会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846320" y="4093845"/>
            <a:ext cx="38216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1. 雾人是小夏的"灵魂角色"——她会在雾人身上看到自己的凌晨3点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846320" y="4303395"/>
            <a:ext cx="42619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2. 凌晨3点的"雾人日报"推送——"今天的雾人形状：散开的。你也是吗？"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846320" y="4512945"/>
            <a:ext cx="47023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3. 产品+内容联动：每只雾人附带一封手写信，信的内容=角色在凌晨写的"独白"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847272" y="4730591"/>
            <a:ext cx="426827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→ 核心需求：不是"放松"，是"被理解"。不是"解决问题"，是"我知道你在那"。</a:t>
            </a:r>
          </a:p>
        </p:txBody>
      </p:sp>
      <p:sp>
        <p:nvSpPr>
          <p:cNvPr id="43" name="Rectangle 43"/>
          <p:cNvSpPr/>
          <p:nvPr/>
        </p:nvSpPr>
        <p:spPr>
          <a:xfrm>
            <a:off x="4572000" y="5048250"/>
            <a:ext cx="219075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286461" y="5088255"/>
            <a:ext cx="76182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7.2h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295424" y="543544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日均手机使用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268992" y="5614988"/>
            <a:ext cx="79676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"连接但未联结"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858000" y="5048250"/>
            <a:ext cx="219075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7540257" y="5088255"/>
            <a:ext cx="82623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150元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581424" y="543544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月均潮玩消费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500223" y="5614988"/>
            <a:ext cx="9063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69元产品在预算内</a:t>
            </a:r>
          </a:p>
        </p:txBody>
      </p:sp>
      <p:sp>
        <p:nvSpPr>
          <p:cNvPr id="51" name="Rectangle 51"/>
          <p:cNvSpPr/>
          <p:nvPr/>
        </p:nvSpPr>
        <p:spPr>
          <a:xfrm>
            <a:off x="9144000" y="5048250"/>
            <a:ext cx="247650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9783959" y="5088255"/>
            <a:ext cx="119658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7BA4B5"/>
                </a:solidFill>
                <a:latin typeface="Arial"/>
                <a:ea typeface="Microsoft YaHei"/>
                <a:cs typeface="Arial"/>
              </a:rPr>
              <a:t>凌晨3点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010299" y="543544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高频独处时刻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934575" y="5614988"/>
            <a:ext cx="8953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品牌接触黄金窗口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457622" y="6681788"/>
            <a:ext cx="1724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55816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用户画像 B：阿哲 —— "精神离职"的大厂运营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23297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下午3点，坐在工位上，精神已经下班了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971550"/>
            <a:ext cx="3810000" cy="5334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971550"/>
            <a:ext cx="381000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84860" y="1122998"/>
            <a:ext cx="64760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阿哲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7242" y="1466374"/>
            <a:ext cx="20966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29岁 · 男 · 杭州 · 大厂内容运营</a:t>
            </a:r>
          </a:p>
        </p:txBody>
      </p:sp>
      <p:sp>
        <p:nvSpPr>
          <p:cNvPr id="10" name="Line 10"/>
          <p:cNvSpPr/>
          <p:nvPr/>
        </p:nvSpPr>
        <p:spPr>
          <a:xfrm>
            <a:off x="809625" y="1733550"/>
            <a:ext cx="3333750" cy="9525"/>
          </a:xfrm>
          <a:custGeom>
            <a:avLst/>
            <a:gdLst/>
            <a:ahLst/>
            <a:cxnLst/>
            <a:rect l="l" t="t" r="r" b="b"/>
            <a:pathLst>
              <a:path w="3333750" h="9525">
                <a:moveTo>
                  <a:pt x="0" y="0"/>
                </a:moveTo>
                <a:lnTo>
                  <a:pt x="333375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98195" y="190309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基础画像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9148" y="2120741"/>
            <a:ext cx="17078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合租，室友是另一个大厂程序员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9148" y="2311241"/>
            <a:ext cx="14367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月入22K，每月可支配约6K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9148" y="2501741"/>
            <a:ext cx="209340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"精神离职"状态——人在工位，心在别处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9148" y="2692241"/>
            <a:ext cx="17198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写日报时发现"今天什么都没做"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8195" y="304609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消费行为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9148" y="3263741"/>
            <a:ext cx="14186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潮玩月均消费：100-200元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9148" y="3454241"/>
            <a:ext cx="22379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买过52TOYS BEASTBOX系列（机甲变形）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9148" y="3644741"/>
            <a:ext cx="19608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也会买Steam游戏（100-200元/月）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9148" y="3835241"/>
            <a:ext cx="17018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B站忠实用户，日均使用1.5小时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8195" y="418909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情绪痛点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9148" y="4406741"/>
            <a:ext cx="24548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工作失去了意义感——"每天做一样的运营动作"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9148" y="4597241"/>
            <a:ext cx="23102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以前会兴奋地拆盲盒，现在拆完就放回盒子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9148" y="4787741"/>
            <a:ext cx="28163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需要"有内容可以follow"的角色——而不是另一个摆件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8195" y="514159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消费动机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9148" y="5359241"/>
            <a:ext cx="24669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如果"刺刺"每天发一条"刺刺手记"——他会关注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9148" y="5549741"/>
            <a:ext cx="28705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为"角色性格"买单：刺刺的外硬内软=阿哲的职场状态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9148" y="5740241"/>
            <a:ext cx="24428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需要一个"在工位上陪他一起精神离职"的存在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572000" y="971550"/>
            <a:ext cx="7048500" cy="2476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842510" y="1127760"/>
            <a:ext cx="210073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下午3点 · 退坑→回归路径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846320" y="1426845"/>
            <a:ext cx="26911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他不是"不喜欢潮玩了"——是"和品牌没话说了"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846320" y="1712595"/>
            <a:ext cx="61219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阿哲的工位上有3个盲盒——拆开那天拍过照，再也没碰过。下午3点，他刷到品牌公众号推送"新品上市"——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846320" y="1922145"/>
            <a:ext cx="6167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滑过去了。但如果推送的是"刺刺手记 Day 47：今天又被同事说'你好像不太好接近'——（刺竖起来了）"——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846320" y="2131695"/>
            <a:ext cx="19945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他会停下来。他会截图发给室友。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846320" y="2398395"/>
            <a:ext cx="58918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他接下来会翻历史内容，发现自己好像错过了很多——刺刺上周说"外表的刺不是用来扎别人的，是用来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846320" y="2607945"/>
            <a:ext cx="32629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提醒自己'你不需要让每个人都喜欢你'的"。他下单了。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844415" y="2934652"/>
            <a:ext cx="35997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退坑不是"不喜欢了"——是"角色不说话，我就走了"。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572000" y="3619500"/>
            <a:ext cx="7048500" cy="1238250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4842510" y="37757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品牌机会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846320" y="4093845"/>
            <a:ext cx="44919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1. 刺刺是阿哲的"工位伙伴"——每天一条"刺刺手记"成为他下午3点的精神寄托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846320" y="4303395"/>
            <a:ext cx="47023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2. "角色持续说话"是留存的核心机制——不是产品复购，是内容粘性驱动产品复购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846320" y="4512945"/>
            <a:ext cx="43211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3. 刺刺的"硬壳软心"人格让阿哲觉得"这说的不就是我吗"——产生身份认同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847272" y="4730591"/>
            <a:ext cx="499121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→ 核心需求：不是"新东西"，是"会持续更新内容的角色"，是"每天在工位上有一个'同事'"。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572000" y="5048250"/>
            <a:ext cx="219075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326716" y="5088255"/>
            <a:ext cx="68131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1.5h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322534" y="5435441"/>
            <a:ext cx="6896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日均B站使用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219700" y="5614988"/>
            <a:ext cx="8953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内容消费深度用户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858000" y="5048250"/>
            <a:ext cx="219075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7677124" y="5088255"/>
            <a:ext cx="55250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3个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701915" y="54354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工位盲盒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396162" y="5614988"/>
            <a:ext cx="11144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拆完即弃，无内容连接</a:t>
            </a:r>
          </a:p>
        </p:txBody>
      </p:sp>
      <p:sp>
        <p:nvSpPr>
          <p:cNvPr id="52" name="Rectangle 52"/>
          <p:cNvSpPr/>
          <p:nvPr/>
        </p:nvSpPr>
        <p:spPr>
          <a:xfrm>
            <a:off x="9144000" y="5048250"/>
            <a:ext cx="247650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9783959" y="5088255"/>
            <a:ext cx="119658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7BA4B5"/>
                </a:solidFill>
                <a:latin typeface="Arial"/>
                <a:ea typeface="Microsoft YaHei"/>
                <a:cs typeface="Arial"/>
              </a:rPr>
              <a:t>下午3点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010299" y="543544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精神离职高峰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825038" y="5614988"/>
            <a:ext cx="11144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角色内容推送黄金时间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457622" y="6681788"/>
            <a:ext cx="1724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53516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用户画像 C：小念 —— 寻找情绪出口的大学生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0198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晚上11点，宿舍熄灯了——朋友圈刷完了，但"还不够"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971550"/>
            <a:ext cx="3810000" cy="5334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971550"/>
            <a:ext cx="381000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84860" y="1122998"/>
            <a:ext cx="64760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小念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7242" y="1466374"/>
            <a:ext cx="25452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20岁 · 女 · 广州 · 大三 · 数字媒体专业</a:t>
            </a:r>
          </a:p>
        </p:txBody>
      </p:sp>
      <p:sp>
        <p:nvSpPr>
          <p:cNvPr id="10" name="Line 10"/>
          <p:cNvSpPr/>
          <p:nvPr/>
        </p:nvSpPr>
        <p:spPr>
          <a:xfrm>
            <a:off x="809625" y="1733550"/>
            <a:ext cx="3333750" cy="9525"/>
          </a:xfrm>
          <a:custGeom>
            <a:avLst/>
            <a:gdLst/>
            <a:ahLst/>
            <a:cxnLst/>
            <a:rect l="l" t="t" r="r" b="b"/>
            <a:pathLst>
              <a:path w="3333750" h="9525">
                <a:moveTo>
                  <a:pt x="0" y="0"/>
                </a:moveTo>
                <a:lnTo>
                  <a:pt x="333375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98195" y="190309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基础画像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9148" y="2120741"/>
            <a:ext cx="25633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四人间宿舍，和室友关系不错但"不太会聊心事"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9148" y="2311241"/>
            <a:ext cx="20512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月生活费2000元，可自由支配约500元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9148" y="2501741"/>
            <a:ext cx="16897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小红书重度用户，日均刷1小时+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9148" y="2692241"/>
            <a:ext cx="22259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对"情绪""心理""自我探索"话题天然亲近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8195" y="304609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消费行为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9148" y="3263741"/>
            <a:ext cx="195484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潮玩月均消费：50-100元（偶尔买）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9148" y="3454241"/>
            <a:ext cx="1840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更多买手账/贴纸/独立插画师周边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9148" y="3644741"/>
            <a:ext cx="15572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会为"有故事"的产品多付30%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9148" y="3835241"/>
            <a:ext cx="15331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主要购买渠道：淘宝+小红书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8195" y="418909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情绪痛点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9148" y="4406741"/>
            <a:ext cx="257536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对未来迷茫——"不知道自己喜欢什么、适合什么"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9148" y="4597241"/>
            <a:ext cx="28163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社交媒体的内容"太多太吵"，缺少"能安静看的东西"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9148" y="4787741"/>
            <a:ext cx="26958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渴望"被认真地对待"——包括被一个角色认真地对待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8195" y="514159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消费动机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9148" y="5359241"/>
            <a:ext cx="26958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最好的朋友过生日——想送"一个会替他说话的角色"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9148" y="5549741"/>
            <a:ext cx="25753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被内容打动→被角色"圈粉"→为内容中的角色买单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9148" y="5740241"/>
            <a:ext cx="22018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在宿舍桌面放一个"安静但有故事"的角色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572000" y="971550"/>
            <a:ext cx="7048500" cy="2476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842510" y="1127760"/>
            <a:ext cx="16406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晚上11点 · 情绪场景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846320" y="1426845"/>
            <a:ext cx="33352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宿舍熄灯了。朋友圈刷了三遍——大家的生活都"挺好"的。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846320" y="1712595"/>
            <a:ext cx="57867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小念在黑暗中刷到一篇小红书帖子——一只叫"空罐"的角色在说："今天的状态：3%。不是没电了，是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846320" y="1922145"/>
            <a:ext cx="57735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本来就只有3%。这个3%刚好够：把今天的作业写完、把明天要交的东西准备好、对自己说一句'今天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846320" y="2131695"/>
            <a:ext cx="14950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也辛苦了'。3%就够了。"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846320" y="2417445"/>
            <a:ext cx="46497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小念愣住了——"这说的不就是我吗？"她截了图，发了一条仅自己可见的朋友圈。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844415" y="2706052"/>
            <a:ext cx="25416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她看了一眼淘宝：空罐 69元。下单。</a:t>
            </a:r>
          </a:p>
        </p:txBody>
      </p:sp>
      <p:sp>
        <p:nvSpPr>
          <p:cNvPr id="37" name="Rectangle 37"/>
          <p:cNvSpPr/>
          <p:nvPr/>
        </p:nvSpPr>
        <p:spPr>
          <a:xfrm>
            <a:off x="4572000" y="3619500"/>
            <a:ext cx="7048500" cy="1238250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4842510" y="37757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品牌机会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846320" y="4093845"/>
            <a:ext cx="43013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1. 空罐是小念的"灵魂角色"——它在说小念说不出口的话："我今天只有3%"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846320" y="4303395"/>
            <a:ext cx="43079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2. 小红书是核心内容渠道——角色日常内容在用户"刷不够"的时候恰好出现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846320" y="4512945"/>
            <a:ext cx="44854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3. 礼物场景：空罐+一封信 = "我懂你此刻只有3%，但我想把剩下的97%给你"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847272" y="4730591"/>
            <a:ext cx="39911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→ 核心需求：不仅是一个产品，是一个能帮她说出"我今天不太好"的角色。</a:t>
            </a:r>
          </a:p>
        </p:txBody>
      </p:sp>
      <p:sp>
        <p:nvSpPr>
          <p:cNvPr id="43" name="Rectangle 43"/>
          <p:cNvSpPr/>
          <p:nvPr/>
        </p:nvSpPr>
        <p:spPr>
          <a:xfrm>
            <a:off x="4572000" y="5048250"/>
            <a:ext cx="219075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214002" y="5088255"/>
            <a:ext cx="90674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500元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295424" y="543544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月可支配金额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301853" y="5614988"/>
            <a:ext cx="7310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69元占比约14%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858000" y="5048250"/>
            <a:ext cx="219075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7701277" y="5088255"/>
            <a:ext cx="50419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1h+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641669" y="543544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日均小红书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560469" y="5614988"/>
            <a:ext cx="7858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核心内容接触点</a:t>
            </a:r>
          </a:p>
        </p:txBody>
      </p:sp>
      <p:sp>
        <p:nvSpPr>
          <p:cNvPr id="51" name="Rectangle 51"/>
          <p:cNvSpPr/>
          <p:nvPr/>
        </p:nvSpPr>
        <p:spPr>
          <a:xfrm>
            <a:off x="9144000" y="5048250"/>
            <a:ext cx="247650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10001336" y="5088255"/>
            <a:ext cx="76182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7BA4B5"/>
                </a:solidFill>
                <a:latin typeface="Arial"/>
                <a:ea typeface="Microsoft YaHei"/>
                <a:cs typeface="Arial"/>
              </a:rPr>
              <a:t>+30%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004274" y="5435441"/>
            <a:ext cx="7559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为"故事"溢价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044112" y="5614988"/>
            <a:ext cx="6762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内容驱动消费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457622" y="6681788"/>
            <a:ext cx="1724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524825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用户画像 D：大刘 —— 需要"有意义的礼物"的送礼者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2940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女朋友生日前一周——选什么礼物才能说"我懂你"？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971550"/>
            <a:ext cx="3810000" cy="5334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971550"/>
            <a:ext cx="381000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84860" y="1122998"/>
            <a:ext cx="64760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大刘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7242" y="1466374"/>
            <a:ext cx="22034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31岁 · 男 · 北京 · 互联网产品经理</a:t>
            </a:r>
          </a:p>
        </p:txBody>
      </p:sp>
      <p:sp>
        <p:nvSpPr>
          <p:cNvPr id="10" name="Line 10"/>
          <p:cNvSpPr/>
          <p:nvPr/>
        </p:nvSpPr>
        <p:spPr>
          <a:xfrm>
            <a:off x="809625" y="1733550"/>
            <a:ext cx="3333750" cy="9525"/>
          </a:xfrm>
          <a:custGeom>
            <a:avLst/>
            <a:gdLst/>
            <a:ahLst/>
            <a:cxnLst/>
            <a:rect l="l" t="t" r="r" b="b"/>
            <a:pathLst>
              <a:path w="3333750" h="9525">
                <a:moveTo>
                  <a:pt x="0" y="0"/>
                </a:moveTo>
                <a:lnTo>
                  <a:pt x="333375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98195" y="190309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基础画像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9148" y="2120741"/>
            <a:ext cx="14487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和女朋友交往2年，同居1年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9148" y="2311241"/>
            <a:ext cx="18343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月入35K，送礼预算200-500元/次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9148" y="2501741"/>
            <a:ext cx="22018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不买潮玩，但愿意为"有意义的礼物"花钱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9148" y="2692241"/>
            <a:ext cx="26958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每次送礼前都会焦虑——"她会不会觉得我不懂她？"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8195" y="304609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消费行为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9148" y="3263741"/>
            <a:ext cx="18584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送礼偏好：花束（150元）+ 小饰品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9148" y="3454241"/>
            <a:ext cx="19608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但总觉得花"三天就谢了"，不够持久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9148" y="3644741"/>
            <a:ext cx="21476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在抖音/小红书搜"女朋友生日礼物推荐"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9148" y="3835241"/>
            <a:ext cx="13584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会被"有故事"的礼物打动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8195" y="418909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送礼痛点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9148" y="4406741"/>
            <a:ext cx="22259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花会谢 / 香水太个人化 / 首饰怕选错款式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9148" y="4597241"/>
            <a:ext cx="15993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需要"能帮我传达心意"的礼物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9148" y="4787741"/>
            <a:ext cx="17198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"她自己不会买但它懂她"的东西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8195" y="514159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消费动机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9148" y="5359241"/>
            <a:ext cx="27139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暖光 = 送礼首选——"像你一样，在我暗的时候亮着"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9148" y="5549741"/>
            <a:ext cx="24548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角色+信="这封信说出了我想说但不会说的话"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9148" y="5740241"/>
            <a:ext cx="22259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69元+礼品包装=总价可控，"心意"不打折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572000" y="971550"/>
            <a:ext cx="7048500" cy="2476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842510" y="1127760"/>
            <a:ext cx="18983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生日前一周 · 送礼场景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846320" y="1426845"/>
            <a:ext cx="55698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大刘在小红书刷到了一条帖子——暖光的小夜灯造型，配文："我是暖光。我不说话，但我亮着。"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846320" y="1712595"/>
            <a:ext cx="55566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他想起女朋友上周加班到凌晨两点，回家后一个人坐在沙发上发呆的样子。这条推送触动了他——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846320" y="1922145"/>
            <a:ext cx="33352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"她工作压力大的时候，如果有人能替我在她桌上亮着……"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846320" y="2207895"/>
            <a:ext cx="45708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他点进去——"礼物套装：暖光角色×1 + 手写信封装×1 + 礼品包装 99元"。下单。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846320" y="2493645"/>
            <a:ext cx="48994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信里他写："这个角色不会说话，但它会亮着。我加班不在的时候，让它替我陪你。"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844415" y="2744152"/>
            <a:ext cx="40445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他买的不是一个礼物——是一个"替我在你桌上亮着"的承诺。</a:t>
            </a:r>
          </a:p>
        </p:txBody>
      </p:sp>
      <p:sp>
        <p:nvSpPr>
          <p:cNvPr id="37" name="Rectangle 37"/>
          <p:cNvSpPr/>
          <p:nvPr/>
        </p:nvSpPr>
        <p:spPr>
          <a:xfrm>
            <a:off x="4572000" y="3619500"/>
            <a:ext cx="7048500" cy="1238250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4842510" y="37757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品牌机会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846320" y="4093845"/>
            <a:ext cx="35258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1. 礼品场景是增长杠杆——Jellycat 30%+销售额来自礼品市场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846320" y="4303395"/>
            <a:ext cx="49323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2. "角色+手写信"的产品组合天然适配礼品场景——"信"让角色变成"替你说话的工具"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846320" y="4512945"/>
            <a:ext cx="40319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3. 礼品场景扩展用户群：不买潮玩的人，也会为"有意义的礼物"买单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847272" y="4730591"/>
            <a:ext cx="388270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→ 核心需求：一个"比我更会说"的礼物。"我不用说话，角色替我说了。"</a:t>
            </a:r>
          </a:p>
        </p:txBody>
      </p:sp>
      <p:sp>
        <p:nvSpPr>
          <p:cNvPr id="43" name="Rectangle 43"/>
          <p:cNvSpPr/>
          <p:nvPr/>
        </p:nvSpPr>
        <p:spPr>
          <a:xfrm>
            <a:off x="4572000" y="5048250"/>
            <a:ext cx="219075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214002" y="5088255"/>
            <a:ext cx="90674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500元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295424" y="543544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单次送礼预算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178623" y="5614988"/>
            <a:ext cx="97750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99元礼盒占比仅20%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858000" y="5048250"/>
            <a:ext cx="219075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7572461" y="5088255"/>
            <a:ext cx="76182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30%+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466957" y="5435441"/>
            <a:ext cx="9728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Jellycat礼品占比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615238" y="5614988"/>
            <a:ext cx="6762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礼品场景验证</a:t>
            </a:r>
          </a:p>
        </p:txBody>
      </p:sp>
      <p:sp>
        <p:nvSpPr>
          <p:cNvPr id="51" name="Rectangle 51"/>
          <p:cNvSpPr/>
          <p:nvPr/>
        </p:nvSpPr>
        <p:spPr>
          <a:xfrm>
            <a:off x="9144000" y="5048250"/>
            <a:ext cx="247650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9550479" y="5088255"/>
            <a:ext cx="16635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7BA4B5"/>
                </a:solidFill>
                <a:latin typeface="Arial"/>
                <a:ea typeface="Microsoft YaHei"/>
                <a:cs typeface="Arial"/>
              </a:rPr>
              <a:t>非潮玩用户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070544" y="543544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新客群扩展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013990" y="5614988"/>
            <a:ext cx="73652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礼品→自购转化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457622" y="6681788"/>
            <a:ext cx="1724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66700"/>
            <a:ext cx="329300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用户画像对比矩阵 × 跨画像洞察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50545"/>
            <a:ext cx="35850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四个人，四种痛——但都在深夜把手机放下后，对着天花板发呆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762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904875"/>
            <a:ext cx="952500" cy="2667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10757" y="996791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维度</a:t>
            </a:r>
          </a:p>
        </p:txBody>
      </p:sp>
      <p:sp>
        <p:nvSpPr>
          <p:cNvPr id="8" name="Rectangle 8"/>
          <p:cNvSpPr/>
          <p:nvPr/>
        </p:nvSpPr>
        <p:spPr>
          <a:xfrm>
            <a:off x="1524000" y="904875"/>
            <a:ext cx="2381250" cy="2667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134826" y="996791"/>
            <a:ext cx="115959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小夏（产品设计师）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905250" y="904875"/>
            <a:ext cx="2381250" cy="2667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579334" y="996791"/>
            <a:ext cx="10330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阿哲（大厂运营）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86500" y="904875"/>
            <a:ext cx="2381250" cy="2667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023842" y="996791"/>
            <a:ext cx="9065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小念（大学生）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667750" y="904875"/>
            <a:ext cx="2381250" cy="2667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405092" y="996791"/>
            <a:ext cx="9065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大刘（送礼者）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1190625"/>
            <a:ext cx="952500" cy="323850"/>
          </a:xfrm>
          <a:prstGeom prst="rect">
            <a:avLst/>
          </a:prstGeom>
          <a:solidFill>
            <a:srgbClr val="EDE8E0"/>
          </a:solidFill>
          <a:ln w="2858">
            <a:solidFill>
              <a:srgbClr val="D5D0C8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63155" y="1311116"/>
            <a:ext cx="5691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年龄/性别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524000" y="1190625"/>
            <a:ext cx="2381250" cy="323850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392918" y="1319212"/>
            <a:ext cx="64341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27岁 女 上海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905250" y="1190625"/>
            <a:ext cx="2381250" cy="323850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774168" y="1319212"/>
            <a:ext cx="64341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29岁 男 杭州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1190625"/>
            <a:ext cx="2381250" cy="323850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155418" y="1319212"/>
            <a:ext cx="64341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20岁 女 广州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667750" y="1190625"/>
            <a:ext cx="2381250" cy="323850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550360" y="1319212"/>
            <a:ext cx="61602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31岁 男 北京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1514475"/>
            <a:ext cx="952500" cy="323850"/>
          </a:xfrm>
          <a:prstGeom prst="rect">
            <a:avLst/>
          </a:prstGeom>
          <a:solidFill>
            <a:srgbClr val="EDE8E0"/>
          </a:solidFill>
          <a:ln w="2858">
            <a:solidFill>
              <a:srgbClr val="D5D0C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16781" y="1634966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职业</a:t>
            </a:r>
          </a:p>
        </p:txBody>
      </p:sp>
      <p:sp>
        <p:nvSpPr>
          <p:cNvPr id="28" name="Rectangle 28"/>
          <p:cNvSpPr/>
          <p:nvPr/>
        </p:nvSpPr>
        <p:spPr>
          <a:xfrm>
            <a:off x="1524000" y="1514475"/>
            <a:ext cx="2381250" cy="323850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2431256" y="1643062"/>
            <a:ext cx="56673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产品设计师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905250" y="1514475"/>
            <a:ext cx="2381250" cy="323850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867275" y="1643062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内容运营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286500" y="1514475"/>
            <a:ext cx="2381250" cy="323850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919912" y="1643062"/>
            <a:ext cx="11144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大三学生（数字媒体）</a:t>
            </a:r>
          </a:p>
        </p:txBody>
      </p:sp>
      <p:sp>
        <p:nvSpPr>
          <p:cNvPr id="34" name="Rectangle 34"/>
          <p:cNvSpPr/>
          <p:nvPr/>
        </p:nvSpPr>
        <p:spPr>
          <a:xfrm>
            <a:off x="8667750" y="1514475"/>
            <a:ext cx="2381250" cy="323850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9465469" y="1643062"/>
            <a:ext cx="7858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互联网产品经理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1838325"/>
            <a:ext cx="952500" cy="485775"/>
          </a:xfrm>
          <a:prstGeom prst="rect">
            <a:avLst/>
          </a:prstGeom>
          <a:solidFill>
            <a:srgbClr val="EDE8E0"/>
          </a:solidFill>
          <a:ln w="2858">
            <a:solidFill>
              <a:srgbClr val="D5D0C8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796290" y="20350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核心情绪</a:t>
            </a:r>
          </a:p>
        </p:txBody>
      </p:sp>
      <p:sp>
        <p:nvSpPr>
          <p:cNvPr id="38" name="Rectangle 38"/>
          <p:cNvSpPr/>
          <p:nvPr/>
        </p:nvSpPr>
        <p:spPr>
          <a:xfrm>
            <a:off x="1524000" y="1838325"/>
            <a:ext cx="2381250" cy="485775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2316242" y="1966912"/>
            <a:ext cx="79676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"说不清"的空虚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405372" y="2146459"/>
            <a:ext cx="61850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需要"被理解"</a:t>
            </a:r>
          </a:p>
        </p:txBody>
      </p:sp>
      <p:sp>
        <p:nvSpPr>
          <p:cNvPr id="41" name="Rectangle 41"/>
          <p:cNvSpPr/>
          <p:nvPr/>
        </p:nvSpPr>
        <p:spPr>
          <a:xfrm>
            <a:off x="3905250" y="1838325"/>
            <a:ext cx="2381250" cy="485775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4642723" y="1966912"/>
            <a:ext cx="9063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"精神离职"的倦怠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490871" y="2146459"/>
            <a:ext cx="121000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需要"有点什么可以follow"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286500" y="1838325"/>
            <a:ext cx="2381250" cy="485775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078742" y="1966912"/>
            <a:ext cx="79676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"不够"的空缺感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921413" y="2146459"/>
            <a:ext cx="111142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需要"有人可以安静地看"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667750" y="1838325"/>
            <a:ext cx="2381250" cy="485775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9459992" y="1966912"/>
            <a:ext cx="79676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"选不对"的焦虑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401246" y="2146459"/>
            <a:ext cx="91425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需要"替我表达心意"</a:t>
            </a:r>
          </a:p>
        </p:txBody>
      </p:sp>
      <p:sp>
        <p:nvSpPr>
          <p:cNvPr id="50" name="Rectangle 50"/>
          <p:cNvSpPr/>
          <p:nvPr/>
        </p:nvSpPr>
        <p:spPr>
          <a:xfrm>
            <a:off x="571500" y="2324100"/>
            <a:ext cx="952500" cy="323850"/>
          </a:xfrm>
          <a:prstGeom prst="rect">
            <a:avLst/>
          </a:prstGeom>
          <a:solidFill>
            <a:srgbClr val="EDE8E0"/>
          </a:solidFill>
          <a:ln w="2858">
            <a:solidFill>
              <a:srgbClr val="D5D0C8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736044" y="244459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潮玩月消费</a:t>
            </a:r>
          </a:p>
        </p:txBody>
      </p:sp>
      <p:sp>
        <p:nvSpPr>
          <p:cNvPr id="52" name="Rectangle 52"/>
          <p:cNvSpPr/>
          <p:nvPr/>
        </p:nvSpPr>
        <p:spPr>
          <a:xfrm>
            <a:off x="1524000" y="2324100"/>
            <a:ext cx="2381250" cy="323850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2483287" y="2452688"/>
            <a:ext cx="46267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80-150元</a:t>
            </a:r>
          </a:p>
        </p:txBody>
      </p:sp>
      <p:sp>
        <p:nvSpPr>
          <p:cNvPr id="54" name="Rectangle 54"/>
          <p:cNvSpPr/>
          <p:nvPr/>
        </p:nvSpPr>
        <p:spPr>
          <a:xfrm>
            <a:off x="3905250" y="2324100"/>
            <a:ext cx="2381250" cy="323850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4834414" y="2452688"/>
            <a:ext cx="52292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100-200元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286500" y="2324100"/>
            <a:ext cx="2381250" cy="323850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7245787" y="2452688"/>
            <a:ext cx="46267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50-100元</a:t>
            </a:r>
          </a:p>
        </p:txBody>
      </p:sp>
      <p:sp>
        <p:nvSpPr>
          <p:cNvPr id="58" name="Rectangle 58"/>
          <p:cNvSpPr/>
          <p:nvPr/>
        </p:nvSpPr>
        <p:spPr>
          <a:xfrm>
            <a:off x="8667750" y="2324100"/>
            <a:ext cx="2381250" cy="323850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9199840" y="2452688"/>
            <a:ext cx="13170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不买潮玩，送礼200-500元</a:t>
            </a:r>
          </a:p>
        </p:txBody>
      </p:sp>
      <p:sp>
        <p:nvSpPr>
          <p:cNvPr id="60" name="Rectangle 60"/>
          <p:cNvSpPr/>
          <p:nvPr/>
        </p:nvSpPr>
        <p:spPr>
          <a:xfrm>
            <a:off x="571500" y="2647950"/>
            <a:ext cx="952500" cy="323850"/>
          </a:xfrm>
          <a:prstGeom prst="rect">
            <a:avLst/>
          </a:prstGeom>
          <a:solidFill>
            <a:srgbClr val="EDE8E0"/>
          </a:solidFill>
          <a:ln w="2858">
            <a:solidFill>
              <a:srgbClr val="D5D0C8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796290" y="27684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灵魂角色</a:t>
            </a:r>
          </a:p>
        </p:txBody>
      </p:sp>
      <p:sp>
        <p:nvSpPr>
          <p:cNvPr id="62" name="Rectangle 62"/>
          <p:cNvSpPr/>
          <p:nvPr/>
        </p:nvSpPr>
        <p:spPr>
          <a:xfrm>
            <a:off x="1524000" y="2647950"/>
            <a:ext cx="2381250" cy="323850"/>
          </a:xfrm>
          <a:prstGeom prst="rect">
            <a:avLst/>
          </a:prstGeom>
          <a:solidFill>
            <a:srgbClr val="8B9D8B">
              <a:alpha val="10000"/>
            </a:srgbClr>
          </a:solidFill>
          <a:ln w="2858">
            <a:solidFill>
              <a:srgbClr val="D5D0C8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2590086" y="2776538"/>
            <a:ext cx="249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雾人</a:t>
            </a:r>
          </a:p>
        </p:txBody>
      </p:sp>
      <p:sp>
        <p:nvSpPr>
          <p:cNvPr id="64" name="Rectangle 64"/>
          <p:cNvSpPr/>
          <p:nvPr/>
        </p:nvSpPr>
        <p:spPr>
          <a:xfrm>
            <a:off x="3905250" y="2647950"/>
            <a:ext cx="2381250" cy="323850"/>
          </a:xfrm>
          <a:prstGeom prst="rect">
            <a:avLst/>
          </a:prstGeom>
          <a:solidFill>
            <a:srgbClr val="8B9D8B">
              <a:alpha val="10000"/>
            </a:srgbClr>
          </a:solidFill>
          <a:ln w="2858">
            <a:solidFill>
              <a:srgbClr val="D5D0C8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4971336" y="2776538"/>
            <a:ext cx="249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刺刺</a:t>
            </a:r>
          </a:p>
        </p:txBody>
      </p:sp>
      <p:sp>
        <p:nvSpPr>
          <p:cNvPr id="66" name="Rectangle 66"/>
          <p:cNvSpPr/>
          <p:nvPr/>
        </p:nvSpPr>
        <p:spPr>
          <a:xfrm>
            <a:off x="6286500" y="2647950"/>
            <a:ext cx="2381250" cy="323850"/>
          </a:xfrm>
          <a:prstGeom prst="rect">
            <a:avLst/>
          </a:prstGeom>
          <a:solidFill>
            <a:srgbClr val="8B9D8B">
              <a:alpha val="10000"/>
            </a:srgbClr>
          </a:solidFill>
          <a:ln w="2858">
            <a:solidFill>
              <a:srgbClr val="D5D0C8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7352586" y="2776538"/>
            <a:ext cx="249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空罐</a:t>
            </a:r>
          </a:p>
        </p:txBody>
      </p:sp>
      <p:sp>
        <p:nvSpPr>
          <p:cNvPr id="68" name="Rectangle 68"/>
          <p:cNvSpPr/>
          <p:nvPr/>
        </p:nvSpPr>
        <p:spPr>
          <a:xfrm>
            <a:off x="8667750" y="2647950"/>
            <a:ext cx="2381250" cy="323850"/>
          </a:xfrm>
          <a:prstGeom prst="rect">
            <a:avLst/>
          </a:prstGeom>
          <a:solidFill>
            <a:srgbClr val="8B9D8B">
              <a:alpha val="10000"/>
            </a:srgbClr>
          </a:solidFill>
          <a:ln w="2858">
            <a:solidFill>
              <a:srgbClr val="D5D0C8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9733836" y="2776538"/>
            <a:ext cx="249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暖光</a:t>
            </a:r>
          </a:p>
        </p:txBody>
      </p:sp>
      <p:sp>
        <p:nvSpPr>
          <p:cNvPr id="70" name="Rectangle 70"/>
          <p:cNvSpPr/>
          <p:nvPr/>
        </p:nvSpPr>
        <p:spPr>
          <a:xfrm>
            <a:off x="571500" y="2971800"/>
            <a:ext cx="952500" cy="485775"/>
          </a:xfrm>
          <a:prstGeom prst="rect">
            <a:avLst/>
          </a:prstGeom>
          <a:solidFill>
            <a:srgbClr val="EDE8E0"/>
          </a:solidFill>
          <a:ln w="2858">
            <a:solidFill>
              <a:srgbClr val="D5D0C8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796290" y="31684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独处时刻</a:t>
            </a:r>
          </a:p>
        </p:txBody>
      </p:sp>
      <p:sp>
        <p:nvSpPr>
          <p:cNvPr id="72" name="Rectangle 72"/>
          <p:cNvSpPr/>
          <p:nvPr/>
        </p:nvSpPr>
        <p:spPr>
          <a:xfrm>
            <a:off x="1524000" y="2971800"/>
            <a:ext cx="2381250" cy="485775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2401133" y="3100388"/>
            <a:ext cx="62698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凌晨3点醒来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2163842" y="3279934"/>
            <a:ext cx="11015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手机亮着，不知道看什么</a:t>
            </a:r>
          </a:p>
        </p:txBody>
      </p:sp>
      <p:sp>
        <p:nvSpPr>
          <p:cNvPr id="75" name="Rectangle 75"/>
          <p:cNvSpPr/>
          <p:nvPr/>
        </p:nvSpPr>
        <p:spPr>
          <a:xfrm>
            <a:off x="3905250" y="2971800"/>
            <a:ext cx="2381250" cy="485775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76" name="TextBox 76"/>
          <p:cNvSpPr txBox="1"/>
          <p:nvPr/>
        </p:nvSpPr>
        <p:spPr>
          <a:xfrm>
            <a:off x="4782383" y="3100388"/>
            <a:ext cx="62698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下午3点工位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4688038" y="3279934"/>
            <a:ext cx="81567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"精神已经下班了"</a:t>
            </a:r>
          </a:p>
        </p:txBody>
      </p:sp>
      <p:sp>
        <p:nvSpPr>
          <p:cNvPr id="78" name="Rectangle 78"/>
          <p:cNvSpPr/>
          <p:nvPr/>
        </p:nvSpPr>
        <p:spPr>
          <a:xfrm>
            <a:off x="6286500" y="2971800"/>
            <a:ext cx="2381250" cy="485775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7270432" y="3100388"/>
            <a:ext cx="41338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晚上11点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6872121" y="3279934"/>
            <a:ext cx="121000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"朋友圈刷完了，但还不够"</a:t>
            </a:r>
          </a:p>
        </p:txBody>
      </p:sp>
      <p:sp>
        <p:nvSpPr>
          <p:cNvPr id="81" name="Rectangle 81"/>
          <p:cNvSpPr/>
          <p:nvPr/>
        </p:nvSpPr>
        <p:spPr>
          <a:xfrm>
            <a:off x="8667750" y="2971800"/>
            <a:ext cx="2381250" cy="485775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82" name="TextBox 82"/>
          <p:cNvSpPr txBox="1"/>
          <p:nvPr/>
        </p:nvSpPr>
        <p:spPr>
          <a:xfrm>
            <a:off x="9465469" y="3100388"/>
            <a:ext cx="7858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女友生日前一周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9253371" y="3279934"/>
            <a:ext cx="121000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"她会不会觉得我不懂她？"</a:t>
            </a:r>
          </a:p>
        </p:txBody>
      </p:sp>
      <p:sp>
        <p:nvSpPr>
          <p:cNvPr id="84" name="Rectangle 84"/>
          <p:cNvSpPr/>
          <p:nvPr/>
        </p:nvSpPr>
        <p:spPr>
          <a:xfrm>
            <a:off x="571500" y="3457575"/>
            <a:ext cx="952500" cy="485775"/>
          </a:xfrm>
          <a:prstGeom prst="rect">
            <a:avLst/>
          </a:prstGeom>
          <a:solidFill>
            <a:srgbClr val="EDE8E0"/>
          </a:solidFill>
          <a:ln w="2858">
            <a:solidFill>
              <a:srgbClr val="D5D0C8"/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796290" y="365426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内容触点</a:t>
            </a:r>
          </a:p>
        </p:txBody>
      </p:sp>
      <p:sp>
        <p:nvSpPr>
          <p:cNvPr id="86" name="Rectangle 86"/>
          <p:cNvSpPr/>
          <p:nvPr/>
        </p:nvSpPr>
        <p:spPr>
          <a:xfrm>
            <a:off x="1524000" y="3457575"/>
            <a:ext cx="2381250" cy="485775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87" name="TextBox 87"/>
          <p:cNvSpPr txBox="1"/>
          <p:nvPr/>
        </p:nvSpPr>
        <p:spPr>
          <a:xfrm>
            <a:off x="2236827" y="3586162"/>
            <a:ext cx="9555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小红书+微信朋友圈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2311718" y="3765709"/>
            <a:ext cx="80581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深夜内容推送窗口</a:t>
            </a:r>
          </a:p>
        </p:txBody>
      </p:sp>
      <p:sp>
        <p:nvSpPr>
          <p:cNvPr id="89" name="Rectangle 89"/>
          <p:cNvSpPr/>
          <p:nvPr/>
        </p:nvSpPr>
        <p:spPr>
          <a:xfrm>
            <a:off x="3905250" y="3457575"/>
            <a:ext cx="2381250" cy="485775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4697492" y="3586162"/>
            <a:ext cx="79676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B站+微信公众号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692968" y="3765709"/>
            <a:ext cx="80581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深度内容阅读习惯</a:t>
            </a:r>
          </a:p>
        </p:txBody>
      </p:sp>
      <p:sp>
        <p:nvSpPr>
          <p:cNvPr id="92" name="Rectangle 92"/>
          <p:cNvSpPr/>
          <p:nvPr/>
        </p:nvSpPr>
        <p:spPr>
          <a:xfrm>
            <a:off x="6286500" y="3457575"/>
            <a:ext cx="2381250" cy="485775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7163633" y="3586162"/>
            <a:ext cx="62698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小红书+微博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7069288" y="3765709"/>
            <a:ext cx="81567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"被击中的一瞬间"</a:t>
            </a:r>
          </a:p>
        </p:txBody>
      </p:sp>
      <p:sp>
        <p:nvSpPr>
          <p:cNvPr id="95" name="Rectangle 95"/>
          <p:cNvSpPr/>
          <p:nvPr/>
        </p:nvSpPr>
        <p:spPr>
          <a:xfrm>
            <a:off x="8667750" y="3457575"/>
            <a:ext cx="2381250" cy="485775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96" name="TextBox 96"/>
          <p:cNvSpPr txBox="1"/>
          <p:nvPr/>
        </p:nvSpPr>
        <p:spPr>
          <a:xfrm>
            <a:off x="9544883" y="3586162"/>
            <a:ext cx="62698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抖音+小红书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9499830" y="3765709"/>
            <a:ext cx="71709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"礼物推荐"搜索</a:t>
            </a:r>
          </a:p>
        </p:txBody>
      </p:sp>
      <p:sp>
        <p:nvSpPr>
          <p:cNvPr id="98" name="Rectangle 98"/>
          <p:cNvSpPr/>
          <p:nvPr/>
        </p:nvSpPr>
        <p:spPr>
          <a:xfrm>
            <a:off x="571500" y="3943350"/>
            <a:ext cx="952500" cy="485775"/>
          </a:xfrm>
          <a:prstGeom prst="rect">
            <a:avLst/>
          </a:prstGeom>
          <a:solidFill>
            <a:srgbClr val="EDE8E0"/>
          </a:solidFill>
          <a:ln w="2858">
            <a:solidFill>
              <a:srgbClr val="D5D0C8"/>
            </a:solidFill>
          </a:ln>
        </p:spPr>
      </p:sp>
      <p:sp>
        <p:nvSpPr>
          <p:cNvPr id="99" name="TextBox 99"/>
          <p:cNvSpPr txBox="1"/>
          <p:nvPr/>
        </p:nvSpPr>
        <p:spPr>
          <a:xfrm>
            <a:off x="796290" y="41400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品牌机会</a:t>
            </a:r>
          </a:p>
        </p:txBody>
      </p:sp>
      <p:sp>
        <p:nvSpPr>
          <p:cNvPr id="100" name="Rectangle 100"/>
          <p:cNvSpPr/>
          <p:nvPr/>
        </p:nvSpPr>
        <p:spPr>
          <a:xfrm>
            <a:off x="1524000" y="3943350"/>
            <a:ext cx="2381250" cy="485775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101" name="TextBox 101"/>
          <p:cNvSpPr txBox="1"/>
          <p:nvPr/>
        </p:nvSpPr>
        <p:spPr>
          <a:xfrm>
            <a:off x="2316242" y="4071938"/>
            <a:ext cx="79676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"被理解"的陪伴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082510" y="4251484"/>
            <a:ext cx="126422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雾人："我也在凌晨3点醒着"</a:t>
            </a:r>
          </a:p>
        </p:txBody>
      </p:sp>
      <p:sp>
        <p:nvSpPr>
          <p:cNvPr id="103" name="Rectangle 103"/>
          <p:cNvSpPr/>
          <p:nvPr/>
        </p:nvSpPr>
        <p:spPr>
          <a:xfrm>
            <a:off x="3905250" y="3943350"/>
            <a:ext cx="2381250" cy="485775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104" name="TextBox 104"/>
          <p:cNvSpPr txBox="1"/>
          <p:nvPr/>
        </p:nvSpPr>
        <p:spPr>
          <a:xfrm>
            <a:off x="4368879" y="4071938"/>
            <a:ext cx="145399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"有东西可follow"的内容粘性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636282" y="4251484"/>
            <a:ext cx="91918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刺刺手记 × 每日更新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6286500" y="3943350"/>
            <a:ext cx="2381250" cy="485775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107" name="TextBox 107"/>
          <p:cNvSpPr txBox="1"/>
          <p:nvPr/>
        </p:nvSpPr>
        <p:spPr>
          <a:xfrm>
            <a:off x="6914436" y="4071938"/>
            <a:ext cx="11253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"说不出口的话被翻译"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6965775" y="4251484"/>
            <a:ext cx="102269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空罐："今天3%就够了"</a:t>
            </a:r>
          </a:p>
        </p:txBody>
      </p:sp>
      <p:sp>
        <p:nvSpPr>
          <p:cNvPr id="109" name="Rectangle 109"/>
          <p:cNvSpPr/>
          <p:nvPr/>
        </p:nvSpPr>
        <p:spPr>
          <a:xfrm>
            <a:off x="8667750" y="3943350"/>
            <a:ext cx="2381250" cy="485775"/>
          </a:xfrm>
          <a:prstGeom prst="rect">
            <a:avLst/>
          </a:prstGeom>
          <a:solidFill>
            <a:srgbClr val="F5F0E8"/>
          </a:solidFill>
          <a:ln w="2858">
            <a:solidFill>
              <a:srgbClr val="D5D0C8"/>
            </a:solidFill>
          </a:ln>
        </p:spPr>
      </p:sp>
      <p:sp>
        <p:nvSpPr>
          <p:cNvPr id="110" name="TextBox 110"/>
          <p:cNvSpPr txBox="1"/>
          <p:nvPr/>
        </p:nvSpPr>
        <p:spPr>
          <a:xfrm>
            <a:off x="9405223" y="4071938"/>
            <a:ext cx="9063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"替我说话"的礼物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9477649" y="4251484"/>
            <a:ext cx="76145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暖光礼盒+手写信</a:t>
            </a:r>
          </a:p>
        </p:txBody>
      </p:sp>
      <p:sp>
        <p:nvSpPr>
          <p:cNvPr id="112" name="Rectangle 112"/>
          <p:cNvSpPr/>
          <p:nvPr/>
        </p:nvSpPr>
        <p:spPr>
          <a:xfrm>
            <a:off x="571500" y="4572000"/>
            <a:ext cx="11049000" cy="952500"/>
          </a:xfrm>
          <a:prstGeom prst="rect">
            <a:avLst/>
          </a:prstGeom>
          <a:solidFill>
            <a:srgbClr val="3C3C5C">
              <a:alpha val="5000"/>
            </a:srgbClr>
          </a:solidFill>
          <a:ln>
            <a:noFill/>
          </a:ln>
        </p:spPr>
      </p:sp>
      <p:sp>
        <p:nvSpPr>
          <p:cNvPr id="113" name="TextBox 113"/>
          <p:cNvSpPr txBox="1"/>
          <p:nvPr/>
        </p:nvSpPr>
        <p:spPr>
          <a:xfrm>
            <a:off x="746760" y="4680585"/>
            <a:ext cx="279082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跨画像洞察：四个画像是同一类人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750570" y="4932045"/>
            <a:ext cx="650967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1. 所有人都有"独处时刻"——凌晨、下午、失眠、送礼前夕。品牌在这些时刻出现，不是在打断用户，是在陪伴。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750570" y="5122545"/>
            <a:ext cx="70223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2. 所有人都需要"被翻译"——他们都有一种说不清的情绪（空虚/倦怠/不够/焦虑），需要一个角色把它翻译成具体的话。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750570" y="5313045"/>
            <a:ext cx="60824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3. 69元是所有人的"无痛决策区"——从月消费500元的大学生到月入35K的产品经理，69元都不需要犹豫。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558165" y="56969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核心发现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560070" y="5951220"/>
            <a:ext cx="74495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岛屿来信的用户不是"潮玩爱好者"——潮玩爱好者占3个画像（小夏/阿哲/小念），但他们买的不是"下一个盲盒"，是"下一个会说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60070" y="6141720"/>
            <a:ext cx="74757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话的朋友"。再加上大刘（礼品场景），这四个人覆盖了岛屿来信的两条核心增长路径：角色内容驱动复购 + 礼品场景驱动破圈。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1457622" y="6681788"/>
            <a:ext cx="1724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38125"/>
            <a:ext cx="43971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消费者旅程：小夏的 AISAS × 五层触点矩阵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21970"/>
            <a:ext cx="32169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从"深夜关电脑"到"桌上那封信"——小夏的完整购买旅程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7334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857250"/>
            <a:ext cx="1238250" cy="28575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90374" y="958691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触点层</a:t>
            </a:r>
          </a:p>
        </p:txBody>
      </p:sp>
      <p:sp>
        <p:nvSpPr>
          <p:cNvPr id="8" name="Rectangle 8"/>
          <p:cNvSpPr/>
          <p:nvPr/>
        </p:nvSpPr>
        <p:spPr>
          <a:xfrm>
            <a:off x="1809750" y="857250"/>
            <a:ext cx="1962150" cy="28575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337542" y="958691"/>
            <a:ext cx="9065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Attention 注意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771900" y="857250"/>
            <a:ext cx="1962150" cy="28575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334484" y="958691"/>
            <a:ext cx="8369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Interest 兴趣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34050" y="857250"/>
            <a:ext cx="1962150" cy="28575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350403" y="958691"/>
            <a:ext cx="72944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Search 搜索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96200" y="857250"/>
            <a:ext cx="1962150" cy="28575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328368" y="958691"/>
            <a:ext cx="6978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Action 购买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658350" y="857250"/>
            <a:ext cx="1962150" cy="28575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0309495" y="958691"/>
            <a:ext cx="6598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Share 分享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1143000"/>
            <a:ext cx="1238250" cy="762000"/>
          </a:xfrm>
          <a:prstGeom prst="rect">
            <a:avLst/>
          </a:prstGeom>
          <a:solidFill>
            <a:srgbClr val="EDE8E0"/>
          </a:solidFill>
          <a:ln w="4762">
            <a:solidFill>
              <a:srgbClr val="D5D0C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03160" y="131254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社交媒体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7473" y="1538288"/>
            <a:ext cx="9063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小红书/微博/抖音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809750" y="1143000"/>
            <a:ext cx="1962150" cy="762000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282904" y="1328738"/>
            <a:ext cx="10158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凌晨刷到"雾人日报"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307550" y="1519238"/>
            <a:ext cx="96654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帖子——"今天的形状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532102" y="1709738"/>
            <a:ext cx="51744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：散开的"</a:t>
            </a:r>
          </a:p>
        </p:txBody>
      </p:sp>
      <p:sp>
        <p:nvSpPr>
          <p:cNvPr id="25" name="Rectangle 25"/>
          <p:cNvSpPr/>
          <p:nvPr/>
        </p:nvSpPr>
        <p:spPr>
          <a:xfrm>
            <a:off x="3771900" y="1143000"/>
            <a:ext cx="1962150" cy="762000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360069" y="1328738"/>
            <a:ext cx="7858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点进主页，看到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294346" y="1519238"/>
            <a:ext cx="91725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"雾人日记"系列——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299823" y="1709738"/>
            <a:ext cx="9063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"它就是我的形状"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34050" y="1143000"/>
            <a:ext cx="1962150" cy="762000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261973" y="1328738"/>
            <a:ext cx="9063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小红书搜索"雾人"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376988" y="1519238"/>
            <a:ext cx="6762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查看其他用户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376988" y="1709738"/>
            <a:ext cx="6762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的晒图和评论</a:t>
            </a:r>
          </a:p>
        </p:txBody>
      </p:sp>
      <p:sp>
        <p:nvSpPr>
          <p:cNvPr id="33" name="Rectangle 33"/>
          <p:cNvSpPr/>
          <p:nvPr/>
        </p:nvSpPr>
        <p:spPr>
          <a:xfrm>
            <a:off x="7696200" y="1143000"/>
            <a:ext cx="1962150" cy="762000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339138" y="1328738"/>
            <a:ext cx="6762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帖内链接跳转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93906" y="1519238"/>
            <a:ext cx="56673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微信小程序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511659" y="1709738"/>
            <a:ext cx="3312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→ 下单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658350" y="1143000"/>
            <a:ext cx="1962150" cy="762000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0136981" y="1328738"/>
            <a:ext cx="10048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收到后拍照发小红书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320457" y="1519238"/>
            <a:ext cx="63793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——"这个雾人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380702" y="1709738"/>
            <a:ext cx="51744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是我本人"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71500" y="1905000"/>
            <a:ext cx="1238250" cy="762000"/>
          </a:xfrm>
          <a:prstGeom prst="rect">
            <a:avLst/>
          </a:prstGeom>
          <a:solidFill>
            <a:srgbClr val="EDE8E0"/>
          </a:solidFill>
          <a:ln w="4762">
            <a:solidFill>
              <a:srgbClr val="D5D0C8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865206" y="2074545"/>
            <a:ext cx="6508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平台/电商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77133" y="2300288"/>
            <a:ext cx="62698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天猫/小程序</a:t>
            </a:r>
          </a:p>
        </p:txBody>
      </p:sp>
      <p:sp>
        <p:nvSpPr>
          <p:cNvPr id="44" name="Rectangle 44"/>
          <p:cNvSpPr/>
          <p:nvPr/>
        </p:nvSpPr>
        <p:spPr>
          <a:xfrm>
            <a:off x="1809750" y="1905000"/>
            <a:ext cx="1962150" cy="762000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2751177" y="2205038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771900" y="1905000"/>
            <a:ext cx="1962150" cy="762000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4713327" y="2205038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34050" y="1905000"/>
            <a:ext cx="1962150" cy="762000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6207204" y="2090738"/>
            <a:ext cx="10158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天猫搜索"岛屿来信"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212681" y="2281238"/>
            <a:ext cx="10048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查看产品详情和评价</a:t>
            </a:r>
          </a:p>
        </p:txBody>
      </p:sp>
      <p:sp>
        <p:nvSpPr>
          <p:cNvPr id="51" name="Rectangle 51"/>
          <p:cNvSpPr/>
          <p:nvPr/>
        </p:nvSpPr>
        <p:spPr>
          <a:xfrm>
            <a:off x="7696200" y="1905000"/>
            <a:ext cx="1962150" cy="762000"/>
          </a:xfrm>
          <a:prstGeom prst="rect">
            <a:avLst/>
          </a:prstGeom>
          <a:solidFill>
            <a:srgbClr val="EDE8E0"/>
          </a:solidFill>
          <a:ln w="4762">
            <a:solidFill>
              <a:srgbClr val="D5D0C8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8284369" y="2090738"/>
            <a:ext cx="7858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小程序直接下单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309015" y="2281238"/>
            <a:ext cx="73652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微信支付→完成</a:t>
            </a:r>
          </a:p>
        </p:txBody>
      </p:sp>
      <p:sp>
        <p:nvSpPr>
          <p:cNvPr id="54" name="Rectangle 54"/>
          <p:cNvSpPr/>
          <p:nvPr/>
        </p:nvSpPr>
        <p:spPr>
          <a:xfrm>
            <a:off x="9658350" y="1905000"/>
            <a:ext cx="1962150" cy="762000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10599777" y="2205038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71500" y="2667000"/>
            <a:ext cx="1238250" cy="762000"/>
          </a:xfrm>
          <a:prstGeom prst="rect">
            <a:avLst/>
          </a:prstGeom>
          <a:solidFill>
            <a:srgbClr val="EDE8E0"/>
          </a:solidFill>
          <a:ln w="4762">
            <a:solidFill>
              <a:srgbClr val="D5D0C8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1041178" y="2931795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社群</a:t>
            </a:r>
          </a:p>
        </p:txBody>
      </p:sp>
      <p:sp>
        <p:nvSpPr>
          <p:cNvPr id="58" name="Rectangle 58"/>
          <p:cNvSpPr/>
          <p:nvPr/>
        </p:nvSpPr>
        <p:spPr>
          <a:xfrm>
            <a:off x="1809750" y="2667000"/>
            <a:ext cx="1962150" cy="762000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2751177" y="2967038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60" name="Rectangle 60"/>
          <p:cNvSpPr/>
          <p:nvPr/>
        </p:nvSpPr>
        <p:spPr>
          <a:xfrm>
            <a:off x="3771900" y="2667000"/>
            <a:ext cx="1962150" cy="762000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713327" y="2967038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62" name="Rectangle 62"/>
          <p:cNvSpPr/>
          <p:nvPr/>
        </p:nvSpPr>
        <p:spPr>
          <a:xfrm>
            <a:off x="5734050" y="2667000"/>
            <a:ext cx="1962150" cy="762000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6675477" y="2967038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64" name="Rectangle 64"/>
          <p:cNvSpPr/>
          <p:nvPr/>
        </p:nvSpPr>
        <p:spPr>
          <a:xfrm>
            <a:off x="7696200" y="2667000"/>
            <a:ext cx="1962150" cy="762000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8114586" y="2947988"/>
            <a:ext cx="11253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购买后收到"雾人来信"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169354" y="3138488"/>
            <a:ext cx="10158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邀请加入"群岛居民"</a:t>
            </a:r>
          </a:p>
        </p:txBody>
      </p:sp>
      <p:sp>
        <p:nvSpPr>
          <p:cNvPr id="67" name="Rectangle 67"/>
          <p:cNvSpPr/>
          <p:nvPr/>
        </p:nvSpPr>
        <p:spPr>
          <a:xfrm>
            <a:off x="9658350" y="2667000"/>
            <a:ext cx="1962150" cy="762000"/>
          </a:xfrm>
          <a:prstGeom prst="rect">
            <a:avLst/>
          </a:prstGeom>
          <a:solidFill>
            <a:srgbClr val="EDE8E0"/>
          </a:solidFill>
          <a:ln w="4762">
            <a:solidFill>
              <a:srgbClr val="D5D0C8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10136981" y="2947988"/>
            <a:ext cx="10048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在社群内分享自己的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0241042" y="3138488"/>
            <a:ext cx="79676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"雾人形状"故事</a:t>
            </a:r>
          </a:p>
        </p:txBody>
      </p:sp>
      <p:sp>
        <p:nvSpPr>
          <p:cNvPr id="70" name="Rectangle 70"/>
          <p:cNvSpPr/>
          <p:nvPr/>
        </p:nvSpPr>
        <p:spPr>
          <a:xfrm>
            <a:off x="571500" y="3429000"/>
            <a:ext cx="1238250" cy="762000"/>
          </a:xfrm>
          <a:prstGeom prst="rect">
            <a:avLst/>
          </a:prstGeom>
          <a:solidFill>
            <a:srgbClr val="EDE8E0"/>
          </a:solidFill>
          <a:ln w="4762">
            <a:solidFill>
              <a:srgbClr val="D5D0C8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1041178" y="3693795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产品</a:t>
            </a:r>
          </a:p>
        </p:txBody>
      </p:sp>
      <p:sp>
        <p:nvSpPr>
          <p:cNvPr id="72" name="Rectangle 72"/>
          <p:cNvSpPr/>
          <p:nvPr/>
        </p:nvSpPr>
        <p:spPr>
          <a:xfrm>
            <a:off x="1809750" y="3429000"/>
            <a:ext cx="1962150" cy="762000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2751177" y="3729038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74" name="Rectangle 74"/>
          <p:cNvSpPr/>
          <p:nvPr/>
        </p:nvSpPr>
        <p:spPr>
          <a:xfrm>
            <a:off x="3771900" y="3429000"/>
            <a:ext cx="1962150" cy="762000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4713327" y="3729038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76" name="Rectangle 76"/>
          <p:cNvSpPr/>
          <p:nvPr/>
        </p:nvSpPr>
        <p:spPr>
          <a:xfrm>
            <a:off x="5734050" y="3429000"/>
            <a:ext cx="1962150" cy="762000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77" name="TextBox 77"/>
          <p:cNvSpPr txBox="1"/>
          <p:nvPr/>
        </p:nvSpPr>
        <p:spPr>
          <a:xfrm>
            <a:off x="6675477" y="3729038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78" name="Rectangle 78"/>
          <p:cNvSpPr/>
          <p:nvPr/>
        </p:nvSpPr>
        <p:spPr>
          <a:xfrm>
            <a:off x="7696200" y="3429000"/>
            <a:ext cx="1962150" cy="762000"/>
          </a:xfrm>
          <a:prstGeom prst="rect">
            <a:avLst/>
          </a:prstGeom>
          <a:solidFill>
            <a:srgbClr val="EDE8E0"/>
          </a:solidFill>
          <a:ln w="4762">
            <a:solidFill>
              <a:srgbClr val="D5D0C8"/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8199477" y="3633788"/>
            <a:ext cx="9555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拆箱：雾人角色+信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8248769" y="3824288"/>
            <a:ext cx="8570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+"晨雾"系列包装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8402122" y="4014788"/>
            <a:ext cx="55030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情绪高峰</a:t>
            </a:r>
          </a:p>
        </p:txBody>
      </p:sp>
      <p:sp>
        <p:nvSpPr>
          <p:cNvPr id="82" name="Rectangle 82"/>
          <p:cNvSpPr/>
          <p:nvPr/>
        </p:nvSpPr>
        <p:spPr>
          <a:xfrm>
            <a:off x="9658350" y="3429000"/>
            <a:ext cx="1962150" cy="762000"/>
          </a:xfrm>
          <a:prstGeom prst="rect">
            <a:avLst/>
          </a:prstGeom>
          <a:solidFill>
            <a:srgbClr val="F5F0E8"/>
          </a:solidFill>
          <a:ln w="4762">
            <a:solidFill>
              <a:srgbClr val="D5D0C8"/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10599777" y="3729038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84" name="Rectangle 84"/>
          <p:cNvSpPr/>
          <p:nvPr/>
        </p:nvSpPr>
        <p:spPr>
          <a:xfrm>
            <a:off x="571500" y="4191000"/>
            <a:ext cx="1238250" cy="762000"/>
          </a:xfrm>
          <a:prstGeom prst="rect">
            <a:avLst/>
          </a:prstGeom>
          <a:solidFill>
            <a:srgbClr val="EDE8E0"/>
          </a:solidFill>
          <a:ln w="4762">
            <a:solidFill>
              <a:srgbClr val="D5D0C8"/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1041178" y="4455795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内容</a:t>
            </a:r>
          </a:p>
        </p:txBody>
      </p:sp>
      <p:sp>
        <p:nvSpPr>
          <p:cNvPr id="86" name="Rectangle 86"/>
          <p:cNvSpPr/>
          <p:nvPr/>
        </p:nvSpPr>
        <p:spPr>
          <a:xfrm>
            <a:off x="1809750" y="4191000"/>
            <a:ext cx="1962150" cy="762000"/>
          </a:xfrm>
          <a:prstGeom prst="rect">
            <a:avLst/>
          </a:prstGeom>
          <a:solidFill>
            <a:srgbClr val="EDE8E0"/>
          </a:solidFill>
          <a:ln w="4762">
            <a:solidFill>
              <a:srgbClr val="D5D0C8"/>
            </a:solidFill>
          </a:ln>
        </p:spPr>
      </p:sp>
      <p:sp>
        <p:nvSpPr>
          <p:cNvPr id="87" name="TextBox 87"/>
          <p:cNvSpPr txBox="1"/>
          <p:nvPr/>
        </p:nvSpPr>
        <p:spPr>
          <a:xfrm>
            <a:off x="2282904" y="4376738"/>
            <a:ext cx="10158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"雾人日报"每日推送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2406134" y="4567238"/>
            <a:ext cx="7693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→ 建立品牌认知</a:t>
            </a:r>
          </a:p>
        </p:txBody>
      </p:sp>
      <p:sp>
        <p:nvSpPr>
          <p:cNvPr id="89" name="Rectangle 89"/>
          <p:cNvSpPr/>
          <p:nvPr/>
        </p:nvSpPr>
        <p:spPr>
          <a:xfrm>
            <a:off x="3771900" y="4191000"/>
            <a:ext cx="1962150" cy="762000"/>
          </a:xfrm>
          <a:prstGeom prst="rect">
            <a:avLst/>
          </a:prstGeom>
          <a:solidFill>
            <a:srgbClr val="EDE8E0"/>
          </a:solidFill>
          <a:ln w="4762">
            <a:solidFill>
              <a:srgbClr val="D5D0C8"/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4245054" y="4376738"/>
            <a:ext cx="10158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看到雾人"日记"系列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477822" y="4567238"/>
            <a:ext cx="55030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→ 情绪共鸣</a:t>
            </a:r>
          </a:p>
        </p:txBody>
      </p:sp>
      <p:sp>
        <p:nvSpPr>
          <p:cNvPr id="92" name="Rectangle 92"/>
          <p:cNvSpPr/>
          <p:nvPr/>
        </p:nvSpPr>
        <p:spPr>
          <a:xfrm>
            <a:off x="5734050" y="4191000"/>
            <a:ext cx="1962150" cy="762000"/>
          </a:xfrm>
          <a:prstGeom prst="rect">
            <a:avLst/>
          </a:prstGeom>
          <a:solidFill>
            <a:srgbClr val="EDE8E0"/>
          </a:solidFill>
          <a:ln w="4762">
            <a:solidFill>
              <a:srgbClr val="D5D0C8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6267450" y="4376738"/>
            <a:ext cx="8953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翻看雾人全部内容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6439972" y="4567238"/>
            <a:ext cx="55030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→ 深度种草</a:t>
            </a:r>
          </a:p>
        </p:txBody>
      </p:sp>
      <p:sp>
        <p:nvSpPr>
          <p:cNvPr id="95" name="Rectangle 95"/>
          <p:cNvSpPr/>
          <p:nvPr/>
        </p:nvSpPr>
        <p:spPr>
          <a:xfrm>
            <a:off x="7696200" y="4191000"/>
            <a:ext cx="1962150" cy="762000"/>
          </a:xfrm>
          <a:prstGeom prst="rect">
            <a:avLst/>
          </a:prstGeom>
          <a:solidFill>
            <a:srgbClr val="EDE8E0"/>
          </a:solidFill>
          <a:ln w="4762">
            <a:solidFill>
              <a:srgbClr val="D5D0C8"/>
            </a:solidFill>
          </a:ln>
        </p:spPr>
      </p:sp>
      <p:sp>
        <p:nvSpPr>
          <p:cNvPr id="96" name="TextBox 96"/>
          <p:cNvSpPr txBox="1"/>
          <p:nvPr/>
        </p:nvSpPr>
        <p:spPr>
          <a:xfrm>
            <a:off x="8169354" y="4376738"/>
            <a:ext cx="10158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产品内附"雾人来信"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207692" y="4567238"/>
            <a:ext cx="93916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→ 产品=内容的载体</a:t>
            </a:r>
          </a:p>
        </p:txBody>
      </p:sp>
      <p:sp>
        <p:nvSpPr>
          <p:cNvPr id="98" name="Rectangle 98"/>
          <p:cNvSpPr/>
          <p:nvPr/>
        </p:nvSpPr>
        <p:spPr>
          <a:xfrm>
            <a:off x="9658350" y="4191000"/>
            <a:ext cx="1962150" cy="762000"/>
          </a:xfrm>
          <a:prstGeom prst="rect">
            <a:avLst/>
          </a:prstGeom>
          <a:solidFill>
            <a:srgbClr val="EDE8E0"/>
          </a:solidFill>
          <a:ln w="4762">
            <a:solidFill>
              <a:srgbClr val="D5D0C8"/>
            </a:solidFill>
          </a:ln>
        </p:spPr>
      </p:sp>
      <p:sp>
        <p:nvSpPr>
          <p:cNvPr id="99" name="TextBox 99"/>
          <p:cNvSpPr txBox="1"/>
          <p:nvPr/>
        </p:nvSpPr>
        <p:spPr>
          <a:xfrm>
            <a:off x="10131504" y="4376738"/>
            <a:ext cx="10158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订阅"雾人周记"邮件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0254734" y="4567238"/>
            <a:ext cx="7693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→ 持续内容关系</a:t>
            </a:r>
          </a:p>
        </p:txBody>
      </p:sp>
      <p:sp>
        <p:nvSpPr>
          <p:cNvPr id="101" name="Rectangle 101"/>
          <p:cNvSpPr/>
          <p:nvPr/>
        </p:nvSpPr>
        <p:spPr>
          <a:xfrm>
            <a:off x="571500" y="5143500"/>
            <a:ext cx="11049000" cy="666750"/>
          </a:xfrm>
          <a:prstGeom prst="rect">
            <a:avLst/>
          </a:prstGeom>
          <a:solidFill>
            <a:srgbClr val="3C3C5C">
              <a:alpha val="5000"/>
            </a:srgbClr>
          </a:solidFill>
          <a:ln>
            <a:noFill/>
          </a:ln>
        </p:spPr>
      </p:sp>
      <p:sp>
        <p:nvSpPr>
          <p:cNvPr id="102" name="TextBox 102"/>
          <p:cNvSpPr txBox="1"/>
          <p:nvPr/>
        </p:nvSpPr>
        <p:spPr>
          <a:xfrm>
            <a:off x="747712" y="5260181"/>
            <a:ext cx="39103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关键发现：岛屿来信的AISAS与传统路径的本质差异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750570" y="5522595"/>
            <a:ext cx="94540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传统AISAS: 注意→兴趣→搜索→购买→分享。岛屿来信的路径：内容驱动注意→角色人设驱动兴趣→搜索角色故事（不是搜索产品）→情绪共鸣驱动购买→社群分享故事。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560070" y="599884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核心洞察：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560070" y="6208395"/>
            <a:ext cx="813301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角色的"Search"不是搜产品参数——是搜索角色故事、搜角色说过的话、搜"有没有人和我一样被这个角色击中"。内容是购买前的"试用装"。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1457622" y="6681788"/>
            <a:ext cx="1724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0545" y="298132"/>
            <a:ext cx="588694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消费者旅程：情绪曲线——从深夜关电脑到桌上那封信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9118" y="609124"/>
            <a:ext cx="30578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不是"买了什么"——是"从什么状态到了什么状态"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382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Line 6"/>
          <p:cNvSpPr/>
          <p:nvPr/>
        </p:nvSpPr>
        <p:spPr>
          <a:xfrm>
            <a:off x="1143000" y="1524000"/>
            <a:ext cx="9525" cy="3429000"/>
          </a:xfrm>
          <a:custGeom>
            <a:avLst/>
            <a:gdLst/>
            <a:ahLst/>
            <a:cxnLst/>
            <a:rect l="l" t="t" r="r" b="b"/>
            <a:pathLst>
              <a:path w="9525" h="3429000">
                <a:moveTo>
                  <a:pt x="0" y="0"/>
                </a:moveTo>
                <a:lnTo>
                  <a:pt x="0" y="3429000"/>
                </a:lnTo>
              </a:path>
            </a:pathLst>
          </a:custGeom>
          <a:noFill/>
          <a:ln w="9525">
            <a:solidFill>
              <a:srgbClr val="9E9EAD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28688" y="4872038"/>
            <a:ext cx="1285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低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8688" y="3157538"/>
            <a:ext cx="1285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中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8688" y="1443038"/>
            <a:ext cx="1285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高</a:t>
            </a:r>
          </a:p>
        </p:txBody>
      </p:sp>
      <p:sp>
        <p:nvSpPr>
          <p:cNvPr id="10" name="Line 10"/>
          <p:cNvSpPr/>
          <p:nvPr/>
        </p:nvSpPr>
        <p:spPr>
          <a:xfrm>
            <a:off x="1143000" y="49530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9E9EAD"/>
            </a:solidFill>
          </a:ln>
        </p:spPr>
      </p:sp>
      <p:sp>
        <p:nvSpPr>
          <p:cNvPr id="11" name="Line 11"/>
          <p:cNvSpPr/>
          <p:nvPr/>
        </p:nvSpPr>
        <p:spPr>
          <a:xfrm>
            <a:off x="1143000" y="32385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4762">
            <a:solidFill>
              <a:srgbClr val="D5D0C8"/>
            </a:solidFill>
            <a:prstDash val="dash"/>
          </a:ln>
        </p:spPr>
      </p:sp>
      <p:sp>
        <p:nvSpPr>
          <p:cNvPr id="12" name="TextBox 12"/>
          <p:cNvSpPr txBox="1"/>
          <p:nvPr/>
        </p:nvSpPr>
        <p:spPr>
          <a:xfrm>
            <a:off x="746760" y="3203734"/>
            <a:ext cx="21431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" dirty="0">
                <a:solidFill>
                  <a:srgbClr val="D5D0C8"/>
                </a:solidFill>
                <a:latin typeface="Arial"/>
                <a:ea typeface="Microsoft YaHei"/>
                <a:cs typeface="Arial"/>
              </a:rPr>
              <a:t>基线</a:t>
            </a:r>
          </a:p>
        </p:txBody>
      </p:sp>
      <p:sp>
        <p:nvSpPr>
          <p:cNvPr id="13" name="Polyline 13"/>
          <p:cNvSpPr/>
          <p:nvPr/>
        </p:nvSpPr>
        <p:spPr>
          <a:xfrm>
            <a:off x="1428750" y="1524000"/>
            <a:ext cx="8858250" cy="2762250"/>
          </a:xfrm>
          <a:custGeom>
            <a:avLst/>
            <a:gdLst/>
            <a:ahLst/>
            <a:cxnLst/>
            <a:rect l="l" t="t" r="r" b="b"/>
            <a:pathLst>
              <a:path w="8858250" h="2762250">
                <a:moveTo>
                  <a:pt x="0" y="1714500"/>
                </a:moveTo>
                <a:lnTo>
                  <a:pt x="952500" y="2762250"/>
                </a:lnTo>
                <a:lnTo>
                  <a:pt x="1905000" y="952500"/>
                </a:lnTo>
                <a:lnTo>
                  <a:pt x="2857500" y="1714500"/>
                </a:lnTo>
                <a:lnTo>
                  <a:pt x="4095750" y="0"/>
                </a:lnTo>
                <a:lnTo>
                  <a:pt x="5524500" y="190500"/>
                </a:lnTo>
                <a:lnTo>
                  <a:pt x="7143750" y="333375"/>
                </a:lnTo>
                <a:lnTo>
                  <a:pt x="8858250" y="285750"/>
                </a:lnTo>
              </a:path>
            </a:pathLst>
          </a:custGeom>
          <a:noFill/>
          <a:ln w="23812">
            <a:solidFill>
              <a:srgbClr val="7B7B8E"/>
            </a:solidFill>
          </a:ln>
        </p:spPr>
      </p:sp>
      <p:sp>
        <p:nvSpPr>
          <p:cNvPr id="14" name="Polygon 14"/>
          <p:cNvSpPr/>
          <p:nvPr/>
        </p:nvSpPr>
        <p:spPr>
          <a:xfrm>
            <a:off x="1428750" y="1524000"/>
            <a:ext cx="8858250" cy="3429000"/>
          </a:xfrm>
          <a:custGeom>
            <a:avLst/>
            <a:gdLst/>
            <a:ahLst/>
            <a:cxnLst/>
            <a:rect l="l" t="t" r="r" b="b"/>
            <a:pathLst>
              <a:path w="8858250" h="3429000">
                <a:moveTo>
                  <a:pt x="0" y="1714500"/>
                </a:moveTo>
                <a:lnTo>
                  <a:pt x="952500" y="2762250"/>
                </a:lnTo>
                <a:lnTo>
                  <a:pt x="1905000" y="952500"/>
                </a:lnTo>
                <a:lnTo>
                  <a:pt x="2857500" y="1714500"/>
                </a:lnTo>
                <a:lnTo>
                  <a:pt x="4095750" y="0"/>
                </a:lnTo>
                <a:lnTo>
                  <a:pt x="5524500" y="190500"/>
                </a:lnTo>
                <a:lnTo>
                  <a:pt x="7143750" y="333375"/>
                </a:lnTo>
                <a:lnTo>
                  <a:pt x="8858250" y="285750"/>
                </a:lnTo>
                <a:lnTo>
                  <a:pt x="8858250" y="3429000"/>
                </a:lnTo>
                <a:lnTo>
                  <a:pt x="0" y="3429000"/>
                </a:lnTo>
                <a:close/>
              </a:path>
            </a:pathLst>
          </a:custGeom>
          <a:solidFill>
            <a:srgbClr val="7B7B8E">
              <a:alpha val="6000"/>
            </a:srgbClr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1381125" y="3190875"/>
            <a:ext cx="95250" cy="95250"/>
          </a:xfrm>
          <a:prstGeom prst="ellipse">
            <a:avLst/>
          </a:prstGeom>
          <a:solidFill>
            <a:srgbClr val="F5F0E8"/>
          </a:solidFill>
          <a:ln w="19050">
            <a:solidFill>
              <a:srgbClr val="7B7B8E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309688" y="306228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平常</a:t>
            </a:r>
          </a:p>
        </p:txBody>
      </p:sp>
      <p:sp>
        <p:nvSpPr>
          <p:cNvPr id="17" name="Ellipse 17"/>
          <p:cNvSpPr/>
          <p:nvPr/>
        </p:nvSpPr>
        <p:spPr>
          <a:xfrm>
            <a:off x="2305050" y="4210050"/>
            <a:ext cx="152400" cy="152400"/>
          </a:xfrm>
          <a:prstGeom prst="ellipse">
            <a:avLst/>
          </a:prstGeom>
          <a:solidFill>
            <a:srgbClr val="8B9D8B">
              <a:alpha val="20000"/>
            </a:srgbClr>
          </a:solidFill>
          <a:ln w="19050">
            <a:solidFill>
              <a:srgbClr val="8B9D8B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2141696" y="4395788"/>
            <a:ext cx="479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深夜焦虑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99108" y="4527709"/>
            <a:ext cx="56428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凌晨3点醒来</a:t>
            </a:r>
          </a:p>
        </p:txBody>
      </p:sp>
      <p:sp>
        <p:nvSpPr>
          <p:cNvPr id="20" name="Ellipse 20"/>
          <p:cNvSpPr/>
          <p:nvPr/>
        </p:nvSpPr>
        <p:spPr>
          <a:xfrm>
            <a:off x="3276600" y="2419350"/>
            <a:ext cx="114300" cy="114300"/>
          </a:xfrm>
          <a:prstGeom prst="ellipse">
            <a:avLst/>
          </a:prstGeom>
          <a:solidFill>
            <a:srgbClr val="F5F0E8"/>
          </a:solidFill>
          <a:ln w="19050">
            <a:solidFill>
              <a:srgbClr val="7B7B8E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105150" y="2300288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刷到雾人</a:t>
            </a:r>
          </a:p>
        </p:txBody>
      </p:sp>
      <p:sp>
        <p:nvSpPr>
          <p:cNvPr id="22" name="Ellipse 22"/>
          <p:cNvSpPr/>
          <p:nvPr/>
        </p:nvSpPr>
        <p:spPr>
          <a:xfrm>
            <a:off x="4238625" y="3190875"/>
            <a:ext cx="95250" cy="95250"/>
          </a:xfrm>
          <a:prstGeom prst="ellipse">
            <a:avLst/>
          </a:prstGeom>
          <a:solidFill>
            <a:srgbClr val="F5F0E8"/>
          </a:solidFill>
          <a:ln w="19050">
            <a:solidFill>
              <a:srgbClr val="7B7B8E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112419" y="3062288"/>
            <a:ext cx="34766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搜索中</a:t>
            </a:r>
          </a:p>
        </p:txBody>
      </p:sp>
      <p:sp>
        <p:nvSpPr>
          <p:cNvPr id="24" name="Ellipse 24"/>
          <p:cNvSpPr/>
          <p:nvPr/>
        </p:nvSpPr>
        <p:spPr>
          <a:xfrm>
            <a:off x="5448300" y="1447800"/>
            <a:ext cx="152400" cy="152400"/>
          </a:xfrm>
          <a:prstGeom prst="ellipse">
            <a:avLst/>
          </a:prstGeom>
          <a:solidFill>
            <a:srgbClr val="8B9D8B">
              <a:alpha val="20000"/>
            </a:srgbClr>
          </a:solidFill>
          <a:ln w="19050">
            <a:solidFill>
              <a:srgbClr val="8B9D8B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106674" y="1328738"/>
            <a:ext cx="83565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"它说的就是我"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20176" y="1213009"/>
            <a:ext cx="60864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情绪共鸣高峰</a:t>
            </a:r>
          </a:p>
        </p:txBody>
      </p:sp>
      <p:sp>
        <p:nvSpPr>
          <p:cNvPr id="27" name="Ellipse 27"/>
          <p:cNvSpPr/>
          <p:nvPr/>
        </p:nvSpPr>
        <p:spPr>
          <a:xfrm>
            <a:off x="6877050" y="1638300"/>
            <a:ext cx="152400" cy="152400"/>
          </a:xfrm>
          <a:prstGeom prst="ellipse">
            <a:avLst/>
          </a:prstGeom>
          <a:solidFill>
            <a:srgbClr val="F5E6B8">
              <a:alpha val="30000"/>
            </a:srgbClr>
          </a:solidFill>
          <a:ln w="19050">
            <a:solidFill>
              <a:srgbClr val="B8845A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713696" y="1519238"/>
            <a:ext cx="479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拆箱时刻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21816" y="1403509"/>
            <a:ext cx="66286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雾人+第一封信</a:t>
            </a:r>
          </a:p>
        </p:txBody>
      </p:sp>
      <p:sp>
        <p:nvSpPr>
          <p:cNvPr id="30" name="Ellipse 30"/>
          <p:cNvSpPr/>
          <p:nvPr/>
        </p:nvSpPr>
        <p:spPr>
          <a:xfrm>
            <a:off x="8515350" y="1800225"/>
            <a:ext cx="114300" cy="114300"/>
          </a:xfrm>
          <a:prstGeom prst="ellipse">
            <a:avLst/>
          </a:prstGeom>
          <a:solidFill>
            <a:srgbClr val="F5F0E8"/>
          </a:solidFill>
          <a:ln w="19050">
            <a:solidFill>
              <a:srgbClr val="7B7B8E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8343900" y="2014538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加入社群</a:t>
            </a:r>
          </a:p>
        </p:txBody>
      </p:sp>
      <p:sp>
        <p:nvSpPr>
          <p:cNvPr id="32" name="Ellipse 32"/>
          <p:cNvSpPr/>
          <p:nvPr/>
        </p:nvSpPr>
        <p:spPr>
          <a:xfrm>
            <a:off x="10229850" y="1752600"/>
            <a:ext cx="114300" cy="114300"/>
          </a:xfrm>
          <a:prstGeom prst="ellipse">
            <a:avLst/>
          </a:prstGeom>
          <a:solidFill>
            <a:srgbClr val="F5F0E8"/>
          </a:solidFill>
          <a:ln w="19050">
            <a:solidFill>
              <a:srgbClr val="7B7B8E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058400" y="1614488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日常陪伴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262188" y="506253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深夜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167188" y="506253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405438" y="506253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共鸣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834188" y="506253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购买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453438" y="506253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社群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167938" y="506253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陪伴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5429250"/>
            <a:ext cx="11049000" cy="6858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47712" y="5545931"/>
            <a:ext cx="26336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品牌关键接触点：三个"情绪峰值"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0570" y="5808345"/>
            <a:ext cx="77058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① "它说的就是我"时刻（内容驱动共鸣）→ 这是购买决策的核心触发点 ② 拆箱+第一封信（产品体验高峰）→ "原来它真的有话对我说"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50570" y="5979795"/>
            <a:ext cx="38347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③ 加入社群收到"欢迎信"（社群归属感）→ 从"消费者"变成"岛民"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457622" y="6681788"/>
            <a:ext cx="1724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314325"/>
            <a:ext cx="38680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消费者旅程：阿哲的"退坑→回归"路径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98170"/>
            <a:ext cx="25597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退坑不是"不喜欢了"——是"和品牌没话说了"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96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3429000" cy="2667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047750"/>
            <a:ext cx="3429000" cy="38100"/>
          </a:xfrm>
          <a:prstGeom prst="rect">
            <a:avLst/>
          </a:prstGeom>
          <a:solidFill>
            <a:srgbClr val="B8845A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536609" y="1219200"/>
            <a:ext cx="149878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Phase 1：退坑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42218" y="1503045"/>
            <a:ext cx="10875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"和品牌没话说了"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9148" y="1863566"/>
            <a:ext cx="14126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退坑原因一：角色不说话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9148" y="2054066"/>
            <a:ext cx="20271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拆完盲盒→拍照片→放回盒子→角色沉默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9148" y="2225516"/>
            <a:ext cx="24307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品牌没说角色是谁、它怎么生活、它今天怎样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9148" y="2530316"/>
            <a:ext cx="135569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退坑原因二：内容=广告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9148" y="2720816"/>
            <a:ext cx="1665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品牌推送=新品上市/促销/联名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9148" y="2892266"/>
            <a:ext cx="24548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没有"我想看"的内容，只有"品牌想卖"的内容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9148" y="3197066"/>
            <a:ext cx="14126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退坑原因三：无情感连接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9148" y="3387566"/>
            <a:ext cx="22018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"买的时候是因为好看，放着就只是摆件"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84736" y="2202180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381500" y="1047750"/>
            <a:ext cx="3429000" cy="2667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4381500" y="1047750"/>
            <a:ext cx="3429000" cy="38100"/>
          </a:xfrm>
          <a:prstGeom prst="rect">
            <a:avLst/>
          </a:prstGeom>
          <a:solidFill>
            <a:srgbClr val="9E9EAD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202841" y="1219200"/>
            <a:ext cx="178631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Phase 2：空窗期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43776" y="1503045"/>
            <a:ext cx="1304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2-6个月——品牌未察觉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09148" y="1863566"/>
            <a:ext cx="18524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阿哲没有"主动离开"——他只是慢慢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09148" y="2054066"/>
            <a:ext cx="20693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不再关注品牌公众号、不再点开推送。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09148" y="2387441"/>
            <a:ext cx="21054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他没有"换品牌"——他是"不再买潮玩"。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09148" y="2720816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关键发现：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609148" y="2911316"/>
            <a:ext cx="18524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品牌看不到退坑——因为没有"取关"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609148" y="3101816"/>
            <a:ext cx="13584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动作，只有"不再打开"。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09148" y="3387566"/>
            <a:ext cx="16897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→ 内容打开率下降就是退坑信号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794736" y="2202180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191500" y="1047750"/>
            <a:ext cx="3429000" cy="2667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8191500" y="1047750"/>
            <a:ext cx="342900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897826" y="1219200"/>
            <a:ext cx="201634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Phase 3：回归触发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76325" y="1503045"/>
            <a:ext cx="16593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"刺刺手记 Day 47"击中了他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19148" y="1863566"/>
            <a:ext cx="115959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触发一：被内容击中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419148" y="2054066"/>
            <a:ext cx="17319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室友转发一条"刺刺手记"给他——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419148" y="2225516"/>
            <a:ext cx="11174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"你好像也是这样的"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419148" y="2530316"/>
            <a:ext cx="12987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触发二：被朋友"看见"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19148" y="2720816"/>
            <a:ext cx="161144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朋友说"这说的不就是你吗"——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19148" y="2892266"/>
            <a:ext cx="2081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角色内容成了朋友之间的"社交翻译器"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19148" y="3197066"/>
            <a:ext cx="15517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触发三：角色在持续"说话"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19148" y="3387566"/>
            <a:ext cx="21054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翻历史内容——发现刺刺已经"说"了47天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19148" y="3559016"/>
            <a:ext cx="20632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→ 下单刺刺，这次不只是"买一个摆件"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3952875"/>
            <a:ext cx="11049000" cy="1143000"/>
          </a:xfrm>
          <a:prstGeom prst="rect">
            <a:avLst/>
          </a:prstGeom>
          <a:solidFill>
            <a:srgbClr val="3C3C5C">
              <a:alpha val="5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746760" y="4109085"/>
            <a:ext cx="37477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品牌应对策略：让"退坑"变"换一个角色进来"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50570" y="4379595"/>
            <a:ext cx="75612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策略一：持续内容输出 → 即使用户暂时不买，角色还在每天"说话"。当用户某一天需要一个"懂他的角色"时，刺刺已经在等他了。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50570" y="4589145"/>
            <a:ext cx="72983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策略二：社交传播设计 → "这说的不是你吗？"是比任何广告都强的唤醒信号。内容让用户容易"转发给朋友"，完成社交裂变。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50570" y="4798695"/>
            <a:ext cx="67725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策略三：角色生态 → 五个角色覆盖五种情绪状态。用户可能在某个阶段和"雾人"共鸣，在另一个阶段被"刺刺"击中。</a:t>
            </a:r>
          </a:p>
        </p:txBody>
      </p:sp>
      <p:sp>
        <p:nvSpPr>
          <p:cNvPr id="49" name="Rectangle 49"/>
          <p:cNvSpPr/>
          <p:nvPr/>
        </p:nvSpPr>
        <p:spPr>
          <a:xfrm>
            <a:off x="571500" y="5286375"/>
            <a:ext cx="3524250" cy="571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1701117" y="5427345"/>
            <a:ext cx="12650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岛屿来信的留存策略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81910" y="5636895"/>
            <a:ext cx="23034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不是"再买一个" → 是"再认识一个角色"</a:t>
            </a:r>
          </a:p>
        </p:txBody>
      </p:sp>
      <p:sp>
        <p:nvSpPr>
          <p:cNvPr id="52" name="Rectangle 52"/>
          <p:cNvSpPr/>
          <p:nvPr/>
        </p:nvSpPr>
        <p:spPr>
          <a:xfrm>
            <a:off x="4333875" y="5286375"/>
            <a:ext cx="3524250" cy="571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5011486" y="5427345"/>
            <a:ext cx="21690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关键KPI：内容触达率 &gt; 销售转化率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822698" y="5636895"/>
            <a:ext cx="25466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用户可以不买——但不能"不看到"角色的日常</a:t>
            </a:r>
          </a:p>
        </p:txBody>
      </p:sp>
      <p:sp>
        <p:nvSpPr>
          <p:cNvPr id="55" name="Rectangle 55"/>
          <p:cNvSpPr/>
          <p:nvPr/>
        </p:nvSpPr>
        <p:spPr>
          <a:xfrm>
            <a:off x="8096250" y="5286375"/>
            <a:ext cx="3524250" cy="571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9501902" y="542734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反常识洞察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512778" y="5636895"/>
            <a:ext cx="26911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降低购买频率 → 提高内容频率 → 增加终身价值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1457622" y="6681788"/>
            <a:ext cx="1724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1556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SWOT 内部诊断：优势与劣势的深度拆解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29540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不是"我们行不行"——是"我们哪里行、哪里需要补"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Line 6"/>
          <p:cNvSpPr/>
          <p:nvPr/>
        </p:nvSpPr>
        <p:spPr>
          <a:xfrm>
            <a:off x="6096000" y="952500"/>
            <a:ext cx="9525" cy="5334000"/>
          </a:xfrm>
          <a:custGeom>
            <a:avLst/>
            <a:gdLst/>
            <a:ahLst/>
            <a:cxnLst/>
            <a:rect l="l" t="t" r="r" b="b"/>
            <a:pathLst>
              <a:path w="9525" h="5334000">
                <a:moveTo>
                  <a:pt x="0" y="0"/>
                </a:moveTo>
                <a:lnTo>
                  <a:pt x="0" y="5334000"/>
                </a:lnTo>
              </a:path>
            </a:pathLst>
          </a:custGeom>
          <a:noFill/>
          <a:ln w="9525">
            <a:solidFill>
              <a:srgbClr val="D5D0C8"/>
            </a:solidFill>
          </a:ln>
        </p:spPr>
      </p:sp>
      <p:sp>
        <p:nvSpPr>
          <p:cNvPr id="7" name="Line 7"/>
          <p:cNvSpPr/>
          <p:nvPr/>
        </p:nvSpPr>
        <p:spPr>
          <a:xfrm>
            <a:off x="571500" y="3619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5D0C8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844540" y="8158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内部因素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44540" y="63403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外部因素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2415" y="3578066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有利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19522" y="3578066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不利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66750" y="1000125"/>
            <a:ext cx="5286375" cy="25241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38200" y="1123950"/>
            <a:ext cx="190133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S 优势 Strengths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6772" y="1415891"/>
            <a:ext cx="15993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我们有什么"别人拿不走的"？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5820" y="1693545"/>
            <a:ext cx="25663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原创IP矩阵（5个角色×完整人格×世界观）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5820" y="1922145"/>
            <a:ext cx="22508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"角色即内容创作者"的独特内容模型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5820" y="2150745"/>
            <a:ext cx="21785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创始人陈望舒的内容能力+插画背景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5820" y="2379345"/>
            <a:ext cx="1987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清晰的品牌定位："情绪翻译者"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5820" y="2607945"/>
            <a:ext cx="23362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59-79元价格带的结构性空白先发优势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6772" y="2863691"/>
            <a:ext cx="22861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→ 核心资产：IP世界观+内容能力+情感定位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38875" y="1000125"/>
            <a:ext cx="5286375" cy="25241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10325" y="1123950"/>
            <a:ext cx="211986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B8845A"/>
                </a:solidFill>
                <a:latin typeface="Georgia"/>
                <a:ea typeface="KaiTi"/>
                <a:cs typeface="Georgia"/>
              </a:rPr>
              <a:t>W 劣势 Weaknesses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18898" y="1415891"/>
            <a:ext cx="19488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我们缺什么？什么是我们必须补的？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17945" y="1693545"/>
            <a:ext cx="18696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资金有限（Year 1预算150万）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17945" y="1922145"/>
            <a:ext cx="23691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团队小，多角色内容生产存在产能瓶颈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17945" y="2150745"/>
            <a:ext cx="23691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无实体生产经验，供应链需要从零搭建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17945" y="2379345"/>
            <a:ext cx="19748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品牌新，无用户基础和口碑积累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17945" y="2607945"/>
            <a:ext cx="22508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渠道为零——从众筹开始，无零售资源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18898" y="2863691"/>
            <a:ext cx="19608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→ 核心短板：资源×产能×渠道 = 三缺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66750" y="3733800"/>
            <a:ext cx="5286375" cy="25241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38200" y="3857625"/>
            <a:ext cx="238439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BA4B5"/>
                </a:solidFill>
                <a:latin typeface="Georgia"/>
                <a:ea typeface="KaiTi"/>
                <a:cs typeface="Georgia"/>
              </a:rPr>
              <a:t>O 机会 Opportunities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6772" y="4149566"/>
            <a:ext cx="17078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外部环境的哪些变化在帮我们？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45820" y="4427220"/>
            <a:ext cx="28883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独居经济1.25亿人口，情绪消费成为第一驱动力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5820" y="4655820"/>
            <a:ext cx="24283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潮玩市场CAGR 15%+，但情绪向品类空白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5820" y="4884420"/>
            <a:ext cx="18236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AI内容工具降低图文创作门槛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45820" y="5113020"/>
            <a:ext cx="26451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心理健康去污名化，"情绪价值"成日常词汇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45820" y="5341620"/>
            <a:ext cx="26320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小红书等平台对优质内容创作者的流量扶持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46772" y="5625941"/>
            <a:ext cx="18222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→ 外部环境对"情绪品牌"高度友好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238875" y="3733800"/>
            <a:ext cx="5286375" cy="25241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410325" y="3857625"/>
            <a:ext cx="16483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B8845A"/>
                </a:solidFill>
                <a:latin typeface="Georgia"/>
                <a:ea typeface="KaiTi"/>
                <a:cs typeface="Georgia"/>
              </a:rPr>
              <a:t>T 威胁 Threats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418898" y="4149566"/>
            <a:ext cx="12258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什么可能让我们失败？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417945" y="4427220"/>
            <a:ext cx="303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泡泡玛特/52TOYS推出情绪向子品牌（巨头下探）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417945" y="4655820"/>
            <a:ext cx="23100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众筹失败/产品品质问题导致首秀翻车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417945" y="4884420"/>
            <a:ext cx="25005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内容策略成本高于预期，内容产出跟不上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17945" y="5113020"/>
            <a:ext cx="18433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仿冒品快速跟进，侵蚀价格带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417945" y="5341620"/>
            <a:ext cx="25005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经济下行期消费者大幅削减非必需品支出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418898" y="5625941"/>
            <a:ext cx="19970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→ 最大风险：巨头下探+内容产能不足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880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TOWS 交叉策略矩阵：SO/ST/WO/WT 四格策略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3747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不是"SWOT的另一种写法"——是"SWOT之后，我们做什么"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Line 6"/>
          <p:cNvSpPr/>
          <p:nvPr/>
        </p:nvSpPr>
        <p:spPr>
          <a:xfrm>
            <a:off x="6096000" y="952500"/>
            <a:ext cx="9525" cy="5048250"/>
          </a:xfrm>
          <a:custGeom>
            <a:avLst/>
            <a:gdLst/>
            <a:ahLst/>
            <a:cxnLst/>
            <a:rect l="l" t="t" r="r" b="b"/>
            <a:pathLst>
              <a:path w="9525" h="5048250">
                <a:moveTo>
                  <a:pt x="0" y="0"/>
                </a:moveTo>
                <a:lnTo>
                  <a:pt x="0" y="5048250"/>
                </a:lnTo>
              </a:path>
            </a:pathLst>
          </a:custGeom>
          <a:noFill/>
          <a:ln w="9525">
            <a:solidFill>
              <a:srgbClr val="D5D0C8"/>
            </a:solidFill>
          </a:ln>
        </p:spPr>
      </p:sp>
      <p:sp>
        <p:nvSpPr>
          <p:cNvPr id="7" name="Line 7"/>
          <p:cNvSpPr/>
          <p:nvPr/>
        </p:nvSpPr>
        <p:spPr>
          <a:xfrm>
            <a:off x="571500" y="34766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5D0C8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66750" y="1000125"/>
            <a:ext cx="5286375" cy="2381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666750" y="1000125"/>
            <a:ext cx="5286375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40105" y="1140142"/>
            <a:ext cx="1193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SO 攻击策略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6772" y="1415891"/>
            <a:ext cx="17198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用优势抓住机会——这是主攻方向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5820" y="1712595"/>
            <a:ext cx="2527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策略一：角色内容矩阵 × 小红书内容扶持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6772" y="1930241"/>
            <a:ext cx="57623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用5个角色的每日内容占据"情绪消费"搜索心智。首批集中在小红书，利用平台对优质原创内容的流量倾斜。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5820" y="2207895"/>
            <a:ext cx="24036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策略二：69元首款 × 独居经济黄金窗口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6772" y="2425541"/>
            <a:ext cx="594310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雾人"晨雾"系列作为品牌第一封信，切入1.25亿独居人口的桌面空白。不做大而全，做"第一个被记住的角色"。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5820" y="2703195"/>
            <a:ext cx="28039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策略三：情绪翻译者定位 × 心理健康去污名化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6772" y="2920841"/>
            <a:ext cx="43827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在"情绪价值"成为日常词汇的窗口期，率先占据"情绪翻译者"这个品类心智位置。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38875" y="1000125"/>
            <a:ext cx="5286375" cy="2381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238875" y="1000125"/>
            <a:ext cx="5286375" cy="38100"/>
          </a:xfrm>
          <a:prstGeom prst="rect">
            <a:avLst/>
          </a:prstGeom>
          <a:solidFill>
            <a:srgbClr val="B8845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412230" y="1140142"/>
            <a:ext cx="11522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B8845A"/>
                </a:solidFill>
                <a:latin typeface="Georgia"/>
                <a:ea typeface="KaiTi"/>
                <a:cs typeface="Georgia"/>
              </a:rPr>
              <a:t>ST 防御策略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18898" y="1415891"/>
            <a:ext cx="14788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用优势化解威胁——建护城河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17945" y="1712595"/>
            <a:ext cx="29350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策略一：用"内容深度"建立巨头难以复制的壁垒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18898" y="1930241"/>
            <a:ext cx="63226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巨头可以做产品，但很难持续生产"角色视角"的深度内容。内容是我们的不对称优势——巨头不愿意每天写"雾人日记"。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17945" y="2207895"/>
            <a:ext cx="22449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策略二：用"社群共创"锁定核心用户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18898" y="2425541"/>
            <a:ext cx="35453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让首批用户成为"角色故事的共同创作者"，情感绑定 &gt; 产品绑定。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17945" y="2703195"/>
            <a:ext cx="2106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策略三：用"不打折"维护品牌价值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18898" y="2920841"/>
            <a:ext cx="40453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在经济下行期，用"不打折"建立品质信任——69元本身就是"抗降价"的定价。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66750" y="3571875"/>
            <a:ext cx="5286375" cy="2381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666750" y="3571875"/>
            <a:ext cx="5286375" cy="38100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840105" y="3711892"/>
            <a:ext cx="12350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BA4B5"/>
                </a:solidFill>
                <a:latin typeface="Georgia"/>
                <a:ea typeface="KaiTi"/>
                <a:cs typeface="Georgia"/>
              </a:rPr>
              <a:t>WO 补强策略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6772" y="3987641"/>
            <a:ext cx="13584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用机会弥补劣势——借外力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5820" y="4284345"/>
            <a:ext cx="26382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策略一：用众筹解决"从0到1"的资金和验证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46772" y="4501991"/>
            <a:ext cx="461167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众筹不只是拿钱——是验证产品需求、积累第一批种子用户、为后续渠道谈判积累数据。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5820" y="4779645"/>
            <a:ext cx="22104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策略二：用AI工具弥补内容产能不足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6772" y="4997291"/>
            <a:ext cx="42863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Midjourney/GPT辅助角色内容生成，把创始人从执行中解放出来做策略和品控。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45820" y="5274945"/>
            <a:ext cx="23967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策略三：用"角色内容"替代"渠道推力"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46772" y="5492591"/>
            <a:ext cx="47201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没有渠道预算时，内容是唯一的获客工具。让内容驱动自传播，而不是靠渠道费买流量。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238875" y="3571875"/>
            <a:ext cx="5286375" cy="2381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6238875" y="3571875"/>
            <a:ext cx="5286375" cy="38100"/>
          </a:xfrm>
          <a:prstGeom prst="rect">
            <a:avLst/>
          </a:prstGeom>
          <a:solidFill>
            <a:srgbClr val="9E9EAD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412230" y="3711892"/>
            <a:ext cx="1193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9E9EAD"/>
                </a:solidFill>
                <a:latin typeface="Georgia"/>
                <a:ea typeface="KaiTi"/>
                <a:cs typeface="Georgia"/>
              </a:rPr>
              <a:t>WT 避险策略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418898" y="3987641"/>
            <a:ext cx="1665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最小化劣势×威胁的伤害——保命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417945" y="4284345"/>
            <a:ext cx="23967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策略一：不做全品类——只做"一个角色"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418898" y="4501991"/>
            <a:ext cx="50695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Year 1只推雾人——降低供应链复杂度、内容生产压力、资金分散风险。等雾人站稳再推第二个。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417945" y="4779645"/>
            <a:ext cx="22449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策略二：不做全渠道——先直营再扩展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18898" y="4997291"/>
            <a:ext cx="41959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众筹→微信小程序→精选零售→自有邮局。每个阶段只做一个渠道，做好再扩展。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417945" y="5274945"/>
            <a:ext cx="21828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策略三：永远保留"3个月资金缓冲"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418898" y="5492591"/>
            <a:ext cx="39971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150万预算中预留15%作为风险缓冲金——"在产品验证之前，不把子弹打光"。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58165" y="6125528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交叉验证：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61022" y="6340316"/>
            <a:ext cx="79312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SO（攻击）和 WO（补强）是 Year 1 的主旋律——用内容优势和外部机会快速建立品牌认知。ST（防御）从 Year 2 开始布局。WT（避险）贯穿始终。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457622" y="6681788"/>
            <a:ext cx="1724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0545" y="298132"/>
            <a:ext cx="28252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生态位结论：情绪翻译者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9118" y="609124"/>
            <a:ext cx="36844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生态位 = 市场空白 ∩ 用户需求 ∩ 自身能力 = "情绪翻译者"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382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Ellipse 6"/>
          <p:cNvSpPr/>
          <p:nvPr/>
        </p:nvSpPr>
        <p:spPr>
          <a:xfrm>
            <a:off x="3524250" y="1238250"/>
            <a:ext cx="3238500" cy="3238500"/>
          </a:xfrm>
          <a:prstGeom prst="ellipse">
            <a:avLst/>
          </a:prstGeom>
          <a:solidFill>
            <a:srgbClr val="7B7B8E">
              <a:alpha val="8000"/>
            </a:srgbClr>
          </a:solidFill>
          <a:ln w="9525">
            <a:solidFill>
              <a:srgbClr val="7B7B8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4712303" y="11877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7B7B8E"/>
                </a:solidFill>
                <a:latin typeface="Georgia"/>
                <a:ea typeface="KaiTi"/>
                <a:cs typeface="Georgia"/>
              </a:rPr>
              <a:t>市场空白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91764" y="1462088"/>
            <a:ext cx="11034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59-79元 × 高内容深度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04040" y="1614488"/>
            <a:ext cx="87891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× 完整情绪世界观</a:t>
            </a:r>
          </a:p>
        </p:txBody>
      </p:sp>
      <p:sp>
        <p:nvSpPr>
          <p:cNvPr id="10" name="Ellipse 10"/>
          <p:cNvSpPr/>
          <p:nvPr/>
        </p:nvSpPr>
        <p:spPr>
          <a:xfrm>
            <a:off x="5429250" y="1238250"/>
            <a:ext cx="3238500" cy="3238500"/>
          </a:xfrm>
          <a:prstGeom prst="ellipse">
            <a:avLst/>
          </a:prstGeom>
          <a:solidFill>
            <a:srgbClr val="8B9D8B">
              <a:alpha val="8000"/>
            </a:srgbClr>
          </a:solidFill>
          <a:ln w="9525">
            <a:solidFill>
              <a:srgbClr val="8B9D8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17303" y="11877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用户需求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02147" y="1462088"/>
            <a:ext cx="69270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被理解 &gt; 拥有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17350" y="1614488"/>
            <a:ext cx="126230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角色"说话" &gt; 角色"好看"</a:t>
            </a:r>
          </a:p>
        </p:txBody>
      </p:sp>
      <p:sp>
        <p:nvSpPr>
          <p:cNvPr id="14" name="Ellipse 14"/>
          <p:cNvSpPr/>
          <p:nvPr/>
        </p:nvSpPr>
        <p:spPr>
          <a:xfrm>
            <a:off x="4476750" y="2571750"/>
            <a:ext cx="3238500" cy="3238500"/>
          </a:xfrm>
          <a:prstGeom prst="ellipse">
            <a:avLst/>
          </a:prstGeom>
          <a:solidFill>
            <a:srgbClr val="7BA4B5">
              <a:alpha val="8000"/>
            </a:srgbClr>
          </a:solidFill>
          <a:ln w="9525">
            <a:solidFill>
              <a:srgbClr val="7BA4B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664803" y="58550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7BA4B5"/>
                </a:solidFill>
                <a:latin typeface="Georgia"/>
                <a:ea typeface="KaiTi"/>
                <a:cs typeface="Georgia"/>
              </a:rPr>
              <a:t>自身能力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31988" y="6129338"/>
            <a:ext cx="132802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原创IP+内容能力+品牌定位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727740" y="6281738"/>
            <a:ext cx="73652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插画+文字双驱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59088" y="3472815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生态位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99284" y="3839528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情绪翻译者</a:t>
            </a:r>
          </a:p>
        </p:txBody>
      </p:sp>
      <p:sp>
        <p:nvSpPr>
          <p:cNvPr id="20" name="Rectangle 20"/>
          <p:cNvSpPr/>
          <p:nvPr/>
        </p:nvSpPr>
        <p:spPr>
          <a:xfrm>
            <a:off x="9144000" y="1000125"/>
            <a:ext cx="2476500" cy="5048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319260" y="115633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品牌定义</a:t>
            </a:r>
          </a:p>
        </p:txBody>
      </p:sp>
      <p:sp>
        <p:nvSpPr>
          <p:cNvPr id="22" name="Line 22"/>
          <p:cNvSpPr/>
          <p:nvPr/>
        </p:nvSpPr>
        <p:spPr>
          <a:xfrm>
            <a:off x="9334500" y="14097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324022" y="1577816"/>
            <a:ext cx="14909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岛屿来信是"情绪翻译者"——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24022" y="1815941"/>
            <a:ext cx="13463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我们把用户说不清的情绪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324022" y="2054066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翻译成具体的角色。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24022" y="2435066"/>
            <a:ext cx="10330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五个维度溯源验证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324022" y="2720816"/>
            <a:ext cx="7619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1. 需求真吗？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24975" y="2938462"/>
            <a:ext cx="170045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✓ 1.25亿独居+情绪消费第一驱动力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24022" y="3168491"/>
            <a:ext cx="7920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2. 空白大吗？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24975" y="3386138"/>
            <a:ext cx="156900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✓ 59-79元×高内容深度的空白带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24022" y="3616166"/>
            <a:ext cx="7920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3. 能吃下吗？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24975" y="3833812"/>
            <a:ext cx="142660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✓ 内容能力是核心不对称优势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24022" y="4063841"/>
            <a:ext cx="7920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4. 可持续吗？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324975" y="4281488"/>
            <a:ext cx="11582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✓ 内容护城河+社群共创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24022" y="4511516"/>
            <a:ext cx="9125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5. 窗口期多久？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24975" y="4729162"/>
            <a:ext cx="161829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✓ 2-3年——三重社会信号首次叠加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324022" y="5102066"/>
            <a:ext cx="115959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结论：生态位成立。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324022" y="5321141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五维验证全部通过。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24022" y="5530691"/>
            <a:ext cx="864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进入 Phase 2——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324022" y="5740241"/>
            <a:ext cx="14668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基于生态位构建品牌身份。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8640" y="329565"/>
            <a:ext cx="36617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Part 1 小结：我们知道了什么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9118" y="656749"/>
            <a:ext cx="32500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发现价值——从宏观环境到生态位结论的5条关键洞察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953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143000"/>
            <a:ext cx="11049000" cy="8096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90575" y="1247775"/>
            <a:ext cx="2243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1105" y="1263968"/>
            <a:ext cx="30672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三重社会信号叠加，窗口期2-3年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6820" y="1569720"/>
            <a:ext cx="66345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独居经济 × 情绪消费第一驱动力 × 心理健康去污名化，三个独立信号首次在同窗口叠加。不是风口，是代际变迁。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7772" y="1768316"/>
            <a:ext cx="33043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所以呢 → 现在进入，时机最有利。等2年再做，成本至少3倍。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095500"/>
            <a:ext cx="11049000" cy="8096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90575" y="2200275"/>
            <a:ext cx="2790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1105" y="2216468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四梯队战略集团地图上存在结构性空白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6820" y="2522220"/>
            <a:ext cx="73837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59-79元的价格带 × 高内容深度 × 完整情绪世界观——10家竞品无人占据。泡泡玛特们有产能无深度，独立艺术家有深度无产能。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27772" y="2720816"/>
            <a:ext cx="44008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所以呢 → 不做"更好"，做"不同"。岛屿来信的位置是新品类，不是竞品的优化版。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3048000"/>
            <a:ext cx="11049000" cy="8096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90575" y="3152775"/>
            <a:ext cx="2790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1105" y="3168968"/>
            <a:ext cx="39677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四个用户画像指向同一个核心需求：被理解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26820" y="3474720"/>
            <a:ext cx="63387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小夏的"凌晨3点"、阿哲的"精神离职"、小念的"还不够"、大刘的"我想说但不会说"——四种痛，同一个解法。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7772" y="3673316"/>
            <a:ext cx="36658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所以呢 → "情绪翻译者"这个定位同时覆盖购买者和送礼者两个市场。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4000500"/>
            <a:ext cx="11049000" cy="8096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90575" y="4105275"/>
            <a:ext cx="2790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21105" y="4121468"/>
            <a:ext cx="34709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SWOT揭示核心不对称优势：内容能力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26820" y="4427220"/>
            <a:ext cx="70288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资金/产能/渠道是我们不如巨头的地方。但"每天用角色视角写一篇日记"——这是巨头做不了、不愿意做、也做不像的事。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27772" y="4625816"/>
            <a:ext cx="499121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所以呢 → 内容不是营销手段，是核心产品。把内容能力用到极致，这是我们的"不公平优势"。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4953000"/>
            <a:ext cx="11049000" cy="8096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90575" y="5057775"/>
            <a:ext cx="2790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05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21105" y="5073968"/>
            <a:ext cx="23115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生态位确认：情绪翻译者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26820" y="5379720"/>
            <a:ext cx="68054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生态位 = 市场空白 ∩ 用户需求 ∩ 自身能力。五维验证全部通过。岛屿来信 = 把用户说不清的情绪翻译成具体的角色。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27772" y="5578316"/>
            <a:ext cx="35874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所以呢 → 进入 Part 2——这个生态位需要什么样的品牌身份来占据？</a:t>
            </a:r>
          </a:p>
        </p:txBody>
      </p:sp>
      <p:sp>
        <p:nvSpPr>
          <p:cNvPr id="31" name="Line 31"/>
          <p:cNvSpPr/>
          <p:nvPr/>
        </p:nvSpPr>
        <p:spPr>
          <a:xfrm>
            <a:off x="571500" y="5953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249501" y="6093142"/>
            <a:ext cx="56929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Part 1 完成 → 进入 Part 2：创造价值——基于生态位构建品牌身份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1875" r="0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1905000"/>
          </a:xfrm>
          <a:prstGeom prst="rect">
            <a:avLst/>
          </a:prstGeom>
          <a:gradFill>
            <a:gsLst>
              <a:gs pos="0">
                <a:srgbClr val="3C3C5C">
                  <a:alpha val="30000"/>
                </a:srgbClr>
              </a:gs>
              <a:gs pos="100000">
                <a:srgbClr val="3C3C5C">
                  <a:alpha val="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619500"/>
            <a:ext cx="12192000" cy="3238500"/>
          </a:xfrm>
          <a:prstGeom prst="rect">
            <a:avLst/>
          </a:prstGeom>
          <a:gradFill>
            <a:gsLst>
              <a:gs pos="0">
                <a:srgbClr val="3C3C5C">
                  <a:alpha val="0"/>
                </a:srgbClr>
              </a:gs>
              <a:gs pos="50000">
                <a:srgbClr val="3C3C5C">
                  <a:alpha val="25000"/>
                </a:srgbClr>
              </a:gs>
              <a:gs pos="100000">
                <a:srgbClr val="3C3C5C">
                  <a:alpha val="55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5334000" y="29527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9525">
            <a:solidFill>
              <a:srgbClr val="8B9D8B">
                <a:alpha val="5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080730" y="3425190"/>
            <a:ext cx="203053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D5D0C8"/>
                </a:solidFill>
                <a:latin typeface="Georgia"/>
                <a:ea typeface="KaiTi"/>
                <a:cs typeface="Georgia"/>
              </a:rPr>
              <a:t>"生态位找到了。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40500" y="3806190"/>
            <a:ext cx="571099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D5D0C8"/>
                </a:solidFill>
                <a:latin typeface="Georgia"/>
                <a:ea typeface="KaiTi"/>
                <a:cs typeface="Georgia"/>
              </a:rPr>
              <a:t>现在，这个位置需要一个什么样的品牌来占据？"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40070" y="4471035"/>
            <a:ext cx="311186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5F0E8"/>
                </a:solidFill>
                <a:latin typeface="Georgia"/>
                <a:ea typeface="KaiTi"/>
                <a:cs typeface="Georgia"/>
              </a:rPr>
              <a:t>Part 2 创造价值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16830" y="501396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基于生态位构建品牌身份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51217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定位方法决策树：四问推导——为什么是情感价值型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8741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不是"我们想做什么品牌"——是"生态位需要什么类型的品牌来占据"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905000" y="1047750"/>
            <a:ext cx="8382000" cy="6191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1905000" y="1047750"/>
            <a:ext cx="57150" cy="619125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175510" y="1184910"/>
            <a:ext cx="321407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第1问：这个品类有明确的领导品牌吗？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80272" y="1434941"/>
            <a:ext cx="46598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有——泡泡玛特是龙头（年营收60亿+，市占率约20%）。品类不是"无品牌认知"的状态。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06364" y="1292066"/>
            <a:ext cx="12861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品类占位型 ❌ 不适用</a:t>
            </a:r>
          </a:p>
        </p:txBody>
      </p:sp>
      <p:sp>
        <p:nvSpPr>
          <p:cNvPr id="11" name="Line 11"/>
          <p:cNvSpPr/>
          <p:nvPr/>
        </p:nvSpPr>
        <p:spPr>
          <a:xfrm>
            <a:off x="6096000" y="1666875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4288">
            <a:solidFill>
              <a:srgbClr val="9E9EAD"/>
            </a:solidFill>
          </a:ln>
        </p:spPr>
      </p:sp>
      <p:sp>
        <p:nvSpPr>
          <p:cNvPr id="12" name="Polygon 12"/>
          <p:cNvSpPr/>
          <p:nvPr/>
        </p:nvSpPr>
        <p:spPr>
          <a:xfrm>
            <a:off x="6048375" y="18669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9E9EAD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1905000" y="2000250"/>
            <a:ext cx="8382000" cy="6191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1905000" y="2000250"/>
            <a:ext cx="57150" cy="619125"/>
          </a:xfrm>
          <a:prstGeom prst="rect">
            <a:avLst/>
          </a:prstGeom>
          <a:solidFill>
            <a:srgbClr val="9E9EAD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175510" y="2137410"/>
            <a:ext cx="38121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第2问：领导者有没有不可调和的结构性弱点？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80272" y="2387441"/>
            <a:ext cx="542498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泡泡玛特依赖盲盒机制+视觉驱动，角色不说话。但这不是"做不了"——是"没有做"，不是结构性弱点。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06364" y="2244566"/>
            <a:ext cx="12861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→ 竞争对立型 ❌ 不适用</a:t>
            </a:r>
          </a:p>
        </p:txBody>
      </p:sp>
      <p:sp>
        <p:nvSpPr>
          <p:cNvPr id="18" name="Line 18"/>
          <p:cNvSpPr/>
          <p:nvPr/>
        </p:nvSpPr>
        <p:spPr>
          <a:xfrm>
            <a:off x="6096000" y="2619375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4288">
            <a:solidFill>
              <a:srgbClr val="9E9EAD"/>
            </a:solidFill>
          </a:ln>
        </p:spPr>
      </p:sp>
      <p:sp>
        <p:nvSpPr>
          <p:cNvPr id="19" name="Polygon 19"/>
          <p:cNvSpPr/>
          <p:nvPr/>
        </p:nvSpPr>
        <p:spPr>
          <a:xfrm>
            <a:off x="6048375" y="28194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9E9EAD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1905000" y="2952750"/>
            <a:ext cx="8382000" cy="762000"/>
          </a:xfrm>
          <a:prstGeom prst="rect">
            <a:avLst/>
          </a:prstGeom>
          <a:solidFill>
            <a:srgbClr val="8B9D8B">
              <a:alpha val="8000"/>
            </a:srgbClr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1905000" y="2952750"/>
            <a:ext cx="57150" cy="7620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2175510" y="3108960"/>
            <a:ext cx="28920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第3问：品类功能是否严重同质化？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80272" y="3387566"/>
            <a:ext cx="709981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是——潮玩产品功能差异极小（都是PVC摆件），消费者选择困难。情感是未被满足的核心差异化维度。三顿半/观夏/Jellycat已验证。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990398" y="3284220"/>
            <a:ext cx="14030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情感价值型 ✅ 匹配！</a:t>
            </a:r>
          </a:p>
        </p:txBody>
      </p:sp>
      <p:sp>
        <p:nvSpPr>
          <p:cNvPr id="25" name="Line 25"/>
          <p:cNvSpPr/>
          <p:nvPr/>
        </p:nvSpPr>
        <p:spPr>
          <a:xfrm>
            <a:off x="6096000" y="3714750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9525">
            <a:solidFill>
              <a:srgbClr val="D5D0C8"/>
            </a:solidFill>
          </a:ln>
        </p:spPr>
      </p:sp>
      <p:sp>
        <p:nvSpPr>
          <p:cNvPr id="26" name="Polygon 26"/>
          <p:cNvSpPr/>
          <p:nvPr/>
        </p:nvSpPr>
        <p:spPr>
          <a:xfrm>
            <a:off x="6048375" y="39147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D5D0C8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1905000" y="4048125"/>
            <a:ext cx="8382000" cy="5238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1905000" y="4048125"/>
            <a:ext cx="57150" cy="523875"/>
          </a:xfrm>
          <a:prstGeom prst="rect">
            <a:avLst/>
          </a:prstGeom>
          <a:solidFill>
            <a:srgbClr val="D5D0C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2175510" y="4156710"/>
            <a:ext cx="56738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E9EAD"/>
                </a:solidFill>
                <a:latin typeface="Georgia"/>
                <a:ea typeface="KaiTi"/>
                <a:cs typeface="Georgia"/>
              </a:rPr>
              <a:t>第4问：目标用户是价值观驱动型消费者吗？（已不需要——第3问已确认）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180272" y="4387691"/>
            <a:ext cx="35814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可能有部分（环保/极简主义），但不是主流。不适用价值主张型。</a:t>
            </a:r>
          </a:p>
        </p:txBody>
      </p:sp>
      <p:sp>
        <p:nvSpPr>
          <p:cNvPr id="31" name="Rectangle 31"/>
          <p:cNvSpPr/>
          <p:nvPr/>
        </p:nvSpPr>
        <p:spPr>
          <a:xfrm>
            <a:off x="2857500" y="4857750"/>
            <a:ext cx="6477000" cy="904875"/>
          </a:xfrm>
          <a:prstGeom prst="rect">
            <a:avLst/>
          </a:prstGeom>
          <a:solidFill>
            <a:srgbClr val="3C3C5C">
              <a:alpha val="6000"/>
            </a:srgbClr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2857500" y="4857750"/>
            <a:ext cx="57150" cy="904875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556855" y="4965382"/>
            <a:ext cx="307828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定位方法确定：情感价值型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367361" y="5323999"/>
            <a:ext cx="54572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岛屿来信的生态位（59-79元 × 高内容深度 × 情绪世界观）天然适合情感价值型定位——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289393" y="5562124"/>
            <a:ext cx="36132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不是卖"一个好看的手办"，是卖"一个懂你情绪的角色"。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9147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情感价值型落地验证：三顿半 × 观夏 × Jellycat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2940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三个"情感价值型"品牌的真实走法——我们选哪条？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00125"/>
            <a:ext cx="3524250" cy="4762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000125"/>
            <a:ext cx="352425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969532" y="117157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三顿半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48086" y="1474470"/>
            <a:ext cx="17710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精品便捷化 + 美学 = 情感价值</a:t>
            </a:r>
          </a:p>
        </p:txBody>
      </p:sp>
      <p:sp>
        <p:nvSpPr>
          <p:cNvPr id="10" name="Line 10"/>
          <p:cNvSpPr/>
          <p:nvPr/>
        </p:nvSpPr>
        <p:spPr>
          <a:xfrm>
            <a:off x="809625" y="16954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99148" y="1863566"/>
            <a:ext cx="14487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咖啡市场功能同质化严重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9148" y="2082641"/>
            <a:ext cx="14728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不做"更好喝的咖啡"——做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9148" y="2292191"/>
            <a:ext cx="11174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"更有仪式感的咖啡"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9148" y="2558891"/>
            <a:ext cx="15813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迷你罐=视觉符号+社交货币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9148" y="2825591"/>
            <a:ext cx="17018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返航计划=回收仪式=情感绑定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9148" y="3149441"/>
            <a:ext cx="9065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岛屿来信借鉴：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9148" y="3387566"/>
            <a:ext cx="154516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"拼雾人"互动=返航计划式的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9148" y="3606641"/>
            <a:ext cx="14788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用户共创仪式——把产品使用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9148" y="3816191"/>
            <a:ext cx="864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变成社群事件。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9148" y="4149566"/>
            <a:ext cx="18301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路径：产品美学 → 仪式感 → 社群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333875" y="1000125"/>
            <a:ext cx="3524250" cy="4762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4333875" y="1000125"/>
            <a:ext cx="352425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225844" y="1171575"/>
            <a:ext cx="174031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观夏 To Summer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144738" y="1474470"/>
            <a:ext cx="19025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东方香氛 + 情感叙事 = 情感价值</a:t>
            </a:r>
          </a:p>
        </p:txBody>
      </p:sp>
      <p:sp>
        <p:nvSpPr>
          <p:cNvPr id="25" name="Line 25"/>
          <p:cNvSpPr/>
          <p:nvPr/>
        </p:nvSpPr>
        <p:spPr>
          <a:xfrm>
            <a:off x="4572000" y="16954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561522" y="1863566"/>
            <a:ext cx="13282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香氛市场国际品牌主导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61522" y="2082641"/>
            <a:ext cx="13523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不做"国际大牌平替"——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61522" y="2292191"/>
            <a:ext cx="14788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做"中国人自己的气味记忆"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61522" y="2558891"/>
            <a:ext cx="19006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"昆仑煮雪""颐和金桂"=故事载体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61522" y="2825591"/>
            <a:ext cx="16355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每款香=一篇可读的文学叙事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61522" y="3149441"/>
            <a:ext cx="9065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岛屿来信借鉴：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61522" y="3387566"/>
            <a:ext cx="16536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每个角色=一个情感叙事载体。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61522" y="3606641"/>
            <a:ext cx="12499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雾人不是"灰色小人"——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61522" y="3816191"/>
            <a:ext cx="13584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是"你今天早上的形状"。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61522" y="4149566"/>
            <a:ext cx="220967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路径：故事叙事 → 文化共鸣 → 身份认同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096250" y="1000125"/>
            <a:ext cx="3524250" cy="4762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8096250" y="1000125"/>
            <a:ext cx="3524250" cy="38100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390769" y="1171575"/>
            <a:ext cx="93521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Jellycat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907113" y="1474470"/>
            <a:ext cx="19025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成人情感陪伴 + 礼品 = 情感价值</a:t>
            </a:r>
          </a:p>
        </p:txBody>
      </p:sp>
      <p:sp>
        <p:nvSpPr>
          <p:cNvPr id="40" name="Line 40"/>
          <p:cNvSpPr/>
          <p:nvPr/>
        </p:nvSpPr>
        <p:spPr>
          <a:xfrm>
            <a:off x="8334375" y="16954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8323898" y="1863566"/>
            <a:ext cx="17018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毛绒玩具=儿童市场→成人市场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323898" y="2082641"/>
            <a:ext cx="15813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每个玩具有名字+生日+性格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323898" y="2292191"/>
            <a:ext cx="19126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"送一只Bartholomew熊"=送陪伴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323898" y="2558891"/>
            <a:ext cx="140660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成人消费者占比超过40%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323898" y="2825591"/>
            <a:ext cx="14728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■ 礼品市场占总销售额30%+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323898" y="3149441"/>
            <a:ext cx="9065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岛屿来信借鉴：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323898" y="3387566"/>
            <a:ext cx="17861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五个角色=五个有性格的"朋友"。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323898" y="3606641"/>
            <a:ext cx="154516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礼品场景=暖光礼盒+手写信=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323898" y="3816191"/>
            <a:ext cx="14788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"替我说出我说不出的话"。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323898" y="4149566"/>
            <a:ext cx="23361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路径：角色人格化 → 情感陪伴 → 礼品场景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5953125"/>
            <a:ext cx="11049000" cy="381000"/>
          </a:xfrm>
          <a:prstGeom prst="rect">
            <a:avLst/>
          </a:prstGeom>
          <a:solidFill>
            <a:srgbClr val="3C3C5C">
              <a:alpha val="5000"/>
            </a:srgbClr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2343745" y="6069806"/>
            <a:ext cx="75045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岛屿来信 = 三顿半的仪式设计 + 观夏的故事叙事能力 + Jellycat的角色人格化 × 中国年轻人的情绪词典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397159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品牌定位语：填表→压缩→检验三步推导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28094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定位语不是"写出来的"——是从生态位翻译过来的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00125"/>
            <a:ext cx="5334000" cy="1905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000125"/>
            <a:ext cx="533400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1140142"/>
            <a:ext cx="39884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第一步：填表——把生态位数据填入四个空格</a:t>
            </a:r>
          </a:p>
        </p:txBody>
      </p:sp>
      <p:sp>
        <p:nvSpPr>
          <p:cNvPr id="9" name="Line 9"/>
          <p:cNvSpPr/>
          <p:nvPr/>
        </p:nvSpPr>
        <p:spPr>
          <a:xfrm>
            <a:off x="762000" y="140970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50570" y="1569720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我是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665" y="155352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岛屿来信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0570" y="1807845"/>
            <a:ext cx="1543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9665" y="1791652"/>
            <a:ext cx="23614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18-35岁有情绪表达需求的年轻人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0570" y="2074545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提供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9665" y="2058352"/>
            <a:ext cx="31021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"会把情绪翻译成角色"的设计师玩具和内容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0570" y="2331720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不同于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9665" y="2315528"/>
            <a:ext cx="63386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只靠视觉驱动的潮玩，岛屿来信的每一个角色都会"说话"——有自己的性格、日常和来信。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096000" y="1000125"/>
            <a:ext cx="5524500" cy="1905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096000" y="1000125"/>
            <a:ext cx="552450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269355" y="1140142"/>
            <a:ext cx="31603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第二步：压缩——从填表版到口语版</a:t>
            </a:r>
          </a:p>
        </p:txBody>
      </p:sp>
      <p:sp>
        <p:nvSpPr>
          <p:cNvPr id="21" name="Line 21"/>
          <p:cNvSpPr/>
          <p:nvPr/>
        </p:nvSpPr>
        <p:spPr>
          <a:xfrm>
            <a:off x="6286500" y="140970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276022" y="1606391"/>
            <a:ext cx="13463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填表版（内部对齐用）：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75070" y="1826895"/>
            <a:ext cx="29212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"岛屿来信是为18-35岁有情绪表达需求的年轻人，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75070" y="2036445"/>
            <a:ext cx="33944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提供'会把情绪翻译成角色'的设计师玩具和内容的品牌。"</a:t>
            </a:r>
          </a:p>
        </p:txBody>
      </p:sp>
      <p:sp>
        <p:nvSpPr>
          <p:cNvPr id="25" name="Line 25"/>
          <p:cNvSpPr/>
          <p:nvPr/>
        </p:nvSpPr>
        <p:spPr>
          <a:xfrm>
            <a:off x="6286500" y="228600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276022" y="2435066"/>
            <a:ext cx="12921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压缩版（外部沟通用）→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271260" y="2651760"/>
            <a:ext cx="42078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岛屿来信 —— 让你的每一种情绪，都收到一封回信。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095625"/>
            <a:ext cx="11049000" cy="1095375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44855" y="3235642"/>
            <a:ext cx="21045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第三步：三把尺子检验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0570" y="3569970"/>
            <a:ext cx="73312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尺子一·可记忆 ✓ 11个字，一个意象（信）——用户听完能复述。 尺子二·可区分 ✓ 把"情绪翻译"和"潮玩品牌"做了清晰的切割。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0570" y="3808095"/>
            <a:ext cx="58393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尺子三·可落地 ✓ 品牌名+品类的压缩结构，适用于所有传播场景：官网首页、众筹页面、产品包装。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4381500"/>
            <a:ext cx="5334000" cy="762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50570" y="455104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替换测试：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0570" y="4779645"/>
            <a:ext cx="44131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把"岛屿来信"换成"泡泡玛特"——"让泡泡玛特的每一种情绪都收到一封回信"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50570" y="4970145"/>
            <a:ext cx="53660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不通。泡泡玛特的品牌=盲盒快乐，不是"情绪回信"。替换不成立 ✓ 定位语专属岛屿来信。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096000" y="4381500"/>
            <a:ext cx="5524500" cy="762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275070" y="455104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反向测试：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275070" y="4779645"/>
            <a:ext cx="38741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如果明天岛屿来信不卖手办，只卖"每封69元的信"——用户还买吗？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275070" y="4970145"/>
            <a:ext cx="43671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买。"信"是价值核心，角色是信的载体。定位语经得起"产品剥离"测试。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58165" y="54111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定位语即策略：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0070" y="5617845"/>
            <a:ext cx="111168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"让每一种情绪收到一封回信"——这句话里藏着三层策略：① "每一种情绪"=不做细分情绪筛选，覆盖全情绪光谱 ② "收到"=品牌从不说教，只回应 ③ "回信"=品牌的核心产品不是手办，是"信"。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0070" y="5855970"/>
            <a:ext cx="43605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产品是信的物理载体。内容是信的日常延续。社群是信在用户之间的传递。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40864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品牌价值画布：从用户独处时刻到品牌承诺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2169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不是"品牌说它值什么"——是"用户在什么时刻觉得它值"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952500"/>
            <a:ext cx="11049000" cy="1333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952500"/>
            <a:ext cx="76200" cy="13335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42010" y="1108710"/>
            <a:ext cx="31864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用户价值层：用户独处时刻 → 情绪缺口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6772" y="1387316"/>
            <a:ext cx="34188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品牌价值的起点不是"我们有多好"，是"用户在什么时刻需要我"</a:t>
            </a:r>
          </a:p>
        </p:txBody>
      </p:sp>
      <p:sp>
        <p:nvSpPr>
          <p:cNvPr id="10" name="Rectangle 10"/>
          <p:cNvSpPr/>
          <p:nvPr/>
        </p:nvSpPr>
        <p:spPr>
          <a:xfrm>
            <a:off x="857250" y="1619250"/>
            <a:ext cx="2381250" cy="523875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515430" y="1731645"/>
            <a:ext cx="1064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凌晨3点的出租屋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82447" y="1938338"/>
            <a:ext cx="113085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小夏 · 不知道该跟谁说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429000" y="1619250"/>
            <a:ext cx="2381250" cy="523875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056126" y="1731645"/>
            <a:ext cx="11269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空窗期的二手平台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44660" y="1938338"/>
            <a:ext cx="13499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阿哲 · 想回来但找不到理由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000750" y="1619250"/>
            <a:ext cx="2381250" cy="523875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696885" y="1731645"/>
            <a:ext cx="9889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周末空荡的公寓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20470" y="1938338"/>
            <a:ext cx="114180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小念 · 总觉得"还不够"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572500" y="1619250"/>
            <a:ext cx="2381250" cy="523875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268635" y="1731645"/>
            <a:ext cx="9889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挑选礼物的商场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37452" y="1938338"/>
            <a:ext cx="125134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大刘 · "我想说但不会说"</a:t>
            </a:r>
          </a:p>
        </p:txBody>
      </p:sp>
      <p:sp>
        <p:nvSpPr>
          <p:cNvPr id="22" name="Polygon 22"/>
          <p:cNvSpPr/>
          <p:nvPr/>
        </p:nvSpPr>
        <p:spPr>
          <a:xfrm>
            <a:off x="6038850" y="2305050"/>
            <a:ext cx="114300" cy="123825"/>
          </a:xfrm>
          <a:custGeom>
            <a:avLst/>
            <a:gdLst/>
            <a:ahLst/>
            <a:cxnLst/>
            <a:rect l="l" t="t" r="r" b="b"/>
            <a:pathLst>
              <a:path w="114300" h="123825">
                <a:moveTo>
                  <a:pt x="57150" y="0"/>
                </a:moveTo>
                <a:lnTo>
                  <a:pt x="0" y="123825"/>
                </a:lnTo>
                <a:lnTo>
                  <a:pt x="114300" y="123825"/>
                </a:lnTo>
                <a:close/>
              </a:path>
            </a:pathLst>
          </a:custGeom>
          <a:solidFill>
            <a:srgbClr val="8B9D8B"/>
          </a:solidFill>
          <a:ln>
            <a:noFill/>
          </a:ln>
        </p:spPr>
      </p:sp>
      <p:sp>
        <p:nvSpPr>
          <p:cNvPr id="23" name="Line 23"/>
          <p:cNvSpPr/>
          <p:nvPr/>
        </p:nvSpPr>
        <p:spPr>
          <a:xfrm>
            <a:off x="6096000" y="2428875"/>
            <a:ext cx="9525" cy="123825"/>
          </a:xfrm>
          <a:custGeom>
            <a:avLst/>
            <a:gdLst/>
            <a:ahLst/>
            <a:cxnLst/>
            <a:rect l="l" t="t" r="r" b="b"/>
            <a:pathLst>
              <a:path w="952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9525">
            <a:solidFill>
              <a:srgbClr val="8B9D8B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571500" y="2590800"/>
            <a:ext cx="11049000" cy="14763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571500" y="2590800"/>
            <a:ext cx="76200" cy="1476375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42010" y="2747010"/>
            <a:ext cx="55971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品牌承诺层：角色翻译 → 品牌承诺"让你每一种情绪都收到一封回信"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6772" y="3025616"/>
            <a:ext cx="47442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情绪缺口 → 角色翻译 → 品牌承诺 —— 三步把用户说不清的"感觉"翻译成一个具体的"角色"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57250" y="3286125"/>
            <a:ext cx="3048000" cy="619125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40118" y="3399949"/>
            <a:ext cx="7499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① 情绪识别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2975" y="3633788"/>
            <a:ext cx="212764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"我是灰色的、模糊的、没有形状的" = 迷茫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2975" y="3776662"/>
            <a:ext cx="55030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= 雾人出场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029075" y="343852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5D0C8"/>
                </a:solidFill>
                <a:latin typeface="Georgia"/>
                <a:ea typeface="KaiTi"/>
                <a:cs typeface="Georgia"/>
              </a:rPr>
              <a:t>→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333875" y="3286125"/>
            <a:ext cx="3048000" cy="619125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416742" y="3399949"/>
            <a:ext cx="7499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② 角色翻译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419600" y="3633788"/>
            <a:ext cx="178808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迷茫 → 雾人（灰色轮廓模糊的人形）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419600" y="3776662"/>
            <a:ext cx="162377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每个角色=一种情绪的"物理形态"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05700" y="343852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5D0C8"/>
                </a:solidFill>
                <a:latin typeface="Georgia"/>
                <a:ea typeface="KaiTi"/>
                <a:cs typeface="Georgia"/>
              </a:rPr>
              <a:t>→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810500" y="3286125"/>
            <a:ext cx="3143250" cy="619125"/>
          </a:xfrm>
          <a:prstGeom prst="rect">
            <a:avLst/>
          </a:prstGeom>
          <a:solidFill>
            <a:srgbClr val="3C3C5C">
              <a:alpha val="6000"/>
            </a:srgbClr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893368" y="3399949"/>
            <a:ext cx="7499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③ 品牌承诺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896225" y="3633788"/>
            <a:ext cx="18921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"让你的每一种情绪，都收到一封回信"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896225" y="3776662"/>
            <a:ext cx="180451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不是"帮你解决问题"——是"替你说话"</a:t>
            </a:r>
          </a:p>
        </p:txBody>
      </p:sp>
      <p:sp>
        <p:nvSpPr>
          <p:cNvPr id="42" name="Polygon 42"/>
          <p:cNvSpPr/>
          <p:nvPr/>
        </p:nvSpPr>
        <p:spPr>
          <a:xfrm>
            <a:off x="6038850" y="4086225"/>
            <a:ext cx="114300" cy="123825"/>
          </a:xfrm>
          <a:custGeom>
            <a:avLst/>
            <a:gdLst/>
            <a:ahLst/>
            <a:cxnLst/>
            <a:rect l="l" t="t" r="r" b="b"/>
            <a:pathLst>
              <a:path w="114300" h="123825">
                <a:moveTo>
                  <a:pt x="57150" y="0"/>
                </a:moveTo>
                <a:lnTo>
                  <a:pt x="0" y="123825"/>
                </a:lnTo>
                <a:lnTo>
                  <a:pt x="114300" y="123825"/>
                </a:lnTo>
                <a:close/>
              </a:path>
            </a:pathLst>
          </a:custGeom>
          <a:solidFill>
            <a:srgbClr val="B8845A"/>
          </a:solidFill>
          <a:ln>
            <a:noFill/>
          </a:ln>
        </p:spPr>
      </p:sp>
      <p:sp>
        <p:nvSpPr>
          <p:cNvPr id="43" name="Line 43"/>
          <p:cNvSpPr/>
          <p:nvPr/>
        </p:nvSpPr>
        <p:spPr>
          <a:xfrm>
            <a:off x="6096000" y="4210050"/>
            <a:ext cx="9525" cy="123825"/>
          </a:xfrm>
          <a:custGeom>
            <a:avLst/>
            <a:gdLst/>
            <a:ahLst/>
            <a:cxnLst/>
            <a:rect l="l" t="t" r="r" b="b"/>
            <a:pathLst>
              <a:path w="952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9525">
            <a:solidFill>
              <a:srgbClr val="B8845A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571500" y="4371975"/>
            <a:ext cx="11049000" cy="12858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571500" y="4371975"/>
            <a:ext cx="76200" cy="1285875"/>
          </a:xfrm>
          <a:prstGeom prst="rect">
            <a:avLst/>
          </a:prstGeom>
          <a:solidFill>
            <a:srgbClr val="B8845A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42010" y="4528185"/>
            <a:ext cx="35269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支撑体系层：四个支柱支撑品牌承诺的兑现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46772" y="4806791"/>
            <a:ext cx="365979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承诺"让你的情绪收到回信"不能是一句空话——需要四个体系共同支撑</a:t>
            </a:r>
          </a:p>
        </p:txBody>
      </p:sp>
      <p:sp>
        <p:nvSpPr>
          <p:cNvPr id="48" name="Rectangle 48"/>
          <p:cNvSpPr/>
          <p:nvPr/>
        </p:nvSpPr>
        <p:spPr>
          <a:xfrm>
            <a:off x="857250" y="5048250"/>
            <a:ext cx="2476500" cy="47625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808036" y="516064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产品体系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475303" y="5348288"/>
            <a:ext cx="124039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角色手办 = 信的物理载体</a:t>
            </a:r>
          </a:p>
        </p:txBody>
      </p:sp>
      <p:sp>
        <p:nvSpPr>
          <p:cNvPr id="51" name="Rectangle 51"/>
          <p:cNvSpPr/>
          <p:nvPr/>
        </p:nvSpPr>
        <p:spPr>
          <a:xfrm>
            <a:off x="3524250" y="5048250"/>
            <a:ext cx="2476500" cy="47625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4475036" y="516064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内容体系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032766" y="534828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每日角色来信 = 信的日常延续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191250" y="5048250"/>
            <a:ext cx="2476500" cy="47625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7142035" y="516064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社群体系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644997" y="5348288"/>
            <a:ext cx="156900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情绪群岛 = 信在用户之间的传递</a:t>
            </a:r>
          </a:p>
        </p:txBody>
      </p:sp>
      <p:sp>
        <p:nvSpPr>
          <p:cNvPr id="57" name="Rectangle 57"/>
          <p:cNvSpPr/>
          <p:nvPr/>
        </p:nvSpPr>
        <p:spPr>
          <a:xfrm>
            <a:off x="8858250" y="5048250"/>
            <a:ext cx="2476500" cy="47625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9809036" y="516064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视觉体系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424273" y="5348288"/>
            <a:ext cx="13444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旧纸白+雾灰=信的视觉语言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58165" y="59826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价值画布运作逻辑：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61022" y="6245066"/>
            <a:ext cx="105217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用户独处时刻（发现情绪缺口）→ 角色翻译（翻译成角色）→ 品牌承诺（"收到回信"）→ 四支柱兑现 → 用户下次独处时触达 → 正向循环。定位不是品牌说的——是用户在自己的"那个时刻"里感受到的。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61022" y="6464141"/>
            <a:ext cx="862403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参考框架：Strategyzer Value Proposition Canvas（品牌价值画布）| 岛屿来信修正：把"用户任务"改为"用户独处时刻"，把"痛点/收益"改为"情绪缺口/翻译"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39485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品牌价值画布：竞争差异化的三个翻译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5850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"情绪翻译者"如何在每一个消费者触点上翻译成可感知的差异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00125"/>
            <a:ext cx="3524250" cy="4857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000125"/>
            <a:ext cx="352425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638470" y="1187768"/>
            <a:ext cx="13903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翻译一·产品层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7414" y="1482566"/>
            <a:ext cx="18524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从"好看的手办"到"会说话的角色"</a:t>
            </a:r>
          </a:p>
        </p:txBody>
      </p:sp>
      <p:sp>
        <p:nvSpPr>
          <p:cNvPr id="10" name="Line 10"/>
          <p:cNvSpPr/>
          <p:nvPr/>
        </p:nvSpPr>
        <p:spPr>
          <a:xfrm>
            <a:off x="809625" y="16954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99148" y="1863566"/>
            <a:ext cx="10330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泡泡玛特卖的是：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9148" y="2082641"/>
            <a:ext cx="9969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"一个好看的摆件"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9148" y="2311241"/>
            <a:ext cx="1906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价值=视觉审美+抽盒刺激+系列收集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09625" y="2619375"/>
            <a:ext cx="304800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99148" y="2768441"/>
            <a:ext cx="10330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岛屿来信卖的是：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9148" y="3006566"/>
            <a:ext cx="13584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"一个会跟你说话的角色"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9148" y="3244691"/>
            <a:ext cx="1906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价值=情绪识别+角色对应+来信陪伴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09625" y="3571875"/>
            <a:ext cx="3048000" cy="66675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95350" y="3709988"/>
            <a:ext cx="59412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关键差异：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5350" y="3900488"/>
            <a:ext cx="22317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每个角色包装内附"角色来信"——不是说明书，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5350" y="4071938"/>
            <a:ext cx="15525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是角色写给用户的一封手写信。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9148" y="4387691"/>
            <a:ext cx="9065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产品翻译原则：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9148" y="4654391"/>
            <a:ext cx="18222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① 每个产品=角色+来信，缺一不可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9148" y="4882991"/>
            <a:ext cx="17018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② 包装=信封式结构，拆开=拆信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9148" y="5111591"/>
            <a:ext cx="14487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③ 材质触感优先于视觉冲击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9148" y="5340191"/>
            <a:ext cx="17018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④ 不做盲盒随机——角色由情绪选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9148" y="5606891"/>
            <a:ext cx="12740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⑤ 碎片雾=用户共创入口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333875" y="1000125"/>
            <a:ext cx="3524250" cy="4857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4333875" y="1000125"/>
            <a:ext cx="352425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400845" y="1187768"/>
            <a:ext cx="13903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翻译二·内容层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230035" y="1482566"/>
            <a:ext cx="17319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从"品牌在说话"到"角色在生活"</a:t>
            </a:r>
          </a:p>
        </p:txBody>
      </p:sp>
      <p:sp>
        <p:nvSpPr>
          <p:cNvPr id="32" name="Line 32"/>
          <p:cNvSpPr/>
          <p:nvPr/>
        </p:nvSpPr>
        <p:spPr>
          <a:xfrm>
            <a:off x="4572000" y="16954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4561522" y="1863566"/>
            <a:ext cx="9065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传统潮玩内容：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61522" y="2082641"/>
            <a:ext cx="15993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新品预告+设计灵感+用户返图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61522" y="2311241"/>
            <a:ext cx="13584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说话者是"品牌官方账号"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572000" y="2619375"/>
            <a:ext cx="304800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561522" y="2768441"/>
            <a:ext cx="9065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岛屿来信内容：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61522" y="3006566"/>
            <a:ext cx="14788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五个角色的"日常生活日记"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561522" y="3244691"/>
            <a:ext cx="2719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说话者是"角色本人"——雾人/刺刺/空罐/暖光/根根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572000" y="3571875"/>
            <a:ext cx="3048000" cy="66675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4657725" y="3709988"/>
            <a:ext cx="59412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关键差异：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657725" y="3900488"/>
            <a:ext cx="22426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内容不是"营销物料"——是角色的"生活记录"。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657725" y="4071938"/>
            <a:ext cx="22207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品牌从不直接说话，只转达"角色想说的话"。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61522" y="4387691"/>
            <a:ext cx="9065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内容翻译原则：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561522" y="4654391"/>
            <a:ext cx="17560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① 品牌账号=角色编辑部的公告栏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561522" y="4882991"/>
            <a:ext cx="16897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② 日常内容以角色第一人称发布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561522" y="5111591"/>
            <a:ext cx="16897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③ 每个角色有独立的语调和风格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561522" y="5340191"/>
            <a:ext cx="19970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④ 内容节奏=角色生活节奏，不追热点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561522" y="5606891"/>
            <a:ext cx="19427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⑤ 创始人只讲"创作背后"，不讲品牌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096250" y="1000125"/>
            <a:ext cx="3524250" cy="4857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8096250" y="1000125"/>
            <a:ext cx="3524250" cy="38100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9163220" y="1187768"/>
            <a:ext cx="13903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翻译三·关系层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953250" y="1482566"/>
            <a:ext cx="18102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从"消费者×品牌"到"人×角色×人"</a:t>
            </a:r>
          </a:p>
        </p:txBody>
      </p:sp>
      <p:sp>
        <p:nvSpPr>
          <p:cNvPr id="54" name="Line 54"/>
          <p:cNvSpPr/>
          <p:nvPr/>
        </p:nvSpPr>
        <p:spPr>
          <a:xfrm>
            <a:off x="8334375" y="16954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323898" y="1863566"/>
            <a:ext cx="9065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传统品牌关系：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323898" y="2082641"/>
            <a:ext cx="14849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消费者 ← 品牌（单向传播）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323898" y="2311241"/>
            <a:ext cx="13584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忠诚度=复购频率+客单价</a:t>
            </a:r>
          </a:p>
        </p:txBody>
      </p:sp>
      <p:sp>
        <p:nvSpPr>
          <p:cNvPr id="58" name="Rectangle 58"/>
          <p:cNvSpPr/>
          <p:nvPr/>
        </p:nvSpPr>
        <p:spPr>
          <a:xfrm>
            <a:off x="8334375" y="2619375"/>
            <a:ext cx="3048000" cy="38100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8323898" y="2768441"/>
            <a:ext cx="9065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7BA4B5"/>
                </a:solidFill>
                <a:latin typeface="Arial"/>
                <a:ea typeface="Microsoft YaHei"/>
                <a:cs typeface="Arial"/>
              </a:rPr>
              <a:t>岛屿来信关系：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323898" y="3006566"/>
            <a:ext cx="19849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用户 ← 角色 → 其他用户（三角关系）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323898" y="3244691"/>
            <a:ext cx="23223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品牌退到幕后——角色是用户之间的社交货币</a:t>
            </a:r>
          </a:p>
        </p:txBody>
      </p:sp>
      <p:sp>
        <p:nvSpPr>
          <p:cNvPr id="62" name="Rectangle 62"/>
          <p:cNvSpPr/>
          <p:nvPr/>
        </p:nvSpPr>
        <p:spPr>
          <a:xfrm>
            <a:off x="8334375" y="3571875"/>
            <a:ext cx="3048000" cy="66675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8420100" y="3709988"/>
            <a:ext cx="59412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关键差异：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420100" y="3900488"/>
            <a:ext cx="220432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"送一个雾人给朋友"= 替送礼者说出说不出的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420100" y="4071938"/>
            <a:ext cx="20016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话。品牌不介入用户关系——角色是中介。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323898" y="4387691"/>
            <a:ext cx="9065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关系翻译原则：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8323898" y="4654391"/>
            <a:ext cx="15813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① 品牌隐身——角色是第一人称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323898" y="4882991"/>
            <a:ext cx="22500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② 社群=情绪群岛——用户共建而非官方运营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323898" y="5111591"/>
            <a:ext cx="14487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③ 礼品场景是核心增长引擎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323898" y="5340191"/>
            <a:ext cx="13282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④ 用户反馈直通角色开发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323898" y="5606891"/>
            <a:ext cx="195484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⑤ 不做会员等级——做"角色关系深度"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58165" y="607790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三个翻译的协同：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61022" y="6340316"/>
            <a:ext cx="106362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产品层做"差异化入口"（用户第一眼感知到不同）→ 内容层做"差异化深度"（角色持续"说话"，让差异化不可复制）→ 关系层做"差异化壁垒"（用户与角色、用户与用户的关系网络，越用越难离开）。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561022" y="6559391"/>
            <a:ext cx="461167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三层不是独立的——产品是内容的主角，内容是关系的燃料，关系反哺产品的迭代方向。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371856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使命：品牌消失后，用户失去什么？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8741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使命不是"我们想做什么"——是"如果我们明天消失，用户失去什么"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333500" y="1333500"/>
            <a:ext cx="9525000" cy="1143000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993846" y="1535430"/>
            <a:ext cx="620430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让每一种"说不清"的情绪都收到一封回信。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64183" y="2037874"/>
            <a:ext cx="12636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品牌使命 · Mission</a:t>
            </a:r>
          </a:p>
        </p:txBody>
      </p:sp>
      <p:sp>
        <p:nvSpPr>
          <p:cNvPr id="9" name="Rectangle 9"/>
          <p:cNvSpPr/>
          <p:nvPr/>
        </p:nvSpPr>
        <p:spPr>
          <a:xfrm>
            <a:off x="1333500" y="2952750"/>
            <a:ext cx="952500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1333500" y="2952750"/>
            <a:ext cx="57150" cy="857250"/>
          </a:xfrm>
          <a:prstGeom prst="rect">
            <a:avLst/>
          </a:prstGeom>
          <a:solidFill>
            <a:srgbClr val="B8845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604010" y="3108960"/>
            <a:ext cx="29932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反向测试：如果岛屿来信明天消失——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07820" y="3398520"/>
            <a:ext cx="79489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用户失去的不是一个"卖手办的品牌"，而是一个"替自己说话的角色"。他们不再能指着桌上的雾人说："它今天的信说，灰色也没关系。"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07820" y="3617595"/>
            <a:ext cx="54186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通过。用户失去的是"表达工具"——这不是任何一个潮玩品牌能填补的。使命与生态位一致。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8260" y="4251960"/>
            <a:ext cx="28092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使命拆解——每个词为什么这样选：</a:t>
            </a:r>
          </a:p>
        </p:txBody>
      </p:sp>
      <p:sp>
        <p:nvSpPr>
          <p:cNvPr id="15" name="Rectangle 15"/>
          <p:cNvSpPr/>
          <p:nvPr/>
        </p:nvSpPr>
        <p:spPr>
          <a:xfrm>
            <a:off x="1333500" y="4619625"/>
            <a:ext cx="4572000" cy="8096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511618" y="4771549"/>
            <a:ext cx="7873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"说不清的"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13522" y="5006816"/>
            <a:ext cx="31898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不是"负面的"——是"模糊的、不确定的、自己还没搞懂的"。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13522" y="5225891"/>
            <a:ext cx="25512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定位一致性：覆盖全情绪光谱，不做细分筛选。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286500" y="4619625"/>
            <a:ext cx="4572000" cy="8096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464618" y="4771549"/>
            <a:ext cx="15498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"收到"（不是"给出"）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66522" y="5006816"/>
            <a:ext cx="37682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品牌从不说教、不安慰、不教育。只回应——用户发出情绪，品牌回信。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66522" y="5225891"/>
            <a:ext cx="28284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定位一致性：照顾者原型——"我在"，而非"你应该"。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333500" y="5572125"/>
            <a:ext cx="4572000" cy="5238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511618" y="5724049"/>
            <a:ext cx="6377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"每一种"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13522" y="5930741"/>
            <a:ext cx="41297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不仅是悲伤、孤独——也包括开心、期待、骄傲。五个角色覆盖不同情绪象限。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286500" y="5572125"/>
            <a:ext cx="4572000" cy="5238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464618" y="5724049"/>
            <a:ext cx="4882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"回信"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66522" y="5930741"/>
            <a:ext cx="43706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品牌的核心产品不是手办，是"信"。手办是信的物理载体，内容是信的日常延续。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57622" y="6681788"/>
            <a:ext cx="1724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P31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34540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愿景：10年后用户怎么描述我们？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53135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愿景不是"我们要做多大"——是"10年后，用户的孩子指着雾人说'这是妈妈年轻时候的情绪'"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333500" y="1238250"/>
            <a:ext cx="9525000" cy="952500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589620" y="1392555"/>
            <a:ext cx="50127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成为1亿中国年轻人的"情绪词典"。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61586" y="1847374"/>
            <a:ext cx="18688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品牌愿景 · Vision — 10年目标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8260" y="2632710"/>
            <a:ext cx="14750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10年阶段性里程碑</a:t>
            </a:r>
          </a:p>
        </p:txBody>
      </p:sp>
      <p:sp>
        <p:nvSpPr>
          <p:cNvPr id="10" name="Line 10"/>
          <p:cNvSpPr/>
          <p:nvPr/>
        </p:nvSpPr>
        <p:spPr>
          <a:xfrm>
            <a:off x="3810000" y="304800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14288">
            <a:solidFill>
              <a:srgbClr val="D5D0C8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1333500" y="2952750"/>
            <a:ext cx="2095500" cy="28575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767055" y="3057049"/>
            <a:ext cx="12283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Year 1-3 · 被认识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048250" y="2952750"/>
            <a:ext cx="2095500" cy="28575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463115" y="3057049"/>
            <a:ext cx="12657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Year 4-6 · 被使用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763000" y="2952750"/>
            <a:ext cx="2095500" cy="2857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155437" y="3057049"/>
            <a:ext cx="13106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Year 7-10 · 被传承</a:t>
            </a:r>
          </a:p>
        </p:txBody>
      </p:sp>
      <p:sp>
        <p:nvSpPr>
          <p:cNvPr id="17" name="Rectangle 17"/>
          <p:cNvSpPr/>
          <p:nvPr/>
        </p:nvSpPr>
        <p:spPr>
          <a:xfrm>
            <a:off x="1333500" y="3381375"/>
            <a:ext cx="3048000" cy="10001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512570" y="352234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核心任务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13522" y="3739991"/>
            <a:ext cx="17741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5个角色全部推出，内容体系跑通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13522" y="3949541"/>
            <a:ext cx="15270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"这我指数"成为品牌核心KPI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13522" y="4178141"/>
            <a:ext cx="24374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关键事件："雾人"进入年轻人的情绪词汇表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572000" y="3381375"/>
            <a:ext cx="3048000" cy="10001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751070" y="352234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核心任务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52022" y="3739991"/>
            <a:ext cx="19729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从"潮玩品牌"扩展到"情绪表达品牌"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52022" y="3949541"/>
            <a:ext cx="16536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线下体验空间+礼品场景规模化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52022" y="4178141"/>
            <a:ext cx="28169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关键事件："今天你是雾人还是刺刺"成为日常寒暄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810500" y="3381375"/>
            <a:ext cx="3048000" cy="10001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89570" y="352234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核心任务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90522" y="3739991"/>
            <a:ext cx="14668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成为一代人的情绪记忆符号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90522" y="3949541"/>
            <a:ext cx="14668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角色体系成为文化基础设施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90522" y="4178141"/>
            <a:ext cx="28296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关键事件：Z世代的"情绪词典"（角色=情绪词汇）</a:t>
            </a:r>
          </a:p>
        </p:txBody>
      </p:sp>
      <p:sp>
        <p:nvSpPr>
          <p:cNvPr id="32" name="Rectangle 32"/>
          <p:cNvSpPr/>
          <p:nvPr/>
        </p:nvSpPr>
        <p:spPr>
          <a:xfrm>
            <a:off x="1333500" y="4762500"/>
            <a:ext cx="9525000" cy="7143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1333500" y="4762500"/>
            <a:ext cx="57150" cy="714375"/>
          </a:xfrm>
          <a:prstGeom prst="rect">
            <a:avLst/>
          </a:prstGeom>
          <a:solidFill>
            <a:srgbClr val="B8845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604010" y="4899660"/>
            <a:ext cx="450223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反向测试：如果我们在2026年讲这个愿景——用户信吗？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607820" y="5189220"/>
            <a:ext cx="80672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"1亿年轻人"需要10年。但"情绪词典"这个比喻——用角色命名和表达情绪——是立刻可感知的。"雾人=迷茫"是用户今天就能理解的最小单元。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333500" y="5715000"/>
            <a:ext cx="9525000" cy="523875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607820" y="5855970"/>
            <a:ext cx="133776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定位一致性验证通过：情感价值型品牌不需要"最大"的愿景——需要"最深"的愿景。"情绪词典"=情感深度×品类占位。对标参考：Lululemon 的愿景不是"最大运动品牌"，是"让每个人成为更好的自己"——同样是用价值观定义品类。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P32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514473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价值观：边界比规模更重要——三个"再赚钱也不做"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3484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价值观不是"贴在墙上的"——是"选择放弃什么的时候用的"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00125"/>
            <a:ext cx="3524250" cy="4762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000125"/>
            <a:ext cx="3524250" cy="47625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680091" y="1203008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私密的对话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62138" y="154114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不做公域大声量</a:t>
            </a:r>
          </a:p>
        </p:txBody>
      </p:sp>
      <p:sp>
        <p:nvSpPr>
          <p:cNvPr id="10" name="Line 10"/>
          <p:cNvSpPr/>
          <p:nvPr/>
        </p:nvSpPr>
        <p:spPr>
          <a:xfrm>
            <a:off x="809625" y="18097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98195" y="199834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这是什么：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9148" y="2273141"/>
            <a:ext cx="461167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品牌的沟通方式是一对一的——像写信一样，信息有具体的收件人，不是在广场上喊话。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8195" y="2665095"/>
            <a:ext cx="11408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"再赚钱也不做"：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9148" y="2958941"/>
            <a:ext cx="17078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不做短视频平台的强流量型内容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9148" y="3225641"/>
            <a:ext cx="14668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不做热搜式营销或话题炒作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9148" y="3492341"/>
            <a:ext cx="14788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不做"全网爆款"的流量追逐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8195" y="390334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为什么：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9148" y="4197191"/>
            <a:ext cx="66178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情绪是私密的。用户愿意说"我是雾人"——是因为品牌没有在广场上广播这句话。私密感=安全感。做大声量会摧毁信任基础。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8195" y="4617720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案例参照：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9148" y="4892516"/>
            <a:ext cx="61238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观夏不做大规模投放，靠老用户口碑推荐。Notion 早期的"安静生长"策略——让用户觉得自己在用一个"秘密武器"。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9148" y="5292566"/>
            <a:ext cx="582170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组织落地：社群规模上限控制——当单个"情绪岛"超过300人，自动分裂为新岛。保持每个岛的私密尺度。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333875" y="1000125"/>
            <a:ext cx="3524250" cy="4762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4333875" y="1000125"/>
            <a:ext cx="3524250" cy="47625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442466" y="1203008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诚实的情绪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55958" y="154114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不制造焦虑</a:t>
            </a:r>
          </a:p>
        </p:txBody>
      </p:sp>
      <p:sp>
        <p:nvSpPr>
          <p:cNvPr id="26" name="Line 26"/>
          <p:cNvSpPr/>
          <p:nvPr/>
        </p:nvSpPr>
        <p:spPr>
          <a:xfrm>
            <a:off x="4572000" y="18097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560570" y="199834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这是什么：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61522" y="2273141"/>
            <a:ext cx="60575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品牌只回应真实存在的情绪，不制造用户本来没有的情绪。用户不开心时陪它待着，不是告诉它"你得开心起来"。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60570" y="2665095"/>
            <a:ext cx="11408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"再赚钱也不做"：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61522" y="2958941"/>
            <a:ext cx="23343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不做"限时抢购""最后一批"的稀缺焦虑营销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61522" y="3225641"/>
            <a:ext cx="1840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不做"你还不够好"的焦虑驱动内容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61522" y="3492341"/>
            <a:ext cx="2081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不做"别人都有了你还没有"的社交压力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60570" y="390334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为什么：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61522" y="4197191"/>
            <a:ext cx="75275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焦虑驱动的商业模式短期赚钱但长期有毒。品牌承诺"让你的情绪收到回信"——如果回信的内容是"你不够好"，这封信就不是回信，是审判书。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60570" y="4617720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案例参照：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561522" y="4892516"/>
            <a:ext cx="79010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Patagonia "Don't Buy This Jacket"——反消费主义营销反成最强销售。多芬"真实美丽"campaign——不做焦虑驱动的"变美"叙事，市场奖励了诚实。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561522" y="5292566"/>
            <a:ext cx="51195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组织落地：每条角色来信发布前，过"诚实验证"——这篇内容有没有暗示"现在的你不够好"？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096250" y="1000125"/>
            <a:ext cx="3524250" cy="4762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8096250" y="1000125"/>
            <a:ext cx="3524250" cy="47625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204841" y="1203008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克制的陪伴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52610" y="15411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不绑架注意力</a:t>
            </a:r>
          </a:p>
        </p:txBody>
      </p:sp>
      <p:sp>
        <p:nvSpPr>
          <p:cNvPr id="42" name="Line 42"/>
          <p:cNvSpPr/>
          <p:nvPr/>
        </p:nvSpPr>
        <p:spPr>
          <a:xfrm>
            <a:off x="8334375" y="18097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8322945" y="199834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这是什么：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323898" y="2273141"/>
            <a:ext cx="58286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品牌不刷存在感。角色不是每天必须互动的"任务"——用户今天需要它时它在，不需要时它安静地在桌上待着。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322945" y="2665095"/>
            <a:ext cx="11408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"再赚钱也不做"：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323898" y="2958941"/>
            <a:ext cx="15993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不做每日打卡/签到/积分系统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323898" y="3225641"/>
            <a:ext cx="13463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不做推送轰炸型内容日历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323898" y="3492341"/>
            <a:ext cx="17319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不做"连续登录XX天"的行为绑架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322945" y="390334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为什么：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323898" y="4197191"/>
            <a:ext cx="64853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用户已经有太多抢占注意力的应用。品牌应该尊重用户的独处空间——连品牌自己也不要入侵。克制的陪伴=最长久的陪伴。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322945" y="4617720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案例参照：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323898" y="4892516"/>
            <a:ext cx="72022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Dark Noise 的付费策略——一次性买断而非订阅制，对用户注意力的尊重反成为购买理由。MUJI 的"这，就很好"——品牌克制=用户留存。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323898" y="5292566"/>
            <a:ext cx="56509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组织落地：内容推送频率上限——每个角色每周最多3次更新，品牌公告每周≤1次。沉默是品牌的权利。</a:t>
            </a:r>
          </a:p>
        </p:txBody>
      </p:sp>
      <p:sp>
        <p:nvSpPr>
          <p:cNvPr id="54" name="Rectangle 54"/>
          <p:cNvSpPr/>
          <p:nvPr/>
        </p:nvSpPr>
        <p:spPr>
          <a:xfrm>
            <a:off x="571500" y="5953125"/>
            <a:ext cx="11049000" cy="333375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2812423" y="6058852"/>
            <a:ext cx="65671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三条价值观的共同指向：信任。私密=空间上的信任；诚实=内容上的信任；克制=时间上的信任。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46615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品牌人格化：照顾者 × 诗人——双重原型选择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2169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不是"选一个原型"——是"两个原型之间，品牌站在哪里"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00125"/>
            <a:ext cx="4095750" cy="3333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000125"/>
            <a:ext cx="409575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478755" y="1174432"/>
            <a:ext cx="22812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照顾者 · Caregiver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04205" y="15030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"我在"</a:t>
            </a:r>
          </a:p>
        </p:txBody>
      </p:sp>
      <p:sp>
        <p:nvSpPr>
          <p:cNvPr id="10" name="Line 10"/>
          <p:cNvSpPr/>
          <p:nvPr/>
        </p:nvSpPr>
        <p:spPr>
          <a:xfrm>
            <a:off x="809625" y="1733550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98195" y="19030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原型特征：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9148" y="2149316"/>
            <a:ext cx="15873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核心欲望：保护他人免受伤害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9148" y="2368391"/>
            <a:ext cx="12258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恐惧：自私、忘恩负义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9148" y="2587466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策略：为他人做事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9148" y="2806541"/>
            <a:ext cx="13463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语调：温暖、安心、包容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9148" y="3025616"/>
            <a:ext cx="15873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代表品牌：强生、雀巢、多芬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8195" y="3379470"/>
            <a:ext cx="14030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岛屿来信中的照顾者：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9148" y="3654266"/>
            <a:ext cx="20150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品牌对用户说："你的情绪不用解释，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9148" y="3873341"/>
            <a:ext cx="15331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我看见了。它值得被回应。"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9148" y="4140041"/>
            <a:ext cx="22018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不要求用户改变，不催促用户"好起来"。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857750" y="1000125"/>
            <a:ext cx="2476500" cy="3333750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620702" y="129921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双重原型的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12714" y="153733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融合地带</a:t>
            </a:r>
          </a:p>
        </p:txBody>
      </p:sp>
      <p:sp>
        <p:nvSpPr>
          <p:cNvPr id="24" name="Line 24"/>
          <p:cNvSpPr/>
          <p:nvPr/>
        </p:nvSpPr>
        <p:spPr>
          <a:xfrm>
            <a:off x="5238750" y="1905000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4762">
            <a:solidFill>
              <a:srgbClr val="8B9D8B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537287" y="2149316"/>
            <a:ext cx="11174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照顾者说"我在这里"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77042" y="2339816"/>
            <a:ext cx="12379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诗人说"我知道为什么"</a:t>
            </a:r>
          </a:p>
        </p:txBody>
      </p:sp>
      <p:sp>
        <p:nvSpPr>
          <p:cNvPr id="27" name="Line 27"/>
          <p:cNvSpPr/>
          <p:nvPr/>
        </p:nvSpPr>
        <p:spPr>
          <a:xfrm>
            <a:off x="5238750" y="2571750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5543312" y="2768441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融合后的品牌人格：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25538" y="3027045"/>
            <a:ext cx="13409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"一个安静的、会写信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839589" y="3255645"/>
            <a:ext cx="5128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的朋友"</a:t>
            </a:r>
          </a:p>
        </p:txBody>
      </p:sp>
      <p:sp>
        <p:nvSpPr>
          <p:cNvPr id="31" name="Line 31"/>
          <p:cNvSpPr/>
          <p:nvPr/>
        </p:nvSpPr>
        <p:spPr>
          <a:xfrm>
            <a:off x="5238750" y="3524250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510177" y="3720941"/>
            <a:ext cx="11716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不说话时=安静的陪伴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630668" y="3940016"/>
            <a:ext cx="9306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说话时=一句戳中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543312" y="4159091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不说话时也让你安心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524750" y="1000125"/>
            <a:ext cx="4095750" cy="3333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7524750" y="1000125"/>
            <a:ext cx="409575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874810" y="1174432"/>
            <a:ext cx="139562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诗人 · Poet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357455" y="15030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"我懂"</a:t>
            </a:r>
          </a:p>
        </p:txBody>
      </p:sp>
      <p:sp>
        <p:nvSpPr>
          <p:cNvPr id="39" name="Line 39"/>
          <p:cNvSpPr/>
          <p:nvPr/>
        </p:nvSpPr>
        <p:spPr>
          <a:xfrm>
            <a:off x="7762875" y="1733550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7751445" y="19030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原型特征：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52398" y="2149316"/>
            <a:ext cx="19488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核心欲望：用美和语言表达内在真实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752398" y="2368391"/>
            <a:ext cx="14668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恐惧：平庸的表达、被误解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752398" y="2587466"/>
            <a:ext cx="15873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策略：用精确的语言击中情感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752398" y="2806541"/>
            <a:ext cx="17078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语调：精准、有深度、不说废话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752398" y="3025616"/>
            <a:ext cx="18584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代表品牌：Apple、MUJI、Le Labo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751445" y="3379470"/>
            <a:ext cx="12650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岛屿来信中的诗人：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752398" y="3654266"/>
            <a:ext cx="20693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品牌把模糊的情绪翻译成精确的角色和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752398" y="3873341"/>
            <a:ext cx="19186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文字。"你今天早上的形状=雾人"——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752398" y="4140041"/>
            <a:ext cx="18283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这不是安慰，是精准的情绪命名。</a:t>
            </a:r>
          </a:p>
        </p:txBody>
      </p:sp>
      <p:sp>
        <p:nvSpPr>
          <p:cNvPr id="50" name="Line 50"/>
          <p:cNvSpPr/>
          <p:nvPr/>
        </p:nvSpPr>
        <p:spPr>
          <a:xfrm>
            <a:off x="571500" y="45243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556260" y="4680585"/>
            <a:ext cx="44654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为什么不是其他原型？——四个被排除的原型与排除理由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5000625"/>
            <a:ext cx="2571750" cy="666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703898" y="5130641"/>
            <a:ext cx="8053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英雄（Hero）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04850" y="5348288"/>
            <a:ext cx="321754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"我来拯救你的情绪"——太高傲。品牌不应该凌驾于用户情绪之上。</a:t>
            </a:r>
          </a:p>
        </p:txBody>
      </p:sp>
      <p:sp>
        <p:nvSpPr>
          <p:cNvPr id="55" name="Rectangle 55"/>
          <p:cNvSpPr/>
          <p:nvPr/>
        </p:nvSpPr>
        <p:spPr>
          <a:xfrm>
            <a:off x="3333750" y="5000625"/>
            <a:ext cx="2571750" cy="666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3466148" y="5130641"/>
            <a:ext cx="11785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天真者（Innocent）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467100" y="5348288"/>
            <a:ext cx="27793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"一切都会好的"——太幼稚。回避了情绪的复杂性和重量。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096000" y="5000625"/>
            <a:ext cx="2571750" cy="666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6228398" y="5130641"/>
            <a:ext cx="8053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智者（Sage）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229350" y="5348288"/>
            <a:ext cx="299847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"让我分析你的情绪"——太冷。情绪需要被感受，不是被诊断。</a:t>
            </a:r>
          </a:p>
        </p:txBody>
      </p:sp>
      <p:sp>
        <p:nvSpPr>
          <p:cNvPr id="61" name="Rectangle 61"/>
          <p:cNvSpPr/>
          <p:nvPr/>
        </p:nvSpPr>
        <p:spPr>
          <a:xfrm>
            <a:off x="8858250" y="5000625"/>
            <a:ext cx="2571750" cy="666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8990648" y="5130641"/>
            <a:ext cx="11406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创造者（Creator）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991600" y="5348288"/>
            <a:ext cx="36776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"用创造表达情绪"——接近但偏了。品牌不是"表达自己"，是"替用户表达"。</a:t>
            </a:r>
          </a:p>
        </p:txBody>
      </p:sp>
      <p:sp>
        <p:nvSpPr>
          <p:cNvPr id="64" name="Rectangle 64"/>
          <p:cNvSpPr/>
          <p:nvPr/>
        </p:nvSpPr>
        <p:spPr>
          <a:xfrm>
            <a:off x="571500" y="5857875"/>
            <a:ext cx="11049000" cy="476250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2118217" y="5979795"/>
            <a:ext cx="79555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品牌人格一句话 → "一个安静的、会写信的朋友。不说话时让你安心，说话时一句戳中。不教你该怎么感受——只是告诉你，它感受到了。"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610928" y="6186488"/>
            <a:ext cx="497014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框架参考：Carl Jung 原型理论 × Margaret Mark &amp; Carol S. Pearson《The Hero and the Outlaw》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P34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55816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品牌人格化：说话方式——5个场景的语气指南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74275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不是"品牌应该怎么说话"——是"在这个时刻，用户需要什么语气"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952500"/>
            <a:ext cx="1809750" cy="2857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326928" y="10553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场景</a:t>
            </a:r>
          </a:p>
        </p:txBody>
      </p:sp>
      <p:sp>
        <p:nvSpPr>
          <p:cNvPr id="8" name="Rectangle 8"/>
          <p:cNvSpPr/>
          <p:nvPr/>
        </p:nvSpPr>
        <p:spPr>
          <a:xfrm>
            <a:off x="2381250" y="952500"/>
            <a:ext cx="952500" cy="2857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708053" y="10553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原型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333750" y="952500"/>
            <a:ext cx="3714750" cy="2857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903660" y="1055370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正确语气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048500" y="952500"/>
            <a:ext cx="4572000" cy="2857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047036" y="1055370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错误示范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238250"/>
            <a:ext cx="180975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49618" y="1399699"/>
            <a:ext cx="11536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用户焦虑/迷茫时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2475" y="1633538"/>
            <a:ext cx="12842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深夜发朋友圈："今天又是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2475" y="1804988"/>
            <a:ext cx="62698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灰色的自己"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381250" y="1238250"/>
            <a:ext cx="95250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2648902" y="1617345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照顾者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333750" y="1238250"/>
            <a:ext cx="371475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3512820" y="1407795"/>
            <a:ext cx="21982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雾人说："灰色也没关系。我今天也是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512820" y="1617345"/>
            <a:ext cx="18039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灰色的。我们一块儿待会儿。"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514725" y="1900238"/>
            <a:ext cx="16566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不否定情绪，不催促"好起来"。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048500" y="1238250"/>
            <a:ext cx="4572000" cy="85725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227570" y="1407795"/>
            <a:ext cx="20076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"别难过了！明天会更好！加油！"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29475" y="1633538"/>
            <a:ext cx="159639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× 强行正能量=否定用户当下感受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27570" y="1855470"/>
            <a:ext cx="17447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"你需要做这三件事摆脱焦虑"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229475" y="2062162"/>
            <a:ext cx="148685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× 说教=高人一等，不是陪伴者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2095500"/>
            <a:ext cx="180975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49618" y="2256949"/>
            <a:ext cx="11536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用户开心/分享时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2475" y="2490788"/>
            <a:ext cx="109799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收到offer/恋爱/完成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2475" y="2662238"/>
            <a:ext cx="9555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一件事后@品牌分享</a:t>
            </a:r>
          </a:p>
        </p:txBody>
      </p:sp>
      <p:sp>
        <p:nvSpPr>
          <p:cNvPr id="33" name="Rectangle 33"/>
          <p:cNvSpPr/>
          <p:nvPr/>
        </p:nvSpPr>
        <p:spPr>
          <a:xfrm>
            <a:off x="2381250" y="2095500"/>
            <a:ext cx="95250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2714625" y="2474595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诗人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333750" y="2095500"/>
            <a:ext cx="371475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3512820" y="2265045"/>
            <a:ext cx="18039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暖光说："今天你发光的时候，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512820" y="2474595"/>
            <a:ext cx="10152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我也亮了一点。"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514725" y="2757488"/>
            <a:ext cx="230290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庆祝但不抢戏。品牌的快乐来自用户的快乐。</a:t>
            </a:r>
          </a:p>
        </p:txBody>
      </p:sp>
      <p:sp>
        <p:nvSpPr>
          <p:cNvPr id="39" name="Rectangle 39"/>
          <p:cNvSpPr/>
          <p:nvPr/>
        </p:nvSpPr>
        <p:spPr>
          <a:xfrm>
            <a:off x="7048500" y="2095500"/>
            <a:ext cx="4572000" cy="85725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227570" y="2265045"/>
            <a:ext cx="18762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"太棒了！转发抽奖庆祝一下！"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229475" y="2490788"/>
            <a:ext cx="175521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× 把用户的快乐变成品牌的营销机会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227570" y="2712720"/>
            <a:ext cx="17447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"开心吧？买一个庆祝一下？"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229475" y="2919412"/>
            <a:ext cx="142660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× 在用户开心的时刻硬推销售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2952750"/>
            <a:ext cx="180975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749618" y="3114199"/>
            <a:ext cx="11536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用户沉默/潜水时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52475" y="3348038"/>
            <a:ext cx="8953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用户几周没互动，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52475" y="3519488"/>
            <a:ext cx="11144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品牌要不要主动联系？</a:t>
            </a:r>
          </a:p>
        </p:txBody>
      </p:sp>
      <p:sp>
        <p:nvSpPr>
          <p:cNvPr id="48" name="Rectangle 48"/>
          <p:cNvSpPr/>
          <p:nvPr/>
        </p:nvSpPr>
        <p:spPr>
          <a:xfrm>
            <a:off x="2381250" y="2952750"/>
            <a:ext cx="95250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2648902" y="3331845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照顾者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333750" y="2952750"/>
            <a:ext cx="371475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3512820" y="3122295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不主动联系。空罐只在用户再次出现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512820" y="3331845"/>
            <a:ext cx="20076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时说："嘿，你回来了。我还在。"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514725" y="3614738"/>
            <a:ext cx="181546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克制的陪伴=尊重用户的独处空间。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048500" y="2952750"/>
            <a:ext cx="4572000" cy="85725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7227570" y="3122295"/>
            <a:ext cx="18762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"好久不见！看看我们的新品！"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229475" y="3348038"/>
            <a:ext cx="11582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× 沉默期间发促销=骚扰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227570" y="3569970"/>
            <a:ext cx="19485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"你连续7天没签到了，快回来！"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229475" y="3776662"/>
            <a:ext cx="159639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× 签到绑架=不尊重用户的注意力</a:t>
            </a:r>
          </a:p>
        </p:txBody>
      </p:sp>
      <p:sp>
        <p:nvSpPr>
          <p:cNvPr id="59" name="Rectangle 59"/>
          <p:cNvSpPr/>
          <p:nvPr/>
        </p:nvSpPr>
        <p:spPr>
          <a:xfrm>
            <a:off x="571500" y="3810000"/>
            <a:ext cx="180975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749618" y="3971449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角色自我介绍时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52475" y="4205288"/>
            <a:ext cx="79676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首次接触用户——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52475" y="4376738"/>
            <a:ext cx="84605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新角色发布/用户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52475" y="4548188"/>
            <a:ext cx="56673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第一次购买</a:t>
            </a:r>
          </a:p>
        </p:txBody>
      </p:sp>
      <p:sp>
        <p:nvSpPr>
          <p:cNvPr id="64" name="Rectangle 64"/>
          <p:cNvSpPr/>
          <p:nvPr/>
        </p:nvSpPr>
        <p:spPr>
          <a:xfrm>
            <a:off x="2381250" y="3810000"/>
            <a:ext cx="95250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2714625" y="4189095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诗人</a:t>
            </a:r>
          </a:p>
        </p:txBody>
      </p:sp>
      <p:sp>
        <p:nvSpPr>
          <p:cNvPr id="66" name="Rectangle 66"/>
          <p:cNvSpPr/>
          <p:nvPr/>
        </p:nvSpPr>
        <p:spPr>
          <a:xfrm>
            <a:off x="3333750" y="3810000"/>
            <a:ext cx="371475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3512820" y="3979545"/>
            <a:ext cx="21982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刺刺说："我身上有刺，但你可以摸。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512820" y="4189095"/>
            <a:ext cx="14096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它们是软的。我也是。"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514725" y="4471988"/>
            <a:ext cx="21933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用角色特质隐喻情绪，而非直接介绍功能。</a:t>
            </a:r>
          </a:p>
        </p:txBody>
      </p:sp>
      <p:sp>
        <p:nvSpPr>
          <p:cNvPr id="70" name="Rectangle 70"/>
          <p:cNvSpPr/>
          <p:nvPr/>
        </p:nvSpPr>
        <p:spPr>
          <a:xfrm>
            <a:off x="7048500" y="3810000"/>
            <a:ext cx="4572000" cy="85725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7227570" y="3979545"/>
            <a:ext cx="18696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"刺刺是一款高7cm的PVC手办，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227570" y="4189095"/>
            <a:ext cx="15804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采用XX工艺，限量XXXX体"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229475" y="4443412"/>
            <a:ext cx="142660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× 产品规格不是角色自我介绍</a:t>
            </a:r>
          </a:p>
        </p:txBody>
      </p:sp>
      <p:sp>
        <p:nvSpPr>
          <p:cNvPr id="74" name="Rectangle 74"/>
          <p:cNvSpPr/>
          <p:nvPr/>
        </p:nvSpPr>
        <p:spPr>
          <a:xfrm>
            <a:off x="571500" y="4667250"/>
            <a:ext cx="180975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749618" y="4828699"/>
            <a:ext cx="11536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品牌出错/道歉时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52475" y="5062538"/>
            <a:ext cx="73652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发货延误/产品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752475" y="5233988"/>
            <a:ext cx="73652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瑕疵/内容失误</a:t>
            </a:r>
          </a:p>
        </p:txBody>
      </p:sp>
      <p:sp>
        <p:nvSpPr>
          <p:cNvPr id="78" name="Rectangle 78"/>
          <p:cNvSpPr/>
          <p:nvPr/>
        </p:nvSpPr>
        <p:spPr>
          <a:xfrm>
            <a:off x="2381250" y="4667250"/>
            <a:ext cx="95250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2481310" y="5046345"/>
            <a:ext cx="7523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照顾者+诗人</a:t>
            </a:r>
          </a:p>
        </p:txBody>
      </p:sp>
      <p:sp>
        <p:nvSpPr>
          <p:cNvPr id="80" name="Rectangle 80"/>
          <p:cNvSpPr/>
          <p:nvPr/>
        </p:nvSpPr>
        <p:spPr>
          <a:xfrm>
            <a:off x="3333750" y="4667250"/>
            <a:ext cx="371475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3512820" y="4836795"/>
            <a:ext cx="21982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品牌（而非角色）出面说："我们搞砸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3512820" y="5046345"/>
            <a:ext cx="19353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了。对不起。这是我们要做的。"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3514725" y="5329238"/>
            <a:ext cx="25329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道歉时品牌必须亲自出面——角色不能替品牌道歉。</a:t>
            </a:r>
          </a:p>
        </p:txBody>
      </p:sp>
      <p:sp>
        <p:nvSpPr>
          <p:cNvPr id="84" name="Rectangle 84"/>
          <p:cNvSpPr/>
          <p:nvPr/>
        </p:nvSpPr>
        <p:spPr>
          <a:xfrm>
            <a:off x="7048500" y="4667250"/>
            <a:ext cx="4572000" cy="85725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85" name="TextBox 85"/>
          <p:cNvSpPr txBox="1"/>
          <p:nvPr/>
        </p:nvSpPr>
        <p:spPr>
          <a:xfrm>
            <a:off x="7227570" y="4836795"/>
            <a:ext cx="20076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雾人发："品牌大大让我来道个歉"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7229475" y="5062538"/>
            <a:ext cx="14375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× 角色不替品牌道歉——不真诚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7227570" y="5284470"/>
            <a:ext cx="13635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"由于不可抗力因素……"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7229475" y="5491162"/>
            <a:ext cx="82962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× 公关腔=不诚实</a:t>
            </a:r>
          </a:p>
        </p:txBody>
      </p:sp>
      <p:sp>
        <p:nvSpPr>
          <p:cNvPr id="89" name="Rectangle 89"/>
          <p:cNvSpPr/>
          <p:nvPr/>
        </p:nvSpPr>
        <p:spPr>
          <a:xfrm>
            <a:off x="571500" y="5810250"/>
            <a:ext cx="11049000" cy="476250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90" name="TextBox 90"/>
          <p:cNvSpPr txBox="1"/>
          <p:nvPr/>
        </p:nvSpPr>
        <p:spPr>
          <a:xfrm>
            <a:off x="1321070" y="5915978"/>
            <a:ext cx="95498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语气判断的铁律：在这个时刻，用户需要什么——需要安静的陪伴还是精准的表达？照顾者负责前者，诗人负责后者。品牌的责任是判断时刻。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3641050" y="6157912"/>
            <a:ext cx="490989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内部工具：所有对外文案发出前，过一个"场景-原型"匹配检查：这个时刻用户需要照顾者还是诗人？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P35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45465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品牌故事：创始故事——"我画了第一个雾人"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24283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不是"我创业了"——是"我画了第一个雾人"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95375"/>
            <a:ext cx="3619500" cy="3048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095375"/>
            <a:ext cx="361950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805135" y="1283018"/>
            <a:ext cx="11522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Act 1 · 起源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07893" y="1569720"/>
            <a:ext cx="11467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那个凌晨3点的夜晚</a:t>
            </a:r>
          </a:p>
        </p:txBody>
      </p:sp>
      <p:sp>
        <p:nvSpPr>
          <p:cNvPr id="10" name="Line 10"/>
          <p:cNvSpPr/>
          <p:nvPr/>
        </p:nvSpPr>
        <p:spPr>
          <a:xfrm>
            <a:off x="809625" y="180975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99148" y="2006441"/>
            <a:ext cx="503941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陈望舒在那个凌晨3点睡不着。窗外城市的灯光在雾里模糊成一片——看不清轮廓，分不出边界。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9148" y="2387441"/>
            <a:ext cx="41236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她打开iPad，随手画了一个灰色的人形——没有清晰的五官，边缘模糊，像雾。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9148" y="2768441"/>
            <a:ext cx="19608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"这就是我今天早上的形状。"她想。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9148" y="3149441"/>
            <a:ext cx="58286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那个凌晨的雾人不是"设计出来的"——是一个真实的情绪被翻译成了一个形状。这是岛屿来信诞生的原始瞬间。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9148" y="3578066"/>
            <a:ext cx="37974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故事定位：不是"我有一个创业想法"——是"我在凌晨3点画了自己"。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286250" y="1095375"/>
            <a:ext cx="3619500" cy="3048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4286250" y="1095375"/>
            <a:ext cx="361950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494007" y="1283018"/>
            <a:ext cx="12039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Act 2 · 发现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89328" y="1569720"/>
            <a:ext cx="16133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原来每个人都有"雾人时刻"</a:t>
            </a:r>
          </a:p>
        </p:txBody>
      </p:sp>
      <p:sp>
        <p:nvSpPr>
          <p:cNvPr id="20" name="Line 20"/>
          <p:cNvSpPr/>
          <p:nvPr/>
        </p:nvSpPr>
        <p:spPr>
          <a:xfrm>
            <a:off x="4524375" y="180975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513898" y="2006441"/>
            <a:ext cx="54551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她把这个灰色小人发到了朋友圈——没有解释，只有图。第二天早上她醒来，看到了从未有过的评论量。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13898" y="2387441"/>
            <a:ext cx="278020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"这是我" "能不能画一个我" "它是灰色的，我也是"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13898" y="2768441"/>
            <a:ext cx="926865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她突然意识到：不是只有她一个人在凌晨3点觉得自己是灰色的。每个人的手机里都存着一张"说不清但就是我自己"的表情包。但他们缺一个具体的、可以放在桌上的"自己"。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13898" y="3578066"/>
            <a:ext cx="48665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故事定位：不是"我做了一个市场调研"——是"我发了一张画，然后发现别人也需要它"。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001000" y="1095375"/>
            <a:ext cx="3619500" cy="3048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8001000" y="1095375"/>
            <a:ext cx="3619500" cy="38100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208757" y="1283018"/>
            <a:ext cx="12039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Act 3 · 决定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72633" y="1569720"/>
            <a:ext cx="18762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让每个情绪有一个"来信的角色"</a:t>
            </a:r>
          </a:p>
        </p:txBody>
      </p:sp>
      <p:sp>
        <p:nvSpPr>
          <p:cNvPr id="29" name="Line 29"/>
          <p:cNvSpPr/>
          <p:nvPr/>
        </p:nvSpPr>
        <p:spPr>
          <a:xfrm>
            <a:off x="8239125" y="180975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228648" y="2006441"/>
            <a:ext cx="355134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她开始画更多角色——不是"设计更多产品"，而是"翻译更多情绪"。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228648" y="2387441"/>
            <a:ext cx="53044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迷茫=雾人。防御但柔软的=刺刺。总觉得"还不够"的=空罐。暗处发光的=暖光。慢慢生长的=根根。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228648" y="2768441"/>
            <a:ext cx="53466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每个角色诞生时都带着一封信——不是产品说明书，是角色写给"正在经历这种情绪的人"的一封回信。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28648" y="3149441"/>
            <a:ext cx="37682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因为"我画它的时候想到的是那种情绪。它应该替那种情绪说点什么。"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228648" y="3578066"/>
            <a:ext cx="413271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故事定位：不是"我们规划了5个SKU"——是"五种情绪各找到了一封回信"。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71500" y="4429125"/>
            <a:ext cx="11049000" cy="523875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46760" y="4537710"/>
            <a:ext cx="16866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品牌故事三要素检查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1522" y="4787741"/>
            <a:ext cx="124436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① 真实感 ✓ — 凌晨3点睡不着、发朋友圈、收到评论——都是真实的日常瞬间，不是宏大的创业叙事。 ② 可传播 ✓ — "我画了第一个雾人"是用户能复述的一句话。 ③ 可扩展 ✓ — 雾人→刺刺→空罐→暖光→根根，每个新角色都是故事的下一章。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5143500"/>
            <a:ext cx="3524250" cy="666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50570" y="5284470"/>
            <a:ext cx="1541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这个故事的三个使用场景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51522" y="5530691"/>
            <a:ext cx="33706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① 众筹页面开篇 ② 创始人首次播客/访谈 ③ 品牌官网"关于"页面</a:t>
            </a:r>
          </a:p>
        </p:txBody>
      </p:sp>
      <p:sp>
        <p:nvSpPr>
          <p:cNvPr id="41" name="Rectangle 41"/>
          <p:cNvSpPr/>
          <p:nvPr/>
        </p:nvSpPr>
        <p:spPr>
          <a:xfrm>
            <a:off x="4333875" y="5143500"/>
            <a:ext cx="3524250" cy="666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4512945" y="5284470"/>
            <a:ext cx="15548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创始人故事的"不做什么"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513898" y="5530691"/>
            <a:ext cx="39429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① 不写成"创业叙事"（"放弃XX高薪"） ② 不堆数据论证 ③ 不讲"宏大愿景"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096250" y="5143500"/>
            <a:ext cx="3524250" cy="666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275320" y="5284470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参考案例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276272" y="5530691"/>
            <a:ext cx="48104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Warby Parker创立故事（"掉了眼镜，买不起新的"）——一个微小、真实、可复述的瞬间。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61022" y="6006941"/>
            <a:ext cx="838907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定位一致性：品牌做"情感翻译者"，创始人的故事本身就是一个"翻译行为"——把凌晨3点的灰色感翻译成雾人，把500条评论翻译成"这是一件值得做的事"。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90320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品牌故事：故事与定位的一致性验证 × 风险平衡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0855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故事不是"好听就行"——是"每一个字都在翻译生态位"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54355" y="949642"/>
            <a:ext cx="25496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故事元素 × 定位策略映射表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238250"/>
            <a:ext cx="1524000" cy="2857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69991" y="1349216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故事元素</a:t>
            </a:r>
          </a:p>
        </p:txBody>
      </p:sp>
      <p:sp>
        <p:nvSpPr>
          <p:cNvPr id="9" name="Rectangle 9"/>
          <p:cNvSpPr/>
          <p:nvPr/>
        </p:nvSpPr>
        <p:spPr>
          <a:xfrm>
            <a:off x="2095500" y="1238250"/>
            <a:ext cx="2857500" cy="2857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754678" y="1349216"/>
            <a:ext cx="15391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翻译的是生态位的哪个维度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953000" y="1238250"/>
            <a:ext cx="1143000" cy="2857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324249" y="1349216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一致性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1524000"/>
            <a:ext cx="1524000" cy="5238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28414" y="1739741"/>
            <a:ext cx="8101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凌晨3点睡不着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095500" y="1524000"/>
            <a:ext cx="2857500" cy="5238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2227898" y="1644491"/>
            <a:ext cx="21837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用户独处时刻 → 情绪缺口（Part 1发现）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28850" y="1843088"/>
            <a:ext cx="174426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对应小夏画像——"凌晨3点的出租屋"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953000" y="1524000"/>
            <a:ext cx="1143000" cy="523875"/>
          </a:xfrm>
          <a:prstGeom prst="rect">
            <a:avLst/>
          </a:prstGeom>
          <a:solidFill>
            <a:srgbClr val="8B9D8B">
              <a:alpha val="15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333737" y="1739741"/>
            <a:ext cx="3815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✓ 一致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047875"/>
            <a:ext cx="1524000" cy="5238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14542" y="2263616"/>
            <a:ext cx="12379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"这就是我今天的样子"</a:t>
            </a:r>
          </a:p>
        </p:txBody>
      </p:sp>
      <p:sp>
        <p:nvSpPr>
          <p:cNvPr id="22" name="Rectangle 22"/>
          <p:cNvSpPr/>
          <p:nvPr/>
        </p:nvSpPr>
        <p:spPr>
          <a:xfrm>
            <a:off x="2095500" y="2047875"/>
            <a:ext cx="2857500" cy="5238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2227898" y="2168366"/>
            <a:ext cx="1906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情绪翻译者的核心行为——"把情绪翻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28850" y="2366962"/>
            <a:ext cx="145399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译成视觉形状"=品牌核心能力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953000" y="2047875"/>
            <a:ext cx="1143000" cy="523875"/>
          </a:xfrm>
          <a:prstGeom prst="rect">
            <a:avLst/>
          </a:prstGeom>
          <a:solidFill>
            <a:srgbClr val="8B9D8B">
              <a:alpha val="15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333737" y="2263616"/>
            <a:ext cx="3815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✓ 一致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2571750"/>
            <a:ext cx="1524000" cy="5238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62143" y="2787491"/>
            <a:ext cx="9427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朋友圈500条评论</a:t>
            </a:r>
          </a:p>
        </p:txBody>
      </p:sp>
      <p:sp>
        <p:nvSpPr>
          <p:cNvPr id="29" name="Rectangle 29"/>
          <p:cNvSpPr/>
          <p:nvPr/>
        </p:nvSpPr>
        <p:spPr>
          <a:xfrm>
            <a:off x="2095500" y="2571750"/>
            <a:ext cx="2857500" cy="5238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227898" y="2692241"/>
            <a:ext cx="19729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用户需求验证——"不是我一个人这样"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228850" y="2890838"/>
            <a:ext cx="18647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= 四个用户画像的共同需求（被理解）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953000" y="2571750"/>
            <a:ext cx="1143000" cy="523875"/>
          </a:xfrm>
          <a:prstGeom prst="rect">
            <a:avLst/>
          </a:prstGeom>
          <a:solidFill>
            <a:srgbClr val="8B9D8B">
              <a:alpha val="15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333737" y="2787491"/>
            <a:ext cx="3815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✓ 一致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3095625"/>
            <a:ext cx="1524000" cy="5238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07922" y="3311366"/>
            <a:ext cx="10511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五个角色=五种情绪</a:t>
            </a:r>
          </a:p>
        </p:txBody>
      </p:sp>
      <p:sp>
        <p:nvSpPr>
          <p:cNvPr id="36" name="Rectangle 36"/>
          <p:cNvSpPr/>
          <p:nvPr/>
        </p:nvSpPr>
        <p:spPr>
          <a:xfrm>
            <a:off x="2095500" y="3095625"/>
            <a:ext cx="2857500" cy="5238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2227898" y="3216116"/>
            <a:ext cx="184639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覆盖全情绪光谱 = 情感价值型定位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228850" y="3414712"/>
            <a:ext cx="176617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"每一种情绪都收到一封回信"= 使命</a:t>
            </a:r>
          </a:p>
        </p:txBody>
      </p:sp>
      <p:sp>
        <p:nvSpPr>
          <p:cNvPr id="39" name="Rectangle 39"/>
          <p:cNvSpPr/>
          <p:nvPr/>
        </p:nvSpPr>
        <p:spPr>
          <a:xfrm>
            <a:off x="4953000" y="3095625"/>
            <a:ext cx="1143000" cy="523875"/>
          </a:xfrm>
          <a:prstGeom prst="rect">
            <a:avLst/>
          </a:prstGeom>
          <a:solidFill>
            <a:srgbClr val="8B9D8B">
              <a:alpha val="15000"/>
            </a:srgbClr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333737" y="3311366"/>
            <a:ext cx="3815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✓ 一致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71500" y="3619500"/>
            <a:ext cx="1524000" cy="5238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89254" y="3835241"/>
            <a:ext cx="8884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"画"不是"设计"</a:t>
            </a:r>
          </a:p>
        </p:txBody>
      </p:sp>
      <p:sp>
        <p:nvSpPr>
          <p:cNvPr id="43" name="Rectangle 43"/>
          <p:cNvSpPr/>
          <p:nvPr/>
        </p:nvSpPr>
        <p:spPr>
          <a:xfrm>
            <a:off x="2095500" y="3619500"/>
            <a:ext cx="2857500" cy="5238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2227898" y="3739991"/>
            <a:ext cx="20271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品牌人格（诗人原型）——"用精准的表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228850" y="3938588"/>
            <a:ext cx="17826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达击中情绪"=诗人，不是工业设计师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953000" y="3619500"/>
            <a:ext cx="1143000" cy="523875"/>
          </a:xfrm>
          <a:prstGeom prst="rect">
            <a:avLst/>
          </a:prstGeom>
          <a:solidFill>
            <a:srgbClr val="8B9D8B">
              <a:alpha val="15000"/>
            </a:srgbClr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333737" y="3835241"/>
            <a:ext cx="3815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✓ 一致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381750" y="1095375"/>
            <a:ext cx="5238750" cy="3048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6381750" y="1095375"/>
            <a:ext cx="5238750" cy="38100"/>
          </a:xfrm>
          <a:prstGeom prst="rect">
            <a:avLst/>
          </a:prstGeom>
          <a:solidFill>
            <a:srgbClr val="B8845A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555105" y="1263968"/>
            <a:ext cx="19285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三大风险 × 平衡策略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559868" y="1656874"/>
            <a:ext cx="28581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风险1：过度悲情——品牌=负面情绪的集中营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61772" y="1911191"/>
            <a:ext cx="33103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品牌只覆盖迷茫/孤独/焦虑，不谈"暖光时刻"和"根根的生长"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1772" y="2149316"/>
            <a:ext cx="5049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平衡策略：五个角色覆盖情绪光谱的正负两极（雾人/刺刺/空罐=负重；暖光/根根=正向）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559868" y="2514124"/>
            <a:ext cx="31945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风险2：过度文艺腔——品牌=文艺青年的自言自语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561772" y="2768441"/>
            <a:ext cx="32681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故事里全是"凌晨3点""灰色""孤独"——太软，缺乏商业说服力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561772" y="3006566"/>
            <a:ext cx="50752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平衡策略：每个角色故事后接入数据和方法论（"500条评论"=验证；"五维度拆解"=方法）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59868" y="3371374"/>
            <a:ext cx="31721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风险3：创始人IP依赖——品牌=陈望舒的个人品牌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61772" y="3625691"/>
            <a:ext cx="27922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过度依赖创始人为唯一叙事主体，品牌失去独立人格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561772" y="3863816"/>
            <a:ext cx="56762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平衡策略：三角叙事体系——创始人讲"为什么做" / 品牌讲"我们怎么做的" / 角色讲"今天发生了什么"</a:t>
            </a:r>
          </a:p>
        </p:txBody>
      </p:sp>
      <p:sp>
        <p:nvSpPr>
          <p:cNvPr id="60" name="Rectangle 60"/>
          <p:cNvSpPr/>
          <p:nvPr/>
        </p:nvSpPr>
        <p:spPr>
          <a:xfrm>
            <a:off x="571500" y="4476750"/>
            <a:ext cx="11049000" cy="523875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746760" y="4585335"/>
            <a:ext cx="24227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品牌叙事架构：三角叙事体系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51522" y="4844891"/>
            <a:ext cx="115881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创始人层（陈望舒）:"我为什么做"——凌晨3点故事，只在关键时刻出场。| 品牌层（岛屿来信）:"我们怎么做的"——品牌决策和原则，每月一篇。| 角色层（五个角色）:"今天发生了什么"——角色的日常生活，每日更新。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5143500"/>
            <a:ext cx="3333750" cy="666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64" name="Rectangle 64"/>
          <p:cNvSpPr/>
          <p:nvPr/>
        </p:nvSpPr>
        <p:spPr>
          <a:xfrm>
            <a:off x="571500" y="5143500"/>
            <a:ext cx="57150" cy="66675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844868" y="5295424"/>
            <a:ext cx="12807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创始人叙事（10%）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46772" y="5530691"/>
            <a:ext cx="29187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播客/访谈/众筹页面/年度来信。频率：每季度1-2次。</a:t>
            </a:r>
          </a:p>
        </p:txBody>
      </p:sp>
      <p:sp>
        <p:nvSpPr>
          <p:cNvPr id="67" name="Rectangle 67"/>
          <p:cNvSpPr/>
          <p:nvPr/>
        </p:nvSpPr>
        <p:spPr>
          <a:xfrm>
            <a:off x="4143375" y="5143500"/>
            <a:ext cx="3333750" cy="666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68" name="Rectangle 68"/>
          <p:cNvSpPr/>
          <p:nvPr/>
        </p:nvSpPr>
        <p:spPr>
          <a:xfrm>
            <a:off x="4143375" y="5143500"/>
            <a:ext cx="57150" cy="66675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4416742" y="5295424"/>
            <a:ext cx="11685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品牌叙事（20%）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418648" y="5530691"/>
            <a:ext cx="28524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产品发布/品牌决策/价值观声明。频率：每月1-2次。</a:t>
            </a:r>
          </a:p>
        </p:txBody>
      </p:sp>
      <p:sp>
        <p:nvSpPr>
          <p:cNvPr id="71" name="Rectangle 71"/>
          <p:cNvSpPr/>
          <p:nvPr/>
        </p:nvSpPr>
        <p:spPr>
          <a:xfrm>
            <a:off x="7715250" y="5143500"/>
            <a:ext cx="3905250" cy="666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2" name="Rectangle 72"/>
          <p:cNvSpPr/>
          <p:nvPr/>
        </p:nvSpPr>
        <p:spPr>
          <a:xfrm>
            <a:off x="7715250" y="5143500"/>
            <a:ext cx="57150" cy="666750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7988618" y="5295424"/>
            <a:ext cx="11685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角色叙事（70%）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990522" y="5530691"/>
            <a:ext cx="36055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角色日记/来信/互动。频率：每个角色每周2-3次，五个角色轮流。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61022" y="6054566"/>
            <a:ext cx="84191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定位一致性：品牌承诺"让你的情绪收到回信"——回信不应该由创始人写，不应该由品牌写。回信由角色写。三角叙事体系确保70%的内容来自角色第一人称。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P37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9147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品牌命名："岛屿来信"四个字的重量——五维分析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755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"岛屿来信"——不是"取个好听的名字"，是"四个字各有一个任务"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00125"/>
            <a:ext cx="11049000" cy="8096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000125"/>
            <a:ext cx="76200" cy="809625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38200" y="1123950"/>
            <a:ext cx="2681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岛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1118" y="1180624"/>
            <a:ext cx="42262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孤独特质——每个人都是一座孤岛，但不是每座孤岛都有信寄出去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6772" y="1453991"/>
            <a:ext cx="76420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"岛"= 独立的自我。"孤"不是贬义——是每个现代人都有自己的一座情绪孤岛。名字不试图否认"孤独"，而是接受它：岛是真的，但信也是真的。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7725" y="1652588"/>
            <a:ext cx="398430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定位映射：生态位中的"独处时刻"——用户的独处是出发点，不是需要修复的问题。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1905000"/>
            <a:ext cx="11049000" cy="8096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571500" y="1905000"/>
            <a:ext cx="76200" cy="809625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38200" y="2028825"/>
            <a:ext cx="2681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屿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1118" y="2085499"/>
            <a:ext cx="30300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小而完整——不是大陆，是小而自洽的独立世界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6772" y="2358866"/>
            <a:ext cx="595514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"屿"= 小岛。品牌不做"情绪的大陆"——不试图覆盖所有人的所有情绪。做的是"五个角色，五个完整的小世界"。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7725" y="2557462"/>
            <a:ext cx="48222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定位映射：品牌规模策略——"小而完整"是竞争壁垒。不是扩张到无限SKU，而是在每个角色上做深。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2809875"/>
            <a:ext cx="11049000" cy="8096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71500" y="2809875"/>
            <a:ext cx="76200" cy="809625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38200" y="2933700"/>
            <a:ext cx="2681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21118" y="2990374"/>
            <a:ext cx="44056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方向感——信是"来"的，不是"去"的。品牌是接收方，用户是发出方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6772" y="3263741"/>
            <a:ext cx="76299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"来"= 从岛到收信人。"信来了"——用户是等待回音的那一方。品牌不主动出击，不推送、不强触达。品牌在岛上等，用户发出情绪后收到回信。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7725" y="3462338"/>
            <a:ext cx="50906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定位映射：价值观"克制的陪伴"——品牌不绑架注意力。用户需要时"信来"，不需要时品牌安静待在岛上。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714750"/>
            <a:ext cx="11049000" cy="8096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571500" y="3714750"/>
            <a:ext cx="76200" cy="809625"/>
          </a:xfrm>
          <a:prstGeom prst="rect">
            <a:avLst/>
          </a:prstGeom>
          <a:solidFill>
            <a:srgbClr val="B8845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38200" y="3838575"/>
            <a:ext cx="2681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信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21118" y="3895249"/>
            <a:ext cx="3717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私密媒介——信是1对1的、手写的、不公开的、需要等待的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6772" y="4168616"/>
            <a:ext cx="87565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"信"= 品牌的核心产品形式。不是公域内容、不是广播、不是社交媒体算法推送。信是私密的、有具体收件人的、需要拆开才知道内容的。信=品牌承诺的物理形态。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7725" y="4367212"/>
            <a:ext cx="55178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定位映射：价值观"私密的对话"——信的私密性天然排斥公域大声量。品牌的核心产品形式本身就是价值观的承载。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4619625"/>
            <a:ext cx="11049000" cy="8096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571500" y="4619625"/>
            <a:ext cx="76200" cy="809625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38200" y="4743450"/>
            <a:ext cx="167130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"岛屿来信"整体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21118" y="4800124"/>
            <a:ext cx="62596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四个字的组合 = 一个完整的故事前提：有人住在岛上，有人在等信，有人寄信。读者=收信人。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6772" y="5073491"/>
            <a:ext cx="767214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名字本身就是一个"微型故事"——不需要解释"我们做什么"。听到名字的第一反应是"谁从岛上寄了什么来？"——这个好奇心就是品牌的第一触点。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7725" y="5272088"/>
            <a:ext cx="72704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定位映射：品牌承诺"让你的情绪收到回信"——名字和广告语的锁扣关系：岛是情绪的起点，信是情绪的回应。名字定义了世界观，广告语定义了体验。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715000"/>
            <a:ext cx="11049000" cy="523875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48665" y="5839778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命名五维检查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51522" y="6083141"/>
            <a:ext cx="109254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① 可记忆 ✓ 四个字，一个意象 ② 可区分 ✓ 在潮玩品类无同名/近名品牌 ③ 可扩展 ✓ 不限于"手办"——可扩展到内容、空间、礼品 ④ 有故事 ✓ 名字本身=品牌故事的压缩版 ⑤ 可注册 ™ 待调研确认商标注册可行性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P38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37760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广告语：主/副/角色三层 + 四不原则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28226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广告语不是"一句话"——是"三个层次，各说各的"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00125"/>
            <a:ext cx="8572500" cy="4857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4855" y="116871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广告语三层架构</a:t>
            </a:r>
          </a:p>
        </p:txBody>
      </p:sp>
      <p:sp>
        <p:nvSpPr>
          <p:cNvPr id="8" name="Line 8"/>
          <p:cNvSpPr/>
          <p:nvPr/>
        </p:nvSpPr>
        <p:spPr>
          <a:xfrm>
            <a:off x="762000" y="1428750"/>
            <a:ext cx="8191500" cy="9525"/>
          </a:xfrm>
          <a:custGeom>
            <a:avLst/>
            <a:gdLst/>
            <a:ahLst/>
            <a:cxnLst/>
            <a:rect l="l" t="t" r="r" b="b"/>
            <a:pathLst>
              <a:path w="8191500" h="9525">
                <a:moveTo>
                  <a:pt x="0" y="0"/>
                </a:moveTo>
                <a:lnTo>
                  <a:pt x="81915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1571625"/>
            <a:ext cx="8191500" cy="1143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762000" y="1571625"/>
            <a:ext cx="57150" cy="114300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89648" y="1768316"/>
            <a:ext cx="30130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第一层 · 主广告语（品牌层）—— 说清楚"品牌是什么"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9170" y="1993582"/>
            <a:ext cx="578572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岛屿来信 —— 让你的每一种情绪，都收到一封回信。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9648" y="2368391"/>
            <a:ext cx="86601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结构：品牌名（岛屿来信） + 一个动作（收到回信） + 一个范围（每一种情绪）。出现位置：官网首页、众筹页面、品牌介绍、投资材料首页、所有官方账号Bio。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2857500"/>
            <a:ext cx="8191500" cy="9525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762000" y="2857500"/>
            <a:ext cx="57150" cy="9525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89648" y="3054191"/>
            <a:ext cx="31395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第二层 · 副广告语（产品层）—— 说清楚"买回去是什么"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2980" y="3283268"/>
            <a:ext cx="33467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每一个角色，都是一封寄给你的信。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9648" y="3606641"/>
            <a:ext cx="63045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结构：产品形式（角色） + 品牌承诺的具象化（信）。出现位置：产品详情页、众筹产品区、包装内侧、线下陈列牌。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3952875"/>
            <a:ext cx="8191500" cy="1762125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762000" y="3952875"/>
            <a:ext cx="57150" cy="1762125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89648" y="4149566"/>
            <a:ext cx="37341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第三层 · 角色广告语（角色层）——每个角色一句，说清楚"它是谁"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9648" y="446389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雾人：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63040" y="4439602"/>
            <a:ext cx="1268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"灰色也没关系。"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228022" y="446389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刺刺：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701415" y="4439602"/>
            <a:ext cx="1268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"我的刺是软的。"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656898" y="446389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空罐：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130290" y="4439602"/>
            <a:ext cx="14221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"装不满也没关系。"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89648" y="478774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暖光：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63040" y="4763452"/>
            <a:ext cx="23422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"你发光的时候，我也亮了一点。"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228022" y="478774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根根：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701415" y="4763452"/>
            <a:ext cx="14221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"慢一点。我在长。"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89648" y="5244941"/>
            <a:ext cx="61660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结构：角色名 + 一句不超过12个字的话。出现位置：角色包装来信首页、角色专属页面、角色首次出现在内容中时。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9286875" y="1000125"/>
            <a:ext cx="2333625" cy="4857750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0065639" y="11849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四不原则</a:t>
            </a:r>
          </a:p>
        </p:txBody>
      </p:sp>
      <p:sp>
        <p:nvSpPr>
          <p:cNvPr id="35" name="Line 35"/>
          <p:cNvSpPr/>
          <p:nvPr/>
        </p:nvSpPr>
        <p:spPr>
          <a:xfrm>
            <a:off x="9525000" y="1447800"/>
            <a:ext cx="1857375" cy="9525"/>
          </a:xfrm>
          <a:custGeom>
            <a:avLst/>
            <a:gdLst/>
            <a:ahLst/>
            <a:cxnLst/>
            <a:rect l="l" t="t" r="r" b="b"/>
            <a:pathLst>
              <a:path w="1857375" h="9525">
                <a:moveTo>
                  <a:pt x="0" y="0"/>
                </a:moveTo>
                <a:lnTo>
                  <a:pt x="1857375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9477375" y="1619250"/>
            <a:ext cx="1952625" cy="8096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0230469" y="1760220"/>
            <a:ext cx="4369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不夸张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563100" y="2014538"/>
            <a:ext cx="124587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不用"最好的""国内首创"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563100" y="2205038"/>
            <a:ext cx="12349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"全国第一"等最高级词。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477375" y="2571750"/>
            <a:ext cx="1952625" cy="8096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0230469" y="2712720"/>
            <a:ext cx="4369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不说教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563100" y="2967038"/>
            <a:ext cx="124587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不用"你应该""你需要"。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563100" y="3157538"/>
            <a:ext cx="11144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品牌不是用户的老师。</a:t>
            </a:r>
          </a:p>
        </p:txBody>
      </p:sp>
      <p:sp>
        <p:nvSpPr>
          <p:cNvPr id="44" name="Rectangle 44"/>
          <p:cNvSpPr/>
          <p:nvPr/>
        </p:nvSpPr>
        <p:spPr>
          <a:xfrm>
            <a:off x="9477375" y="3524250"/>
            <a:ext cx="1952625" cy="8096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0161460" y="3665220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不蹭热点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563100" y="3919538"/>
            <a:ext cx="13444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不追节日/热搜/社会事件。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563100" y="4110038"/>
            <a:ext cx="12842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品牌的沟通节奏=角色生活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563100" y="4252912"/>
            <a:ext cx="11144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节奏，不追外部日历。</a:t>
            </a:r>
          </a:p>
        </p:txBody>
      </p:sp>
      <p:sp>
        <p:nvSpPr>
          <p:cNvPr id="49" name="Rectangle 49"/>
          <p:cNvSpPr/>
          <p:nvPr/>
        </p:nvSpPr>
        <p:spPr>
          <a:xfrm>
            <a:off x="9477375" y="4476750"/>
            <a:ext cx="1952625" cy="8096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10230469" y="4617720"/>
            <a:ext cx="4369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不废话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563100" y="4872038"/>
            <a:ext cx="11582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每句广告语≤15字。超过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563100" y="5062538"/>
            <a:ext cx="87891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15字的重新压缩。</a:t>
            </a:r>
          </a:p>
        </p:txBody>
      </p:sp>
      <p:sp>
        <p:nvSpPr>
          <p:cNvPr id="53" name="Rectangle 53"/>
          <p:cNvSpPr/>
          <p:nvPr/>
        </p:nvSpPr>
        <p:spPr>
          <a:xfrm>
            <a:off x="571500" y="6048375"/>
            <a:ext cx="11049000" cy="333375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1648432" y="6178391"/>
            <a:ext cx="88951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三层定位：主广告语建心智（"这个品牌=情绪回信"）→ 副广告语促行动（"角色=信"）→ 角色广告语建关系（"这个角色=我的那部分"）。三层各司其职，不互相抢戏。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P39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9147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视觉识别：色彩系统——从"雨后清晨的路面"开始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3221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品牌的颜色不是在色板上选的，是在"那个时刻"里找到的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00125"/>
            <a:ext cx="5524500" cy="2381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4855" y="1168718"/>
            <a:ext cx="27670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主色系统——品牌的"旧纸"底色</a:t>
            </a:r>
          </a:p>
        </p:txBody>
      </p:sp>
      <p:sp>
        <p:nvSpPr>
          <p:cNvPr id="8" name="Line 8"/>
          <p:cNvSpPr/>
          <p:nvPr/>
        </p:nvSpPr>
        <p:spPr>
          <a:xfrm>
            <a:off x="762000" y="142875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1619250"/>
            <a:ext cx="476250" cy="381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370648" y="1768316"/>
            <a:ext cx="882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旧纸白 #F5F0E8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2552" y="1946434"/>
            <a:ext cx="161420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页面背景——不是纯白，是"旧纸的白"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2095500"/>
            <a:ext cx="47625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370648" y="2244566"/>
            <a:ext cx="1002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卡片底色 #EDE8E0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2552" y="2422684"/>
            <a:ext cx="90439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卡片背景、区块底色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2571750"/>
            <a:ext cx="476250" cy="38100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370648" y="2720816"/>
            <a:ext cx="882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深空蓝 #3C3C5C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72552" y="2898934"/>
            <a:ext cx="121000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正文、标题文字——夜空颜色</a:t>
            </a:r>
          </a:p>
        </p:txBody>
      </p:sp>
      <p:sp>
        <p:nvSpPr>
          <p:cNvPr id="18" name="Rectangle 18"/>
          <p:cNvSpPr/>
          <p:nvPr/>
        </p:nvSpPr>
        <p:spPr>
          <a:xfrm>
            <a:off x="3143250" y="1619250"/>
            <a:ext cx="476250" cy="3810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3751898" y="1768316"/>
            <a:ext cx="7619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雾灰 #7B7B8E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753802" y="1946434"/>
            <a:ext cx="111142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品牌核心色——注释、图标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143250" y="2095500"/>
            <a:ext cx="476250" cy="3810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3751898" y="2244566"/>
            <a:ext cx="7619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铜绿 #8B9D8B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53802" y="2422684"/>
            <a:ext cx="121000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点缀、正向指标——旧铜器绿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143250" y="2571750"/>
            <a:ext cx="476250" cy="381000"/>
          </a:xfrm>
          <a:prstGeom prst="rect">
            <a:avLst/>
          </a:prstGeom>
          <a:solidFill>
            <a:srgbClr val="D5D0C8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3751898" y="2720816"/>
            <a:ext cx="882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边框灰 #D5D0C8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753802" y="2898934"/>
            <a:ext cx="80581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分隔线、卡片边框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3095625"/>
            <a:ext cx="5334000" cy="190500"/>
          </a:xfrm>
          <a:prstGeom prst="rect">
            <a:avLst/>
          </a:prstGeom>
          <a:solidFill>
            <a:srgbClr val="3C3C5C">
              <a:alpha val="3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47725" y="3157538"/>
            <a:ext cx="817411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色彩灵感来源：①雨后清晨的路面——雾灰的水迹在半干的水泥地上形成的渐层 ②旧信纸在抽屉里放了十年后微微泛黄的白 ③生锈铜器的绿——不是鲜艳的绿，是时间染过的绿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286500" y="1000125"/>
            <a:ext cx="5334000" cy="2381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9855" y="1168718"/>
            <a:ext cx="33674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情绪强调色——角色专属（限量使用）</a:t>
            </a:r>
          </a:p>
        </p:txBody>
      </p:sp>
      <p:sp>
        <p:nvSpPr>
          <p:cNvPr id="31" name="Line 31"/>
          <p:cNvSpPr/>
          <p:nvPr/>
        </p:nvSpPr>
        <p:spPr>
          <a:xfrm>
            <a:off x="6477000" y="142875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477000" y="1619250"/>
            <a:ext cx="476250" cy="381000"/>
          </a:xfrm>
          <a:prstGeom prst="rect">
            <a:avLst/>
          </a:prstGeom>
          <a:solidFill>
            <a:srgbClr val="F5E6B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085648" y="1701641"/>
            <a:ext cx="882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夜光黄 #F5E6B8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87552" y="1860709"/>
            <a:ext cx="101284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暖光的专属色——小夜灯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477000" y="2095500"/>
            <a:ext cx="476250" cy="381000"/>
          </a:xfrm>
          <a:prstGeom prst="rect">
            <a:avLst/>
          </a:prstGeom>
          <a:solidFill>
            <a:srgbClr val="A8C97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085648" y="2177891"/>
            <a:ext cx="882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嫩芽绿 #A8C97B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087552" y="2336959"/>
            <a:ext cx="91425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根根的专属色——生长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477000" y="2571750"/>
            <a:ext cx="476250" cy="381000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085648" y="2654141"/>
            <a:ext cx="1002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半透明蓝 #7BA4B5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087552" y="2813209"/>
            <a:ext cx="91425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空罐的专属色——玻璃</a:t>
            </a:r>
          </a:p>
        </p:txBody>
      </p:sp>
      <p:sp>
        <p:nvSpPr>
          <p:cNvPr id="41" name="Rectangle 41"/>
          <p:cNvSpPr/>
          <p:nvPr/>
        </p:nvSpPr>
        <p:spPr>
          <a:xfrm>
            <a:off x="9048750" y="1619250"/>
            <a:ext cx="476250" cy="381000"/>
          </a:xfrm>
          <a:prstGeom prst="rect">
            <a:avLst/>
          </a:prstGeom>
          <a:solidFill>
            <a:srgbClr val="8B6F5C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657398" y="1701641"/>
            <a:ext cx="7619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暖棕 #8B6F5C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659302" y="1860709"/>
            <a:ext cx="91425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刺刺的专属色——大地</a:t>
            </a:r>
          </a:p>
        </p:txBody>
      </p:sp>
      <p:sp>
        <p:nvSpPr>
          <p:cNvPr id="44" name="Rectangle 44"/>
          <p:cNvSpPr/>
          <p:nvPr/>
        </p:nvSpPr>
        <p:spPr>
          <a:xfrm>
            <a:off x="9048750" y="2095500"/>
            <a:ext cx="476250" cy="381000"/>
          </a:xfrm>
          <a:prstGeom prst="rect">
            <a:avLst/>
          </a:prstGeom>
          <a:solidFill>
            <a:srgbClr val="B8845A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657398" y="2177891"/>
            <a:ext cx="1002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做旧铜色 #B8845A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659302" y="2336959"/>
            <a:ext cx="90439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警告标记、注意提示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467475" y="3157538"/>
            <a:ext cx="754975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使用规则：情绪强调色仅在角色专属页面使用。日常页面（数据分析/策略框架/流程图表）只用主色系统。雾人不用专属色——雾人=雾灰，已在主色系统中。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3571875"/>
            <a:ext cx="11049000" cy="523875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746760" y="3680460"/>
            <a:ext cx="31772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色彩使用比例（主色:辅助色:强调色）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51522" y="3930491"/>
            <a:ext cx="873247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80% 旧纸白+卡片底色（背景） / 15% 雾灰+铜绿+深空蓝（信息层级） / 5% 情绪强调色（角色专属页面的情绪锚点）。强调色不能超过5%——否则失去"限量"的意义。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4286250"/>
            <a:ext cx="5334000" cy="10001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749618" y="4447699"/>
            <a:ext cx="27609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色彩心理学——为什么"旧纸白"不是"纯白"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51522" y="4692491"/>
            <a:ext cx="365979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纯白=新纸、医院、空白——太冷。旧纸白=时间、温度、手写的痕迹。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51522" y="4911566"/>
            <a:ext cx="47140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雾灰不是"灰色"=消极——雾灰=不确定、过渡、模糊中有形状的。"雾人=雾灰"不是偶然。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51522" y="5130641"/>
            <a:ext cx="39549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铜绿=时间的颜色。旧铜器在空气中放置久了生成的绿——不鲜艳，但耐看。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286500" y="4286250"/>
            <a:ext cx="5334000" cy="10001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464618" y="4447699"/>
            <a:ext cx="1669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色彩与品牌人格的一致性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466522" y="4692491"/>
            <a:ext cx="30573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照顾者："旧纸白+暖棕"=安全的、温暖的、包裹的质感。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466522" y="4911566"/>
            <a:ext cx="35392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诗人："雾灰+深空蓝"=克制的、精准的、留白的张力和想象空间。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466522" y="5130641"/>
            <a:ext cx="37802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两个原型共享一个色板——在温暖和精准之间找到"灰调诗性"的平衡点。</a:t>
            </a:r>
          </a:p>
        </p:txBody>
      </p:sp>
      <p:sp>
        <p:nvSpPr>
          <p:cNvPr id="61" name="Rectangle 61"/>
          <p:cNvSpPr/>
          <p:nvPr/>
        </p:nvSpPr>
        <p:spPr>
          <a:xfrm>
            <a:off x="571500" y="5476875"/>
            <a:ext cx="11049000" cy="523875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750570" y="5617845"/>
            <a:ext cx="27072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AI图像调色板：earthy-dusty（土灰调性）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51522" y="5835491"/>
            <a:ext cx="49369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所有AI生成图片统一使用 earthy-dusty 调色板——旧纸白基底+雾灰层次+铜绿点缀+暖光感。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P40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06360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视觉识别：Logo方向 × 字体 × 图形系统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9004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Logo不是"设计一个好看的标"——是"岛屿来信"四个字怎么写成视觉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00125"/>
            <a:ext cx="3524250" cy="4857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000125"/>
            <a:ext cx="352425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778213" y="1187768"/>
            <a:ext cx="11108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Logo三方向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48397" y="1482566"/>
            <a:ext cx="13704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推荐方向B，方向A/C备选</a:t>
            </a:r>
          </a:p>
        </p:txBody>
      </p:sp>
      <p:sp>
        <p:nvSpPr>
          <p:cNvPr id="10" name="Line 10"/>
          <p:cNvSpPr/>
          <p:nvPr/>
        </p:nvSpPr>
        <p:spPr>
          <a:xfrm>
            <a:off x="809625" y="16954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09625" y="1857375"/>
            <a:ext cx="3048000" cy="104775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41070" y="1979295"/>
            <a:ext cx="13409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方向A：手写体文字标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2975" y="2224088"/>
            <a:ext cx="17826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"岛屿来信"四个字以手写楷体呈现，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2975" y="2395538"/>
            <a:ext cx="144303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模仿旧书信封上的手写地址。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2975" y="2605088"/>
            <a:ext cx="19907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风险：辨识度可能不够，小尺寸不清晰。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2975" y="2776538"/>
            <a:ext cx="1662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适用：品牌内部物料、信件抬头。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09625" y="3048000"/>
            <a:ext cx="3048000" cy="1285875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809625" y="3048000"/>
            <a:ext cx="38100" cy="1285875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88695" y="3188970"/>
            <a:ext cx="1968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方向B（推荐）：岛屿符号+文字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90600" y="3424238"/>
            <a:ext cx="18811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左侧：五座小岛的极简剪影（对应五个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0600" y="3595688"/>
            <a:ext cx="194143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角色），岛屿之间有虚线连接（"信的路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0600" y="3767138"/>
            <a:ext cx="17333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径"）。右侧："岛屿来信"标准字。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0600" y="3976688"/>
            <a:ext cx="194143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优点：符号+文字组合，适用所有尺寸，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0600" y="4148138"/>
            <a:ext cx="204549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符号可独立使用（App icon、favicon）。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90600" y="4319588"/>
            <a:ext cx="21824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适用：全场景——产品包装/官网/社媒/物料。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09625" y="4476750"/>
            <a:ext cx="3048000" cy="904875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41070" y="4598670"/>
            <a:ext cx="13409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方向C：纯文字印章式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2975" y="4843462"/>
            <a:ext cx="17826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"岛屿来信"四个字排成方印章构图，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2975" y="5014912"/>
            <a:ext cx="13663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配"ISLAND LETTERS"环绕。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2975" y="5224462"/>
            <a:ext cx="18811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适用：产品底部刻印、火漆印章、联名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2022" y="5625941"/>
            <a:ext cx="8053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Logo硬约束：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2975" y="5853112"/>
            <a:ext cx="171688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① 单色优先——旧纸白底+深空蓝色标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2975" y="6043612"/>
            <a:ext cx="9008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② 不做渐变色Logo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333875" y="1000125"/>
            <a:ext cx="3524250" cy="4857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4333875" y="1000125"/>
            <a:ext cx="352425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664803" y="11877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字体系统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983028" y="1482566"/>
            <a:ext cx="22259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对比=楷体"信"的质感×黑体"数据"的可读</a:t>
            </a:r>
          </a:p>
        </p:txBody>
      </p:sp>
      <p:sp>
        <p:nvSpPr>
          <p:cNvPr id="38" name="Line 38"/>
          <p:cNvSpPr/>
          <p:nvPr/>
        </p:nvSpPr>
        <p:spPr>
          <a:xfrm>
            <a:off x="4572000" y="16954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4560570" y="1884045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中文标题字体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556760" y="2080260"/>
            <a:ext cx="161658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楷体 KaiTi / STKaiti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562475" y="2357438"/>
            <a:ext cx="2209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使用位置：页面标题、大标题、引语、品牌名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560570" y="2646045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中文正文字体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556760" y="2842260"/>
            <a:ext cx="12835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微软雅黑 / 苹方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62475" y="3119438"/>
            <a:ext cx="24288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使用位置：正文段落、数据表格、注释、图表标签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560570" y="3408045"/>
            <a:ext cx="926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英文/数字字体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556760" y="3604260"/>
            <a:ext cx="159029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Georgia · Consolas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562475" y="3881438"/>
            <a:ext cx="22262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Georgia：英文标题/引语（衬线，呼应楷体）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562475" y="4052888"/>
            <a:ext cx="217146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Consolas：数据/KPI/代码（等宽，专业感）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560570" y="4379595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字体层级规则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562475" y="4662488"/>
            <a:ext cx="144851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① 标题:正文 = 1.5-2倍字号差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562475" y="4852988"/>
            <a:ext cx="193595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② 一页最多3种字号（标题+正文+注释）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562475" y="5043488"/>
            <a:ext cx="20947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③ 一页最多2种字体（标题楷体+正文雅黑）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562475" y="5233988"/>
            <a:ext cx="182641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④ 深空蓝+雾灰+浅雾灰=三色文字层级</a:t>
            </a:r>
          </a:p>
        </p:txBody>
      </p:sp>
      <p:sp>
        <p:nvSpPr>
          <p:cNvPr id="54" name="Rectangle 54"/>
          <p:cNvSpPr/>
          <p:nvPr/>
        </p:nvSpPr>
        <p:spPr>
          <a:xfrm>
            <a:off x="8096250" y="1000125"/>
            <a:ext cx="3524250" cy="4857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8096250" y="1000125"/>
            <a:ext cx="3524250" cy="38100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9220152" y="11877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辅助图形系统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212306" y="1482566"/>
            <a:ext cx="12921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四个图形元素+使用规则</a:t>
            </a:r>
          </a:p>
        </p:txBody>
      </p:sp>
      <p:sp>
        <p:nvSpPr>
          <p:cNvPr id="58" name="Line 58"/>
          <p:cNvSpPr/>
          <p:nvPr/>
        </p:nvSpPr>
        <p:spPr>
          <a:xfrm>
            <a:off x="8334375" y="16954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59" name="Rectangle 59"/>
          <p:cNvSpPr/>
          <p:nvPr/>
        </p:nvSpPr>
        <p:spPr>
          <a:xfrm>
            <a:off x="8334375" y="1857375"/>
            <a:ext cx="3048000" cy="809625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465820" y="1979295"/>
            <a:ext cx="11269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① 虚线 · 信的路径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467725" y="2224088"/>
            <a:ext cx="267533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细虚线（stroke-width:1, stroke-dasharray:4,4）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467725" y="2414588"/>
            <a:ext cx="19907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用途：连接岛屿、表示信件的传递路径。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467725" y="2605088"/>
            <a:ext cx="210026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出现位置：图表轴线、岛屿连接、时间线。</a:t>
            </a:r>
          </a:p>
        </p:txBody>
      </p:sp>
      <p:sp>
        <p:nvSpPr>
          <p:cNvPr id="64" name="Rectangle 64"/>
          <p:cNvSpPr/>
          <p:nvPr/>
        </p:nvSpPr>
        <p:spPr>
          <a:xfrm>
            <a:off x="8334375" y="2809875"/>
            <a:ext cx="3048000" cy="809625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8465820" y="2931795"/>
            <a:ext cx="11269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② 圆点 · 岛屿标记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467725" y="3176588"/>
            <a:ext cx="19578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小实心圆（r=3-5px, fill=雾灰或铜绿）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8467725" y="3367088"/>
            <a:ext cx="20509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用途：在地图/图表上标记位置、列表项。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467725" y="3557588"/>
            <a:ext cx="231933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出现位置：列表项标记、地图点位、进度标记。</a:t>
            </a:r>
          </a:p>
        </p:txBody>
      </p:sp>
      <p:sp>
        <p:nvSpPr>
          <p:cNvPr id="69" name="Rectangle 69"/>
          <p:cNvSpPr/>
          <p:nvPr/>
        </p:nvSpPr>
        <p:spPr>
          <a:xfrm>
            <a:off x="8334375" y="3762375"/>
            <a:ext cx="3048000" cy="809625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8465820" y="3884295"/>
            <a:ext cx="11269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③ 细线 · 旧纸折痕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467725" y="4129088"/>
            <a:ext cx="236862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细横线（stroke-width:0.5-1, 雾灰或边框灰）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467725" y="4319588"/>
            <a:ext cx="18811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用途：分隔内容区、模拟信纸的横线。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467725" y="4510088"/>
            <a:ext cx="231933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出现位置：分隔线、卡片上下边界、信纸纹理。</a:t>
            </a:r>
          </a:p>
        </p:txBody>
      </p:sp>
      <p:sp>
        <p:nvSpPr>
          <p:cNvPr id="74" name="Rectangle 74"/>
          <p:cNvSpPr/>
          <p:nvPr/>
        </p:nvSpPr>
        <p:spPr>
          <a:xfrm>
            <a:off x="8334375" y="4714875"/>
            <a:ext cx="3048000" cy="809625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8465820" y="4836795"/>
            <a:ext cx="11269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④ 色块 · 旧纸卡片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467725" y="5081588"/>
            <a:ext cx="237410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直角卡片（fill=卡片底色, 无圆角或微圆角2px）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8467725" y="5272088"/>
            <a:ext cx="20016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用途：内容容器——信息卡片、数据模块。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8467725" y="5462588"/>
            <a:ext cx="231933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出现位置：所有内容卡片、图表背景、数据框。</a:t>
            </a:r>
          </a:p>
        </p:txBody>
      </p:sp>
      <p:sp>
        <p:nvSpPr>
          <p:cNvPr id="79" name="Rectangle 79"/>
          <p:cNvSpPr/>
          <p:nvPr/>
        </p:nvSpPr>
        <p:spPr>
          <a:xfrm>
            <a:off x="571500" y="6048375"/>
            <a:ext cx="11049000" cy="333375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2506932" y="6178391"/>
            <a:ext cx="717813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图形系统的设计原则：每个图形元素都有语义——虚线=信的路径，圆点=岛屿，细线=折痕，色块=信纸。不是装饰，是"信"的视觉语法。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1457622" y="6681788"/>
            <a:ext cx="1724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P41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81119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视觉识别：摄影方向 × 包装设计 × Mood Board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6113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视觉不是"做一套好看的图"——是"每一张图都在说同一个故事"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952500"/>
            <a:ext cx="11049000" cy="1714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rcRect l="0" t="36190" r="0" b="36190"/>
          <a:stretch>
            <a:fillRect/>
          </a:stretch>
        </p:blipFill>
        <p:spPr>
          <a:xfrm>
            <a:off x="571500" y="952500"/>
            <a:ext cx="11049000" cy="1714500"/>
          </a:xfrm>
          <a:prstGeom prst="rect">
            <a:avLst/>
          </a:prstGeom>
        </p:spPr>
      </p:pic>
      <p:sp>
        <p:nvSpPr>
          <p:cNvPr id="8" name="Rectangle 8"/>
          <p:cNvSpPr/>
          <p:nvPr/>
        </p:nvSpPr>
        <p:spPr>
          <a:xfrm>
            <a:off x="571500" y="952500"/>
            <a:ext cx="11049000" cy="1714500"/>
          </a:xfrm>
          <a:prstGeom prst="rect">
            <a:avLst/>
          </a:prstGeom>
          <a:gradFill>
            <a:gsLst>
              <a:gs pos="0">
                <a:srgbClr val="3C3C5C">
                  <a:alpha val="0"/>
                </a:srgbClr>
              </a:gs>
              <a:gs pos="100000">
                <a:srgbClr val="3C3C5C">
                  <a:alpha val="15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227914" y="1726882"/>
            <a:ext cx="373617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5F0E8"/>
                </a:solidFill>
                <a:latin typeface="Georgia"/>
                <a:ea typeface="KaiTi"/>
                <a:cs typeface="Georgia"/>
              </a:rPr>
              <a:t>Mood Board · 品牌视觉方向参考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33519" y="2093595"/>
            <a:ext cx="31249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5D0C8"/>
                </a:solidFill>
                <a:latin typeface="Arial"/>
                <a:ea typeface="Microsoft YaHei"/>
                <a:cs typeface="Arial"/>
              </a:rPr>
              <a:t>雾天海景 · 旧书信 · 褪色墨水 · 棉麻织物 · 做旧铜器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857500"/>
            <a:ext cx="3524250" cy="2952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2857500"/>
            <a:ext cx="352425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902428" y="304514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摄影方向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39954" y="3339941"/>
            <a:ext cx="15873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四个关键词定义品牌所有影像</a:t>
            </a:r>
          </a:p>
        </p:txBody>
      </p:sp>
      <p:sp>
        <p:nvSpPr>
          <p:cNvPr id="15" name="Line 15"/>
          <p:cNvSpPr/>
          <p:nvPr/>
        </p:nvSpPr>
        <p:spPr>
          <a:xfrm>
            <a:off x="809625" y="3571875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809625" y="3733800"/>
            <a:ext cx="3048000" cy="47625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41070" y="3846195"/>
            <a:ext cx="4162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① 侧光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2975" y="4052888"/>
            <a:ext cx="19523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早晨/傍晚的侧光——角色在光暗交界处。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09625" y="4305300"/>
            <a:ext cx="3048000" cy="47625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41070" y="4417695"/>
            <a:ext cx="4162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② 微距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2975" y="4624388"/>
            <a:ext cx="26589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近距离拍摄角色材质——雾人的模糊边界、刺刺的软刺。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09625" y="4876800"/>
            <a:ext cx="3048000" cy="47625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41070" y="4989195"/>
            <a:ext cx="4162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③ 暗角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2975" y="5195888"/>
            <a:ext cx="21112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画面四角微暗——像旧照片的自然褪色边缘。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09625" y="5448300"/>
            <a:ext cx="3048000" cy="28575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41070" y="5560695"/>
            <a:ext cx="5542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④ 负空间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324100" y="5576888"/>
            <a:ext cx="256032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角色不大，环境留白多——让用户想象"自己的桌面"。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333875" y="2857500"/>
            <a:ext cx="3524250" cy="2952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4333875" y="2857500"/>
            <a:ext cx="352425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664803" y="304514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包装设计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344501" y="3339941"/>
            <a:ext cx="150299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包装不是"盒子"——是"信封"</a:t>
            </a:r>
          </a:p>
        </p:txBody>
      </p:sp>
      <p:sp>
        <p:nvSpPr>
          <p:cNvPr id="32" name="Line 32"/>
          <p:cNvSpPr/>
          <p:nvPr/>
        </p:nvSpPr>
        <p:spPr>
          <a:xfrm>
            <a:off x="4572000" y="3571875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4572000" y="3733800"/>
            <a:ext cx="3048000" cy="762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703445" y="3855720"/>
            <a:ext cx="12650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结构：信封式外包装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705350" y="4090988"/>
            <a:ext cx="12842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拆开外包装=拆开一封信。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705350" y="4281488"/>
            <a:ext cx="21605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外盒=信封结构（封口处可撕开的虚线条）。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705350" y="4452938"/>
            <a:ext cx="233029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内盒=角色+角色来信（一张可阅读的纸质信）。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572000" y="4591050"/>
            <a:ext cx="3048000" cy="5715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703445" y="4712970"/>
            <a:ext cx="14030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材质：触感优先于视觉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705350" y="4948238"/>
            <a:ext cx="34147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外盒：未涂布纸（哑光，有纤维感）。内衬：棉纸（柔软，旧纸感）。</a:t>
            </a:r>
          </a:p>
        </p:txBody>
      </p:sp>
      <p:sp>
        <p:nvSpPr>
          <p:cNvPr id="41" name="Rectangle 41"/>
          <p:cNvSpPr/>
          <p:nvPr/>
        </p:nvSpPr>
        <p:spPr>
          <a:xfrm>
            <a:off x="4572000" y="5257800"/>
            <a:ext cx="3048000" cy="47625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4703445" y="5379720"/>
            <a:ext cx="11269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触感：四个关键词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705350" y="5595938"/>
            <a:ext cx="435125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纤维感（纸的粗糙）· 温度（棉的柔软）· 重量（实心角色）· 声音（拆信时的纸撕裂声）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096250" y="2857500"/>
            <a:ext cx="3524250" cy="2952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8096250" y="2857500"/>
            <a:ext cx="3524250" cy="38100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9323665" y="3045142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品牌场景图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179171" y="3339941"/>
            <a:ext cx="13584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每个角色配一张"场景图"</a:t>
            </a:r>
          </a:p>
        </p:txBody>
      </p:sp>
      <p:sp>
        <p:nvSpPr>
          <p:cNvPr id="48" name="Line 48"/>
          <p:cNvSpPr/>
          <p:nvPr/>
        </p:nvSpPr>
        <p:spPr>
          <a:xfrm>
            <a:off x="8334375" y="3571875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8334375" y="3733800"/>
            <a:ext cx="3048000" cy="523875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8465820" y="3855720"/>
            <a:ext cx="15479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scene_desk_letter.jpg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467725" y="4090988"/>
            <a:ext cx="28670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木桌上拆开的信封旁放着雾人角色，晨光从侧面窗照进来。</a:t>
            </a:r>
          </a:p>
        </p:txBody>
      </p:sp>
      <p:sp>
        <p:nvSpPr>
          <p:cNvPr id="52" name="Rectangle 52"/>
          <p:cNvSpPr/>
          <p:nvPr/>
        </p:nvSpPr>
        <p:spPr>
          <a:xfrm>
            <a:off x="8334375" y="4352925"/>
            <a:ext cx="3048000" cy="523875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8465820" y="4474845"/>
            <a:ext cx="10165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scene_gift.jpg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467725" y="4710112"/>
            <a:ext cx="27574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旧报纸质感包装的礼盒，系着麻绳，旁边一张手写便签。</a:t>
            </a:r>
          </a:p>
        </p:txBody>
      </p:sp>
      <p:sp>
        <p:nvSpPr>
          <p:cNvPr id="55" name="Rectangle 55"/>
          <p:cNvSpPr/>
          <p:nvPr/>
        </p:nvSpPr>
        <p:spPr>
          <a:xfrm>
            <a:off x="8334375" y="4972050"/>
            <a:ext cx="3048000" cy="762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8465820" y="5093970"/>
            <a:ext cx="11269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场景图创作原则：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467725" y="5329238"/>
            <a:ext cx="194691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① 角色&lt;环境——让用户想象"自己的场景"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467725" y="5519738"/>
            <a:ext cx="260413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② 环境=日常——不是摄影棚，是真实的桌面/床边/书架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467725" y="5710238"/>
            <a:ext cx="227552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③ 光=自然光——不用专业灯光打出的"完美效果"</a:t>
            </a:r>
          </a:p>
        </p:txBody>
      </p:sp>
      <p:sp>
        <p:nvSpPr>
          <p:cNvPr id="60" name="Rectangle 60"/>
          <p:cNvSpPr/>
          <p:nvPr/>
        </p:nvSpPr>
        <p:spPr>
          <a:xfrm>
            <a:off x="571500" y="6048375"/>
            <a:ext cx="11049000" cy="333375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2558141" y="6178391"/>
            <a:ext cx="70757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视觉一致性：摄影方向（侧光×微距×暗角×负空间）+ 包装（信封式+触感材质）+ Mood Board = 同一个故事——"一封旧纸写的信"。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P42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8640" y="329565"/>
            <a:ext cx="290267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Part 2 小结：我们是谁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9118" y="656749"/>
            <a:ext cx="38196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创造价值——基于生态位构建的品牌身份，8个模块的自检清单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953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95375"/>
            <a:ext cx="11049000" cy="5238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095375"/>
            <a:ext cx="57150" cy="523875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40105" y="1187768"/>
            <a:ext cx="11004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01 定位方法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84070" y="1236345"/>
            <a:ext cx="7918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情感价值型 ✓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27070" y="1236345"/>
            <a:ext cx="57604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四问决策树推导——品类同质化→情感是未被满足的差异化维度。验证通过：三顿半/观夏/Jellycat。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1714500"/>
            <a:ext cx="11049000" cy="5238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714500"/>
            <a:ext cx="57150" cy="523875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40105" y="1806892"/>
            <a:ext cx="15662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02 品牌价值画布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65070" y="1855470"/>
            <a:ext cx="6603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三层架构 ✓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08070" y="1855470"/>
            <a:ext cx="62402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用户独处时刻→情绪缺口→角色翻译→品牌承诺→四支柱支撑。三个翻译（产品层/内容层/关系层）协同运作。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333625"/>
            <a:ext cx="11049000" cy="5238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71500" y="2333625"/>
            <a:ext cx="57150" cy="523875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0105" y="2426018"/>
            <a:ext cx="22494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03 使命 · 愿景 · 价值观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46070" y="2474595"/>
            <a:ext cx="6603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三重自洽 ✓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89070" y="2474595"/>
            <a:ext cx="60561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使命（回信）→ 愿景（情绪词典）→ 价值观（私密+诚实+克制）。三者在"信任"上交汇。反向测试通过。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2952750"/>
            <a:ext cx="11049000" cy="5238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571500" y="2952750"/>
            <a:ext cx="57150" cy="523875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40105" y="3045142"/>
            <a:ext cx="11522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04 品牌人格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84070" y="309372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照顾者 × 诗人 ✓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322320" y="3093720"/>
            <a:ext cx="61350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"一个安静的、会写信的朋友"——照顾者说"我在"，诗人说"我懂"。5个场景的语气指南+四原型排除理由。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3571875"/>
            <a:ext cx="11049000" cy="5238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3571875"/>
            <a:ext cx="57150" cy="523875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40105" y="3664268"/>
            <a:ext cx="11522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05 品牌故事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084070" y="3712845"/>
            <a:ext cx="9232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三角叙事体系 ✓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322320" y="3712845"/>
            <a:ext cx="64242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创始人讲"为什么做"（10%）/ 品牌讲"怎么做的"（20%）/ 角色讲"今天发生了什么"（70%）。风险三重平衡。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4191000"/>
            <a:ext cx="11049000" cy="5238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571500" y="4191000"/>
            <a:ext cx="57150" cy="523875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40105" y="4283392"/>
            <a:ext cx="15973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06 命名 · 广告语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65070" y="4331970"/>
            <a:ext cx="6603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五维通过 ✓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608070" y="4331970"/>
            <a:ext cx="61613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"岛屿来信"——岛=孤独/屿=小而完整/来=方向/信=私密媒介。广告语三层架构（主/副/角色）+四不原则。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4810125"/>
            <a:ext cx="11049000" cy="5238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571500" y="4810125"/>
            <a:ext cx="57150" cy="523875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40105" y="4902518"/>
            <a:ext cx="11522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07 视觉识别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084070" y="4951095"/>
            <a:ext cx="6603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灰调诗性 ✓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27070" y="4951095"/>
            <a:ext cx="58721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色彩（旧纸白+雾灰+铜绿+深空蓝）+ Logo三方向（推荐B）+ 字体对比（楷体×雅黑）+ 四辅助图形。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71500" y="5429250"/>
            <a:ext cx="11049000" cy="5238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571500" y="5429250"/>
            <a:ext cx="57150" cy="523875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40105" y="5521642"/>
            <a:ext cx="13903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08 摄影 · 包装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274570" y="5570220"/>
            <a:ext cx="7918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信封式包装 ✓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417570" y="5570220"/>
            <a:ext cx="53069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摄影四关键词（侧光×微距×暗角×负空间）+ 包装=信封结构+触感材质 + Mood Board统一。</a:t>
            </a:r>
          </a:p>
        </p:txBody>
      </p:sp>
      <p:sp>
        <p:nvSpPr>
          <p:cNvPr id="46" name="Line 46"/>
          <p:cNvSpPr/>
          <p:nvPr/>
        </p:nvSpPr>
        <p:spPr>
          <a:xfrm>
            <a:off x="571500" y="61436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2515052" y="6283642"/>
            <a:ext cx="71618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8个模块交叉验证通过 → 进入 Part 3：传播价值——让生态位变成用户心智中的事实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P43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1875" r="0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1905000"/>
          </a:xfrm>
          <a:prstGeom prst="rect">
            <a:avLst/>
          </a:prstGeom>
          <a:gradFill>
            <a:gsLst>
              <a:gs pos="0">
                <a:srgbClr val="3C3C5C">
                  <a:alpha val="30000"/>
                </a:srgbClr>
              </a:gs>
              <a:gs pos="100000">
                <a:srgbClr val="3C3C5C">
                  <a:alpha val="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3619500"/>
            <a:ext cx="12192000" cy="3238500"/>
          </a:xfrm>
          <a:prstGeom prst="rect">
            <a:avLst/>
          </a:prstGeom>
          <a:gradFill>
            <a:gsLst>
              <a:gs pos="0">
                <a:srgbClr val="3C3C5C">
                  <a:alpha val="0"/>
                </a:srgbClr>
              </a:gs>
              <a:gs pos="50000">
                <a:srgbClr val="3C3C5C">
                  <a:alpha val="25000"/>
                </a:srgbClr>
              </a:gs>
              <a:gs pos="100000">
                <a:srgbClr val="3C3C5C">
                  <a:alpha val="55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5334000" y="29527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9525">
            <a:solidFill>
              <a:srgbClr val="7BA4B5">
                <a:alpha val="5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4949285" y="3425190"/>
            <a:ext cx="229342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D5D0C8"/>
                </a:solidFill>
                <a:latin typeface="Georgia"/>
                <a:ea typeface="KaiTi"/>
                <a:cs typeface="Georgia"/>
              </a:rPr>
              <a:t>"定位是内部决策。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60615" y="3806190"/>
            <a:ext cx="38707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D5D0C8"/>
                </a:solidFill>
                <a:latin typeface="Georgia"/>
                <a:ea typeface="KaiTi"/>
                <a:cs typeface="Georgia"/>
              </a:rPr>
              <a:t>传播让它在用户心里变成事实。"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40070" y="4471035"/>
            <a:ext cx="311186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5F0E8"/>
                </a:solidFill>
                <a:latin typeface="Georgia"/>
                <a:ea typeface="KaiTi"/>
                <a:cs typeface="Georgia"/>
              </a:rPr>
              <a:t>Part 3 传播价值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53940" y="501396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让生态位变成用户心智中的事实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P44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7306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产品策略：Year 1 四波产品线——"1+2+1+1"节奏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4207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不是"一起推出5个角色"——是"一个一个来，每个都带着信"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Line 6"/>
          <p:cNvSpPr/>
          <p:nvPr/>
        </p:nvSpPr>
        <p:spPr>
          <a:xfrm>
            <a:off x="762000" y="128587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9050">
            <a:solidFill>
              <a:srgbClr val="D5D0C8"/>
            </a:solidFill>
          </a:ln>
        </p:spPr>
      </p:sp>
      <p:sp>
        <p:nvSpPr>
          <p:cNvPr id="7" name="Ellipse 7"/>
          <p:cNvSpPr/>
          <p:nvPr/>
        </p:nvSpPr>
        <p:spPr>
          <a:xfrm>
            <a:off x="1828800" y="1209675"/>
            <a:ext cx="152400" cy="152400"/>
          </a:xfrm>
          <a:prstGeom prst="ellipse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52500" y="1476375"/>
            <a:ext cx="1905000" cy="238125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344951" y="1550670"/>
            <a:ext cx="11200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Wave 1 · Q4 2026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1905000"/>
            <a:ext cx="2667000" cy="3238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762000" y="1905000"/>
            <a:ext cx="2667000" cy="3810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254097" y="2076450"/>
            <a:ext cx="168280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雾人 · 晨雾系列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97033" y="2387441"/>
            <a:ext cx="9969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品牌的第一封"信"</a:t>
            </a:r>
          </a:p>
        </p:txBody>
      </p:sp>
      <p:sp>
        <p:nvSpPr>
          <p:cNvPr id="14" name="Line 14"/>
          <p:cNvSpPr/>
          <p:nvPr/>
        </p:nvSpPr>
        <p:spPr>
          <a:xfrm>
            <a:off x="1000125" y="2619375"/>
            <a:ext cx="2190750" cy="9525"/>
          </a:xfrm>
          <a:custGeom>
            <a:avLst/>
            <a:gdLst/>
            <a:ahLst/>
            <a:cxnLst/>
            <a:rect l="l" t="t" r="r" b="b"/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89648" y="2787491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产品构成：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9648" y="3006566"/>
            <a:ext cx="13463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6款标准色雾人 + 1款隐藏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9648" y="3225641"/>
            <a:ext cx="13584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"碎片雾"（拼雾人组件）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9648" y="3492341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单价：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65898" y="3492341"/>
            <a:ext cx="17439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标准款69元/体，碎片雾49元/套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9648" y="3768566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众筹目标：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94522" y="3768566"/>
            <a:ext cx="9547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15万元 / 2,200体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9648" y="4101941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内容配套：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94522" y="4101941"/>
            <a:ext cx="14005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雾人角色来信 × 1（每款）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94522" y="4292441"/>
            <a:ext cx="16174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雾人日报 × 90篇（众筹期间）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9648" y="4625816"/>
            <a:ext cx="12861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为什么只有一个角色：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132648" y="4625816"/>
            <a:ext cx="5631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详见P46</a:t>
            </a:r>
          </a:p>
        </p:txBody>
      </p:sp>
      <p:sp>
        <p:nvSpPr>
          <p:cNvPr id="27" name="Ellipse 27"/>
          <p:cNvSpPr/>
          <p:nvPr/>
        </p:nvSpPr>
        <p:spPr>
          <a:xfrm>
            <a:off x="4943475" y="1209675"/>
            <a:ext cx="152400" cy="152400"/>
          </a:xfrm>
          <a:prstGeom prst="ellipse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3524250" y="1476375"/>
            <a:ext cx="2990850" cy="238125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459626" y="1550670"/>
            <a:ext cx="11200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Wave 2 · Q1 2027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524250" y="1905000"/>
            <a:ext cx="2990850" cy="3238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3524250" y="1905000"/>
            <a:ext cx="299085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408301" y="2076450"/>
            <a:ext cx="122274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刺刺 + 空罐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460962" y="2387441"/>
            <a:ext cx="11174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雾人的"邻居们"出场</a:t>
            </a:r>
          </a:p>
        </p:txBody>
      </p:sp>
      <p:sp>
        <p:nvSpPr>
          <p:cNvPr id="34" name="Line 34"/>
          <p:cNvSpPr/>
          <p:nvPr/>
        </p:nvSpPr>
        <p:spPr>
          <a:xfrm>
            <a:off x="3762375" y="2619375"/>
            <a:ext cx="2514600" cy="9525"/>
          </a:xfrm>
          <a:custGeom>
            <a:avLst/>
            <a:gdLst/>
            <a:ahLst/>
            <a:cxnLst/>
            <a:rect l="l" t="t" r="r" b="b"/>
            <a:pathLst>
              <a:path w="2514600" h="9525">
                <a:moveTo>
                  <a:pt x="0" y="0"/>
                </a:moveTo>
                <a:lnTo>
                  <a:pt x="25146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3751898" y="2787491"/>
            <a:ext cx="97614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刺刺·防御系列：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751898" y="3006566"/>
            <a:ext cx="18945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4款（软刺触感，按压可变形的刺）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751898" y="3263741"/>
            <a:ext cx="97614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空罐·透明系列：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751898" y="3482816"/>
            <a:ext cx="17741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4款（半透明玻璃罐，内部有少量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751898" y="3673316"/>
            <a:ext cx="17078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半透明蓝色液体，顶部拉环可打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751898" y="3863816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开）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751898" y="4149566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关键策略：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751898" y="4368641"/>
            <a:ext cx="154516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两个角色同时推出——形成"对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751898" y="4559141"/>
            <a:ext cx="1665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比"。刺刺=防御但柔软；空罐=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751898" y="4749641"/>
            <a:ext cx="13463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缺憾但完整。两者互补。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751898" y="5054441"/>
            <a:ext cx="13584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"雾人介绍它的两个邻居"</a:t>
            </a:r>
          </a:p>
        </p:txBody>
      </p:sp>
      <p:sp>
        <p:nvSpPr>
          <p:cNvPr id="46" name="Ellipse 46"/>
          <p:cNvSpPr/>
          <p:nvPr/>
        </p:nvSpPr>
        <p:spPr>
          <a:xfrm>
            <a:off x="8058150" y="1209675"/>
            <a:ext cx="152400" cy="152400"/>
          </a:xfrm>
          <a:prstGeom prst="ellipse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6638925" y="1476375"/>
            <a:ext cx="2990850" cy="238125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7467338" y="1550670"/>
            <a:ext cx="13340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Wave 3 · Q2 2027 初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638925" y="1905000"/>
            <a:ext cx="2228850" cy="3238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638925" y="1905000"/>
            <a:ext cx="2228850" cy="38100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911947" y="2076450"/>
            <a:ext cx="168280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暖光 · 夜光系列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254883" y="2387441"/>
            <a:ext cx="9969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"暗处发光"的角色</a:t>
            </a:r>
          </a:p>
        </p:txBody>
      </p:sp>
      <p:sp>
        <p:nvSpPr>
          <p:cNvPr id="53" name="Line 53"/>
          <p:cNvSpPr/>
          <p:nvPr/>
        </p:nvSpPr>
        <p:spPr>
          <a:xfrm>
            <a:off x="6877050" y="2619375"/>
            <a:ext cx="1752600" cy="9525"/>
          </a:xfrm>
          <a:custGeom>
            <a:avLst/>
            <a:gdLst/>
            <a:ahLst/>
            <a:cxnLst/>
            <a:rect l="l" t="t" r="r" b="b"/>
            <a:pathLst>
              <a:path w="1752600" h="9525">
                <a:moveTo>
                  <a:pt x="0" y="0"/>
                </a:moveTo>
                <a:lnTo>
                  <a:pt x="17526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6866572" y="2787491"/>
            <a:ext cx="8282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4款 · 夜光涂装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866572" y="3006566"/>
            <a:ext cx="864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白天：旧纸白色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866572" y="32256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暗处：暖黄色微光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866572" y="35304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功能锚点：小夜灯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866572" y="3911441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定位策略：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866572" y="4149566"/>
            <a:ext cx="12499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覆盖"正向情绪"象限——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866572" y="4368641"/>
            <a:ext cx="14909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开心/温暖/希望的"回信"。</a:t>
            </a:r>
          </a:p>
        </p:txBody>
      </p:sp>
      <p:sp>
        <p:nvSpPr>
          <p:cNvPr id="61" name="Ellipse 61"/>
          <p:cNvSpPr/>
          <p:nvPr/>
        </p:nvSpPr>
        <p:spPr>
          <a:xfrm>
            <a:off x="10877550" y="1209675"/>
            <a:ext cx="152400" cy="152400"/>
          </a:xfrm>
          <a:prstGeom prst="ellipse">
            <a:avLst/>
          </a:prstGeom>
          <a:solidFill>
            <a:srgbClr val="A8C97B"/>
          </a:solidFill>
          <a:ln>
            <a:noFill/>
          </a:ln>
        </p:spPr>
      </p:sp>
      <p:sp>
        <p:nvSpPr>
          <p:cNvPr id="62" name="Rectangle 62"/>
          <p:cNvSpPr/>
          <p:nvPr/>
        </p:nvSpPr>
        <p:spPr>
          <a:xfrm>
            <a:off x="9001125" y="1476375"/>
            <a:ext cx="2381250" cy="238125"/>
          </a:xfrm>
          <a:prstGeom prst="rect">
            <a:avLst/>
          </a:prstGeom>
          <a:solidFill>
            <a:srgbClr val="A8C97B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9524738" y="1550670"/>
            <a:ext cx="13340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Wave 4 · Q2 2027 末</a:t>
            </a:r>
          </a:p>
        </p:txBody>
      </p:sp>
      <p:sp>
        <p:nvSpPr>
          <p:cNvPr id="64" name="Rectangle 64"/>
          <p:cNvSpPr/>
          <p:nvPr/>
        </p:nvSpPr>
        <p:spPr>
          <a:xfrm>
            <a:off x="9001125" y="1905000"/>
            <a:ext cx="2381250" cy="3238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9001125" y="1905000"/>
            <a:ext cx="2381250" cy="38100"/>
          </a:xfrm>
          <a:prstGeom prst="rect">
            <a:avLst/>
          </a:prstGeom>
          <a:solidFill>
            <a:srgbClr val="A8C97B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9350347" y="2076450"/>
            <a:ext cx="168280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根根 · 生长系列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753529" y="2387441"/>
            <a:ext cx="8764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"慢回弹"的成长</a:t>
            </a:r>
          </a:p>
        </p:txBody>
      </p:sp>
      <p:sp>
        <p:nvSpPr>
          <p:cNvPr id="68" name="Line 68"/>
          <p:cNvSpPr/>
          <p:nvPr/>
        </p:nvSpPr>
        <p:spPr>
          <a:xfrm>
            <a:off x="9239250" y="2619375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9228772" y="2787491"/>
            <a:ext cx="9487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4款 · 慢回弹材质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228772" y="3006566"/>
            <a:ext cx="864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按压后慢慢回弹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9228772" y="322564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顶部嫩芽触感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228772" y="3530441"/>
            <a:ext cx="864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功能锚点：解压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9228772" y="3911441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定位策略：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228772" y="4149566"/>
            <a:ext cx="10089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覆盖"成长"情绪——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228772" y="4368641"/>
            <a:ext cx="11174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"慢一点，我在长"。</a:t>
            </a:r>
          </a:p>
        </p:txBody>
      </p:sp>
      <p:sp>
        <p:nvSpPr>
          <p:cNvPr id="76" name="Rectangle 76"/>
          <p:cNvSpPr/>
          <p:nvPr/>
        </p:nvSpPr>
        <p:spPr>
          <a:xfrm>
            <a:off x="571500" y="5381625"/>
            <a:ext cx="11049000" cy="428625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750570" y="5522595"/>
            <a:ext cx="121420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"1+2+1+1"节奏逻辑：第一波只做一个角色（雾人），验证"情绪翻译者"假设。验证成功后，第二波推出两个（形成对话和对比），第三波转入正向情绪（暖光），第四波收尾（根根=生长=品牌Year 1的隐喻）。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61022" y="6006941"/>
            <a:ext cx="847341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参考案例：Glossier 的"一个一个来"策略——先推出口红（Balm Dotcom），验证"skin first, makeup second"的品牌定位，用户口碑确认后逐步扩展产品线。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P45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502972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产品策略：为什么 Wave 1 只有雾人？——四个理由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42685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"只做雾人"不是保守——是"先让用户记住一个角色，再让它介绍它的邻居"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00125"/>
            <a:ext cx="5334000" cy="2286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000125"/>
            <a:ext cx="533400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1168718"/>
            <a:ext cx="440253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理由一：资源聚焦——1个角色做深 &gt; 5个角色做浅</a:t>
            </a:r>
          </a:p>
        </p:txBody>
      </p:sp>
      <p:sp>
        <p:nvSpPr>
          <p:cNvPr id="9" name="Line 9"/>
          <p:cNvSpPr/>
          <p:nvPr/>
        </p:nvSpPr>
        <p:spPr>
          <a:xfrm>
            <a:off x="762000" y="142875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51522" y="1606391"/>
            <a:ext cx="33766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150万预算不是5个角色各30万——是1个角色150万。深度在哪里？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1522" y="1863566"/>
            <a:ext cx="21897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6款标准色 + 1隐藏 → 系列感而非单款感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1522" y="2082641"/>
            <a:ext cx="28705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碎片雾组件 → 用户共创入口（"拼雾人"=宜家效应）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1522" y="2301716"/>
            <a:ext cx="29609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每款配独立角色来信（不同情绪场景）→ 6封信 ≠ 重复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1522" y="2520791"/>
            <a:ext cx="26597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众筹期90天每日"雾人日报"→ 内容密度建立认知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2475" y="2824162"/>
            <a:ext cx="63612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案例：Allbirds 创业第一年只卖一款羊毛鞋（Wool Runner）。用一款产品验证"天然材质=舒适"的核心假设，3年后扩展到全品类。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096000" y="1000125"/>
            <a:ext cx="5524500" cy="2286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6096000" y="1000125"/>
            <a:ext cx="552450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269355" y="1168718"/>
            <a:ext cx="38642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理由二：内容深度——1个角色有90天的故事</a:t>
            </a:r>
          </a:p>
        </p:txBody>
      </p:sp>
      <p:sp>
        <p:nvSpPr>
          <p:cNvPr id="19" name="Line 19"/>
          <p:cNvSpPr/>
          <p:nvPr/>
        </p:nvSpPr>
        <p:spPr>
          <a:xfrm>
            <a:off x="6286500" y="142875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276022" y="1606391"/>
            <a:ext cx="312360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5个角色各18天内容 = 每个角色只有"简介"，没有"生活"。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76022" y="1863566"/>
            <a:ext cx="39188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雾人需要90天让用户经历："这是谁"→"它怎么说话"→"它今天说中了我"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76022" y="2082641"/>
            <a:ext cx="35332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角色的"人设"不是设计出来的——是90天的日常内容自然长出来的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76022" y="2301716"/>
            <a:ext cx="346700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每个"雾人日报"=一个情绪的微翻译。用户每天收到一封"短信"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76022" y="2520791"/>
            <a:ext cx="34248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90天后用户不是"知道雾人"，是"认识雾人"——像认识一个朋友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76975" y="2824162"/>
            <a:ext cx="44936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案例：观夏每款香=一篇完整文学叙事，不是"前调中调后调"。用故事深度建立30%+复购率。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3476625"/>
            <a:ext cx="5334000" cy="2286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3476625"/>
            <a:ext cx="5334000" cy="38100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44855" y="3645218"/>
            <a:ext cx="41230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理由三：品牌记忆——"岛屿来信=雾人"三个月</a:t>
            </a:r>
          </a:p>
        </p:txBody>
      </p:sp>
      <p:sp>
        <p:nvSpPr>
          <p:cNvPr id="29" name="Line 29"/>
          <p:cNvSpPr/>
          <p:nvPr/>
        </p:nvSpPr>
        <p:spPr>
          <a:xfrm>
            <a:off x="762000" y="390525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51522" y="4082891"/>
            <a:ext cx="36115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同时推5个角色 = 用户一个都记不住。弱品牌需要一个"记忆锚点"。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1522" y="4340066"/>
            <a:ext cx="24247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头三个月：岛屿来信=雾人，雾人=岛屿来信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1522" y="4559141"/>
            <a:ext cx="23042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"灰色小人"成为朋友间可谈论的社交货币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1522" y="4778216"/>
            <a:ext cx="24910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"今天你是雾人吗"=品牌进入日常语言的标志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1522" y="4997291"/>
            <a:ext cx="35212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雾人站住脚→再推出刺刺+空罐时，用户认知路径是"雾人的邻居"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52475" y="5300662"/>
            <a:ext cx="49427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案例：POP MART 最初靠 Molly 一个角色打开市场——让市场先记住"Molly=泡泡玛特"，再扩充IP矩阵。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096000" y="3476625"/>
            <a:ext cx="5524500" cy="2286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6096000" y="3476625"/>
            <a:ext cx="5524500" cy="38100"/>
          </a:xfrm>
          <a:prstGeom prst="rect">
            <a:avLst/>
          </a:prstGeom>
          <a:solidFill>
            <a:srgbClr val="B8845A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269355" y="3645218"/>
            <a:ext cx="53238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理由四：用户关系——"我收留了雾人" vs "我买了5个手办"</a:t>
            </a:r>
          </a:p>
        </p:txBody>
      </p:sp>
      <p:sp>
        <p:nvSpPr>
          <p:cNvPr id="39" name="Line 39"/>
          <p:cNvSpPr/>
          <p:nvPr/>
        </p:nvSpPr>
        <p:spPr>
          <a:xfrm>
            <a:off x="6286500" y="390525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6276022" y="4082891"/>
            <a:ext cx="27621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同时买5个=收集行为。一个一个"收留"=关系建立。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276022" y="4340066"/>
            <a:ext cx="32922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情感价值型品牌的用户关系不是"交易频率"——是"关系深度"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276022" y="4559141"/>
            <a:ext cx="34248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用户先"收留"雾人→一个月后雾人"介绍"刺刺→用户"收留"刺刺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276022" y="4778216"/>
            <a:ext cx="31718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每次购买不是"我又买了一个"——是"我家又多了一个成员"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276022" y="4997291"/>
            <a:ext cx="31958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"介绍邻居"=品牌增长的自然叙事——不是"上新"=是"搬家"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276975" y="5300662"/>
            <a:ext cx="598336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案例：Jellycat 不按"品类"推产品，而是让每个新角色都像"一个新朋友"——用户先认识 Bashful Bunny，再认识它的朋友。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6000750"/>
            <a:ext cx="11049000" cy="381000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980200" y="6141720"/>
            <a:ext cx="82316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"只做雾人"不是一个资源约束下的妥协决策——是"情感价值型品牌"增长逻辑的必然选择：一个角色先被记住 → 被信任 → 然后它介绍新朋友。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P46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7651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产品策略：雾人"晨雾"系列 MVP 完整产品定义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2301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雾人"晨雾"——不是"第一个产品"，是"品牌的第一封信"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952500"/>
            <a:ext cx="11049000" cy="2857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31570" y="1055370"/>
            <a:ext cx="4369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规格项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79570" y="10553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内容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23070" y="1055370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品牌翻译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238250"/>
            <a:ext cx="110490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51522" y="1387316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产品名称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47022" y="1387316"/>
            <a:ext cx="22801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雾人 · 晨雾系列（Misty · Morning Fog）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29475" y="1395412"/>
            <a:ext cx="20619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"晨雾"=每天早上的形状，还没定型的自己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619250"/>
            <a:ext cx="110490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51522" y="1768316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规格尺寸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47022" y="1768316"/>
            <a:ext cx="31477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高 7cm × 宽 4cm × 深 3.5cm（适合放在桌面/书架/床头）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29475" y="1776412"/>
            <a:ext cx="20235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不大不小——刚好"陪着你"，不是"占地方"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2000250"/>
            <a:ext cx="11049000" cy="476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51522" y="2149316"/>
            <a:ext cx="4827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SKU构成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47022" y="2120741"/>
            <a:ext cx="594310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6款标准色（晨雾白/破晓灰/阴天蓝/黄昏紫/深夜蓝/薄雾粉） + 1款隐藏色（极光绿，1:100概率） + 碎片雾组件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29475" y="2252662"/>
            <a:ext cx="27410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6个颜色=6种"早上"。隐藏色=惊喜。碎片雾=共创入口。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2476500"/>
            <a:ext cx="11049000" cy="3333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51522" y="2606516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材质工艺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847022" y="2606516"/>
            <a:ext cx="448515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PVC主体 + 表面雾面磨砂处理（模拟"雾"的触感，不反光） + 底部配重（沉稳手感）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29475" y="2614612"/>
            <a:ext cx="96654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雾面=触觉翻译"雾"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2809875"/>
            <a:ext cx="11049000" cy="476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51522" y="295894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涂装工艺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847022" y="2939891"/>
            <a:ext cx="47442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渐变喷涂（边缘向内部颜色过渡，模拟"雾在消散"的视觉）。脸部无五官——保持模糊感。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229475" y="3062288"/>
            <a:ext cx="129516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模糊="你是谁由用户定义"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3286125"/>
            <a:ext cx="11049000" cy="571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51522" y="34351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包装设计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847022" y="3416141"/>
            <a:ext cx="67744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外盒：未涂布牛皮纸信封式结构（130×95×55mm），虚线条封口。内衬：棉纸填充。内含：雾人本体 ×1 + 角色来信（3页信纸）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229475" y="3586162"/>
            <a:ext cx="11746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拆包=拆信，不是拆商品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3857625"/>
            <a:ext cx="1104900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51522" y="40066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角色来信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847022" y="3987641"/>
            <a:ext cx="59190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每款配1封独立来信（6封不同情绪场景的信）。手写体印刷，旧纸质感信纸。信的开头："嘿，收到你的雾了。"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847975" y="4252912"/>
            <a:ext cx="685966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晨雾白（迷茫）:"今天早上的你也是灰色的吗？我也是。没关系，我们一块儿待会儿。" / 破晓灰（过渡）:"灰色正在变浅。你感觉到了吗？"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847975" y="4443412"/>
            <a:ext cx="56547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阴天蓝（轻微的忧郁）:"阴天的时候，雾比较浓。等它散一散。" / 薄雾粉（微小的希望）:"今天雾里有一点点光。"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229475" y="4348162"/>
            <a:ext cx="11253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每封信不是产品说明——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229475" y="4519612"/>
            <a:ext cx="11253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是"这个情绪的回应"。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096000" y="4857750"/>
            <a:ext cx="5524500" cy="952500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273165" y="5011102"/>
            <a:ext cx="21199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关键产品决策背后的品牌逻辑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276022" y="5273516"/>
            <a:ext cx="37863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无五官 → "你是谁，由你的情绪定义。"不把用户的身份具象化，留白。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276022" y="5464016"/>
            <a:ext cx="3557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雾面处理 → 触感=品牌的温度。"摸起来是软的"=照应照顾者原型。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276022" y="5654516"/>
            <a:ext cx="47562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6款+1隐藏 → "收集"不是目的，"找到属于自己的那个颜色"才是。隐藏=运气，不是稀有。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4857750"/>
            <a:ext cx="5334000" cy="952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748665" y="5011102"/>
            <a:ext cx="23131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碎片雾组件——品牌的"共创入口"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51522" y="5292566"/>
            <a:ext cx="3816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"碎片雾"=雾人的"碎片"形态——5-8个不规则灰色碎片，可以自己拼接成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51522" y="5483066"/>
            <a:ext cx="39128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一个雾人形状。没有"正确"的拼法——"你今天早上的形状由你自己决定"。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51522" y="5673566"/>
            <a:ext cx="3653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宜家效应：用户自己拼出来的东西，感知价值高出63%。详见P48。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43164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产品策略：碎片雾的"拼雾人"互动仪式设计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29540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不是"残次品"——是"你今天早上需要把自己拼起来"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905000" y="1047750"/>
            <a:ext cx="8382000" cy="6191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346113" y="1187768"/>
            <a:ext cx="54997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""——"碎片雾"不是残次品或散货——是品牌预设的共创入口。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64243" y="1482566"/>
            <a:ext cx="50635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用户收到的是5-8个不规则灰色碎片——没有"正确"的拼接说明。每个人拼出来的雾人都不一样。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6260" y="1918335"/>
            <a:ext cx="187071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拼雾人体验设计四要素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2238375"/>
            <a:ext cx="2571750" cy="1143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2238375"/>
            <a:ext cx="2571750" cy="28575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332891" y="2418874"/>
            <a:ext cx="10489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① 不完整的开箱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1522" y="2701766"/>
            <a:ext cx="17982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收到的不是"一个雾人"——是"雾人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1522" y="2892266"/>
            <a:ext cx="17982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的碎片"。第一反应不是"好看"——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1522" y="3082766"/>
            <a:ext cx="9969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是"我要自己拼"。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2475" y="3252788"/>
            <a:ext cx="159639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触发宜家效应（IKEA Effect）</a:t>
            </a:r>
          </a:p>
        </p:txBody>
      </p:sp>
      <p:sp>
        <p:nvSpPr>
          <p:cNvPr id="17" name="Rectangle 17"/>
          <p:cNvSpPr/>
          <p:nvPr/>
        </p:nvSpPr>
        <p:spPr>
          <a:xfrm>
            <a:off x="3333750" y="2238375"/>
            <a:ext cx="2571750" cy="1143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3333750" y="2238375"/>
            <a:ext cx="2571750" cy="28575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087665" y="2418874"/>
            <a:ext cx="10639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② 无"正确答案"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513772" y="2701766"/>
            <a:ext cx="18945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盒内没有拼接说明。"你今天早上的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13772" y="2892266"/>
            <a:ext cx="1906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形状你自己决定"——今天开心的形状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513772" y="3082766"/>
            <a:ext cx="14668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和昨天迷茫的形状不一样。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514725" y="3252788"/>
            <a:ext cx="126777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每次拼接=一次情绪表达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096000" y="2238375"/>
            <a:ext cx="2571750" cy="1143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6096000" y="2238375"/>
            <a:ext cx="2571750" cy="28575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006910" y="2418874"/>
            <a:ext cx="7499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③ 分享仪式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276022" y="2701766"/>
            <a:ext cx="17319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"拼雾星期三"——每周三用户分享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276022" y="2892266"/>
            <a:ext cx="17319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本周的拼雾形态。不评"最好"——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276022" y="3082766"/>
            <a:ext cx="14788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只展示"本周的形状图鉴"。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276975" y="3252788"/>
            <a:ext cx="122943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UGC内容池×社群连接器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858250" y="2238375"/>
            <a:ext cx="2762250" cy="1143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8858250" y="2238375"/>
            <a:ext cx="2762250" cy="28575"/>
          </a:xfrm>
          <a:prstGeom prst="rect">
            <a:avLst/>
          </a:prstGeom>
          <a:solidFill>
            <a:srgbClr val="B8845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673773" y="2418874"/>
            <a:ext cx="11312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④ 低门槛×高参与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38272" y="2701766"/>
            <a:ext cx="17319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碎片雾售价49元——是完整雾人的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038272" y="2892266"/>
            <a:ext cx="17680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71%价格。低门槛+动手=高转化。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038272" y="3082766"/>
            <a:ext cx="18283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买了碎片雾的人，复购完整款的概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038272" y="3244691"/>
            <a:ext cx="8222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率提升2-3倍。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3667125"/>
            <a:ext cx="5715000" cy="1238250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94385" y="3823335"/>
            <a:ext cx="25239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宜家效应（IKEA Effect）原理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9148" y="4149566"/>
            <a:ext cx="603949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哈佛商学院研究（Norton, Mochon &amp; Ariely, 2012）：人们对自己亲手制作/组装的物品赋予不成比例的高价值。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9148" y="4387691"/>
            <a:ext cx="48345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自己组装的宜家家具 → 感知价值比同等成品高出63%。折纸作品 → 自评价值接近专家作品。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9148" y="4673441"/>
            <a:ext cx="55560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拼雾人的关键：不是"送一个可以拼的东西" —— 是"让用户投入劳动，从而建立更强的情感绑定"。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524625" y="3667125"/>
            <a:ext cx="5095875" cy="1238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699885" y="3823335"/>
            <a:ext cx="26988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LEGO Botanical Collection 案例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704648" y="4149566"/>
            <a:ext cx="36296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2021年LEGO推出"植物系列"——成年人用LEGO零件拼出花束、盆景。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704648" y="4387691"/>
            <a:ext cx="51960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目标用户：不是儿童——是25-40岁成年人。产品洞察：成年人也需要"动手做点什么来平静下来"。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704648" y="4673441"/>
            <a:ext cx="528642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岛屿来信借鉴：碎片雾不是"玩具"——是"今天早上你需要拼一下自己"。拼接过程=情绪整理过程。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5191125"/>
            <a:ext cx="11049000" cy="619125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746760" y="5347335"/>
            <a:ext cx="28276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"拼雾星期三"——一个周度品牌仪式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51522" y="5625941"/>
            <a:ext cx="72022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每周三，用户上传本周的拼雾形态 → 官方收集成"本周雾人图鉴" → 精选发布。不评奖、不排名——只是展示"这周大家各自是什么形状"。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1022" y="6054566"/>
            <a:ext cx="950361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定位一致性：碎片雾的"不完整"不是产品缺陷——是品牌承诺的物理体验化。"你今天早上的形状"=把你的情绪翻译成形态。这个行为的参与者，就是品牌的共建者，不是消费者。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P48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9492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产品策略 × 品牌定位一致性验证——"四不做"清单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23888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每一个产品细节都是定位策略的物理翻译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952500"/>
            <a:ext cx="2667000" cy="2857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641491" y="1063466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产品维度</a:t>
            </a:r>
          </a:p>
        </p:txBody>
      </p:sp>
      <p:sp>
        <p:nvSpPr>
          <p:cNvPr id="8" name="Rectangle 8"/>
          <p:cNvSpPr/>
          <p:nvPr/>
        </p:nvSpPr>
        <p:spPr>
          <a:xfrm>
            <a:off x="3238500" y="952500"/>
            <a:ext cx="4000500" cy="2857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975241" y="1063466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产品决策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239000" y="952500"/>
            <a:ext cx="4381500" cy="2857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039725" y="1063466"/>
            <a:ext cx="7800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定位策略支撑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1238250"/>
            <a:ext cx="26670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51522" y="13873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产品形式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238500" y="1238250"/>
            <a:ext cx="40005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418522" y="1387316"/>
            <a:ext cx="3557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角色手办 + 来信（不是"一个好看摆件"，是"一个会写信的朋友"）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239000" y="1238250"/>
            <a:ext cx="43815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419975" y="1395412"/>
            <a:ext cx="31353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→ 定位"情绪翻译者"——产品=翻译结果（角色）+ 翻译行为（信）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1619250"/>
            <a:ext cx="26670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51522" y="17683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产品节奏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238500" y="1619250"/>
            <a:ext cx="40005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3418522" y="1768316"/>
            <a:ext cx="19849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"1+2+1+1"——一个一个来，不是一起出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239000" y="1619250"/>
            <a:ext cx="43815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419975" y="1776412"/>
            <a:ext cx="26534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→ 人格"克制的陪伴"——品牌不急，让用户慢慢认识角色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2000250"/>
            <a:ext cx="26670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51522" y="21493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视觉设计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238500" y="2000250"/>
            <a:ext cx="40005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418522" y="2149316"/>
            <a:ext cx="23102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雾面磨砂、模糊边缘、无五官、旧纸色包装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239000" y="2000250"/>
            <a:ext cx="43815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419975" y="2157412"/>
            <a:ext cx="27629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→ 视觉语法=品牌承诺的物理化：模糊="你是谁由你决定"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2381250"/>
            <a:ext cx="26670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51522" y="25303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包装体验</a:t>
            </a:r>
          </a:p>
        </p:txBody>
      </p:sp>
      <p:sp>
        <p:nvSpPr>
          <p:cNvPr id="32" name="Rectangle 32"/>
          <p:cNvSpPr/>
          <p:nvPr/>
        </p:nvSpPr>
        <p:spPr>
          <a:xfrm>
            <a:off x="3238500" y="2381250"/>
            <a:ext cx="40005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418522" y="2530316"/>
            <a:ext cx="19849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信封式外盒 + 虚线条封口 + 角色来信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239000" y="2381250"/>
            <a:ext cx="43815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419975" y="2538412"/>
            <a:ext cx="282321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→ 拆包装=拆信——品牌承诺"收到一封回信"的开箱时刻兑现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2762250"/>
            <a:ext cx="26670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51522" y="29113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互动设计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238500" y="2762250"/>
            <a:ext cx="40005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418522" y="2911316"/>
            <a:ext cx="19608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碎片雾——让用户自己拼（宜家效应）</a:t>
            </a:r>
          </a:p>
        </p:txBody>
      </p:sp>
      <p:sp>
        <p:nvSpPr>
          <p:cNvPr id="40" name="Rectangle 40"/>
          <p:cNvSpPr/>
          <p:nvPr/>
        </p:nvSpPr>
        <p:spPr>
          <a:xfrm>
            <a:off x="7239000" y="2762250"/>
            <a:ext cx="43815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419975" y="2919412"/>
            <a:ext cx="22262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→ 人格"诗人"——"你今天早上的形状由你定义"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3143250"/>
            <a:ext cx="26670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751522" y="32923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角色设定</a:t>
            </a:r>
          </a:p>
        </p:txBody>
      </p:sp>
      <p:sp>
        <p:nvSpPr>
          <p:cNvPr id="44" name="Rectangle 44"/>
          <p:cNvSpPr/>
          <p:nvPr/>
        </p:nvSpPr>
        <p:spPr>
          <a:xfrm>
            <a:off x="3238500" y="3143250"/>
            <a:ext cx="40005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3418522" y="3292316"/>
            <a:ext cx="27741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5角色=5种情绪维度（雾人/刺刺/空罐/暖光/根根）</a:t>
            </a:r>
          </a:p>
        </p:txBody>
      </p:sp>
      <p:sp>
        <p:nvSpPr>
          <p:cNvPr id="46" name="Rectangle 46"/>
          <p:cNvSpPr/>
          <p:nvPr/>
        </p:nvSpPr>
        <p:spPr>
          <a:xfrm>
            <a:off x="7239000" y="3143250"/>
            <a:ext cx="43815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7419975" y="3300412"/>
            <a:ext cx="277391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→ 使命"每一种情绪都收到回信"——5角色=覆盖全情绪光谱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3524250"/>
            <a:ext cx="26670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751522" y="36733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购买方式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238500" y="3524250"/>
            <a:ext cx="40005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3418522" y="3673316"/>
            <a:ext cx="29488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不做盲盒——用户按"情绪选择"购买（"今天我是雾人"）</a:t>
            </a:r>
          </a:p>
        </p:txBody>
      </p:sp>
      <p:sp>
        <p:nvSpPr>
          <p:cNvPr id="52" name="Rectangle 52"/>
          <p:cNvSpPr/>
          <p:nvPr/>
        </p:nvSpPr>
        <p:spPr>
          <a:xfrm>
            <a:off x="7239000" y="3524250"/>
            <a:ext cx="43815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7419975" y="3681412"/>
            <a:ext cx="26534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→ 价值观"诚实的情绪"——不用随机机制操控用户的期待</a:t>
            </a:r>
          </a:p>
        </p:txBody>
      </p:sp>
      <p:sp>
        <p:nvSpPr>
          <p:cNvPr id="54" name="Rectangle 54"/>
          <p:cNvSpPr/>
          <p:nvPr/>
        </p:nvSpPr>
        <p:spPr>
          <a:xfrm>
            <a:off x="571500" y="4143375"/>
            <a:ext cx="11049000" cy="2857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4790281" y="4238149"/>
            <a:ext cx="26114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"四不做"清单——定位策略的"反向翻译"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71500" y="4524375"/>
            <a:ext cx="2571750" cy="762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749618" y="4657249"/>
            <a:ext cx="7499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① 不做盲盒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51522" y="4911566"/>
            <a:ext cx="17741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定位冲突：盲盒=赌随机性。岛屿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51522" y="5102066"/>
            <a:ext cx="16536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来信=你的情绪对应你的角色。</a:t>
            </a:r>
          </a:p>
        </p:txBody>
      </p:sp>
      <p:sp>
        <p:nvSpPr>
          <p:cNvPr id="60" name="Rectangle 60"/>
          <p:cNvSpPr/>
          <p:nvPr/>
        </p:nvSpPr>
        <p:spPr>
          <a:xfrm>
            <a:off x="3333750" y="4524375"/>
            <a:ext cx="2571750" cy="762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3511868" y="4657249"/>
            <a:ext cx="19759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② 不做联名/IP授权（Year 1）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513772" y="4911566"/>
            <a:ext cx="16355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定位冲突：联名=借助外部IP的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513772" y="5102066"/>
            <a:ext cx="17078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认知。先建立自己的角色认知。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096000" y="4524375"/>
            <a:ext cx="2571750" cy="762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6274118" y="4657249"/>
            <a:ext cx="13480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③ 不做限量编号营销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276022" y="4911566"/>
            <a:ext cx="15331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定位冲突：限量和编号=制造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276022" y="5102066"/>
            <a:ext cx="17198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稀缺焦虑。"诚实的情绪"不做。</a:t>
            </a:r>
          </a:p>
        </p:txBody>
      </p:sp>
      <p:sp>
        <p:nvSpPr>
          <p:cNvPr id="68" name="Rectangle 68"/>
          <p:cNvSpPr/>
          <p:nvPr/>
        </p:nvSpPr>
        <p:spPr>
          <a:xfrm>
            <a:off x="8858250" y="4524375"/>
            <a:ext cx="2762250" cy="762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9036368" y="4657249"/>
            <a:ext cx="15124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④ 不做"系列收藏"压力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038272" y="4911566"/>
            <a:ext cx="15993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定位冲突：收藏="不买全套就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9038272" y="5102066"/>
            <a:ext cx="11174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不完整"=制造焦虑。</a:t>
            </a:r>
          </a:p>
        </p:txBody>
      </p:sp>
      <p:sp>
        <p:nvSpPr>
          <p:cNvPr id="72" name="Rectangle 72"/>
          <p:cNvSpPr/>
          <p:nvPr/>
        </p:nvSpPr>
        <p:spPr>
          <a:xfrm>
            <a:off x="571500" y="5524500"/>
            <a:ext cx="11049000" cy="523875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748665" y="5677852"/>
            <a:ext cx="11538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一致性自检结论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51522" y="5911691"/>
            <a:ext cx="741309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7个产品维度逐一映射到品牌定位要素（情感翻译者/使命/价值观/人格）——无一偏离。"四不做"不是资源约束——是定位策略的自然结论。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P49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22462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三层价值金字塔：从69元手办到"它懂我"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8741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用户买的不是69元的手办，是69元买了一个"它替我说话了"的时刻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Polygon 6"/>
          <p:cNvSpPr/>
          <p:nvPr/>
        </p:nvSpPr>
        <p:spPr>
          <a:xfrm>
            <a:off x="2667000" y="1285875"/>
            <a:ext cx="6858000" cy="3286125"/>
          </a:xfrm>
          <a:custGeom>
            <a:avLst/>
            <a:gdLst/>
            <a:ahLst/>
            <a:cxnLst/>
            <a:rect l="l" t="t" r="r" b="b"/>
            <a:pathLst>
              <a:path w="6858000" h="3286125">
                <a:moveTo>
                  <a:pt x="3429000" y="0"/>
                </a:moveTo>
                <a:lnTo>
                  <a:pt x="0" y="3286125"/>
                </a:lnTo>
                <a:lnTo>
                  <a:pt x="6858000" y="3286125"/>
                </a:lnTo>
                <a:close/>
              </a:path>
            </a:pathLst>
          </a:custGeom>
          <a:solidFill>
            <a:srgbClr val="EDE8E0"/>
          </a:solidFill>
          <a:ln w="4762">
            <a:solidFill>
              <a:srgbClr val="D5D0C8"/>
            </a:solidFill>
          </a:ln>
        </p:spPr>
      </p:sp>
      <p:sp>
        <p:nvSpPr>
          <p:cNvPr id="7" name="Line 7"/>
          <p:cNvSpPr/>
          <p:nvPr/>
        </p:nvSpPr>
        <p:spPr>
          <a:xfrm>
            <a:off x="5905500" y="29337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8" name="Line 8"/>
          <p:cNvSpPr/>
          <p:nvPr/>
        </p:nvSpPr>
        <p:spPr>
          <a:xfrm>
            <a:off x="5486400" y="4572000"/>
            <a:ext cx="1219200" cy="9525"/>
          </a:xfrm>
          <a:custGeom>
            <a:avLst/>
            <a:gdLst/>
            <a:ahLst/>
            <a:cxnLst/>
            <a:rect l="l" t="t" r="r" b="b"/>
            <a:pathLst>
              <a:path w="1219200" h="9525">
                <a:moveTo>
                  <a:pt x="0" y="0"/>
                </a:moveTo>
                <a:lnTo>
                  <a:pt x="12192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9" name="Polygon 9"/>
          <p:cNvSpPr/>
          <p:nvPr/>
        </p:nvSpPr>
        <p:spPr>
          <a:xfrm>
            <a:off x="4381500" y="1285875"/>
            <a:ext cx="3429000" cy="1647825"/>
          </a:xfrm>
          <a:custGeom>
            <a:avLst/>
            <a:gdLst/>
            <a:ahLst/>
            <a:cxnLst/>
            <a:rect l="l" t="t" r="r" b="b"/>
            <a:pathLst>
              <a:path w="3429000" h="1647825">
                <a:moveTo>
                  <a:pt x="1714500" y="0"/>
                </a:moveTo>
                <a:lnTo>
                  <a:pt x="0" y="1647825"/>
                </a:lnTo>
                <a:lnTo>
                  <a:pt x="3429000" y="1647825"/>
                </a:lnTo>
                <a:close/>
              </a:path>
            </a:pathLst>
          </a:custGeom>
          <a:solidFill>
            <a:srgbClr val="3C3C5C">
              <a:alpha val="8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659088" y="218694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它懂我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17940" y="2550795"/>
            <a:ext cx="9561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"它替我说话了"</a:t>
            </a:r>
          </a:p>
        </p:txBody>
      </p:sp>
      <p:sp>
        <p:nvSpPr>
          <p:cNvPr id="12" name="Polygon 12"/>
          <p:cNvSpPr/>
          <p:nvPr/>
        </p:nvSpPr>
        <p:spPr>
          <a:xfrm>
            <a:off x="2667000" y="2933700"/>
            <a:ext cx="2819400" cy="1638300"/>
          </a:xfrm>
          <a:custGeom>
            <a:avLst/>
            <a:gdLst/>
            <a:ahLst/>
            <a:cxnLst/>
            <a:rect l="l" t="t" r="r" b="b"/>
            <a:pathLst>
              <a:path w="2819400" h="1638300">
                <a:moveTo>
                  <a:pt x="1714500" y="0"/>
                </a:moveTo>
                <a:lnTo>
                  <a:pt x="0" y="1638300"/>
                </a:lnTo>
                <a:lnTo>
                  <a:pt x="2819400" y="1638300"/>
                </a:lnTo>
                <a:close/>
              </a:path>
            </a:pathLst>
          </a:custGeom>
          <a:solidFill>
            <a:srgbClr val="8B9D8B">
              <a:alpha val="10000"/>
            </a:srgbClr>
          </a:solidFill>
          <a:ln>
            <a:noFill/>
          </a:ln>
        </p:spPr>
      </p:sp>
      <p:sp>
        <p:nvSpPr>
          <p:cNvPr id="13" name="Polygon 13"/>
          <p:cNvSpPr/>
          <p:nvPr/>
        </p:nvSpPr>
        <p:spPr>
          <a:xfrm>
            <a:off x="6705600" y="2933700"/>
            <a:ext cx="2819400" cy="1638300"/>
          </a:xfrm>
          <a:custGeom>
            <a:avLst/>
            <a:gdLst/>
            <a:ahLst/>
            <a:cxnLst/>
            <a:rect l="l" t="t" r="r" b="b"/>
            <a:pathLst>
              <a:path w="2819400" h="1638300">
                <a:moveTo>
                  <a:pt x="1104900" y="0"/>
                </a:moveTo>
                <a:lnTo>
                  <a:pt x="2819400" y="1638300"/>
                </a:lnTo>
                <a:lnTo>
                  <a:pt x="0" y="1638300"/>
                </a:lnTo>
                <a:close/>
              </a:path>
            </a:pathLst>
          </a:custGeom>
          <a:solidFill>
            <a:srgbClr val="8B9D8B">
              <a:alpha val="10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846921" y="3819525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它懂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289328" y="4131945"/>
            <a:ext cx="16133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"这个角色说的是我的感受"</a:t>
            </a:r>
          </a:p>
        </p:txBody>
      </p:sp>
      <p:sp>
        <p:nvSpPr>
          <p:cNvPr id="16" name="Polygon 16"/>
          <p:cNvSpPr/>
          <p:nvPr/>
        </p:nvSpPr>
        <p:spPr>
          <a:xfrm>
            <a:off x="2667000" y="4572000"/>
            <a:ext cx="6858000" cy="1143000"/>
          </a:xfrm>
          <a:custGeom>
            <a:avLst/>
            <a:gdLst/>
            <a:ahLst/>
            <a:cxnLst/>
            <a:rect l="l" t="t" r="r" b="b"/>
            <a:pathLst>
              <a:path w="6858000" h="1143000">
                <a:moveTo>
                  <a:pt x="0" y="0"/>
                </a:moveTo>
                <a:lnTo>
                  <a:pt x="3429000" y="1143000"/>
                </a:lnTo>
                <a:lnTo>
                  <a:pt x="6858000" y="0"/>
                </a:lnTo>
                <a:close/>
              </a:path>
            </a:pathLst>
          </a:custGeom>
          <a:solidFill>
            <a:srgbClr val="7B7B8E">
              <a:alpha val="6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768316" y="528351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它好看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77042" y="5549741"/>
            <a:ext cx="12379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"这个手办摆着挺好看"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1714500"/>
            <a:ext cx="2095500" cy="762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55320" y="1864995"/>
            <a:ext cx="9889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第三层：关系层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7225" y="2090738"/>
            <a:ext cx="124587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品牌不是"手办品牌"——是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7225" y="2262188"/>
            <a:ext cx="11253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"情绪表达的代名词"。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7225" y="2490788"/>
            <a:ext cx="139374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防守强度：极高（情感绑定+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7225" y="2643188"/>
            <a:ext cx="106513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社交货币+身份认同）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3333750"/>
            <a:ext cx="2095500" cy="666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55320" y="3484245"/>
            <a:ext cx="9889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第二层：体验层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7225" y="3709988"/>
            <a:ext cx="129516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角色=情感识别+角色来信=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7225" y="3881438"/>
            <a:ext cx="174426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回应="它说我"。比"好看"高一维。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4857750"/>
            <a:ext cx="2095500" cy="571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55320" y="5008245"/>
            <a:ext cx="9889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第一层：物理层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7225" y="5233988"/>
            <a:ext cx="146494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手办本身——材质/涂装/造型。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525000" y="1524000"/>
            <a:ext cx="2095500" cy="1714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656445" y="1693545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竞争壁垒梯度</a:t>
            </a:r>
          </a:p>
        </p:txBody>
      </p:sp>
      <p:sp>
        <p:nvSpPr>
          <p:cNvPr id="34" name="Line 34"/>
          <p:cNvSpPr/>
          <p:nvPr/>
        </p:nvSpPr>
        <p:spPr>
          <a:xfrm>
            <a:off x="9667875" y="1905000"/>
            <a:ext cx="1809750" cy="9525"/>
          </a:xfrm>
          <a:custGeom>
            <a:avLst/>
            <a:gdLst/>
            <a:ahLst/>
            <a:cxnLst/>
            <a:rect l="l" t="t" r="r" b="b"/>
            <a:pathLst>
              <a:path w="1809750" h="9525">
                <a:moveTo>
                  <a:pt x="0" y="0"/>
                </a:moveTo>
                <a:lnTo>
                  <a:pt x="180975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9657398" y="2054066"/>
            <a:ext cx="12921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第三层：情感绑定+社交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657398" y="2244566"/>
            <a:ext cx="11716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货币=几乎不可复制。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657398" y="2530316"/>
            <a:ext cx="12921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第二层：内容深度=巨头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657398" y="2720816"/>
            <a:ext cx="12258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难复制（每天用角色视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657398" y="2911316"/>
            <a:ext cx="12258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角写一封信是能力）。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57398" y="3197066"/>
            <a:ext cx="12921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第一层：产品=可复制。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657398" y="3387566"/>
            <a:ext cx="11957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PVC+涂装=泡泡玛特的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657398" y="3578066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工厂也能做。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6048375"/>
            <a:ext cx="11049000" cy="381000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424845" y="6189345"/>
            <a:ext cx="93423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品牌的利润不在第一层（物理产品）。真正的利润在第二层（内容体验=20-30元价值感知）和第三层（情感绑定=不可替代性的溢价）。"69元"涵盖三层价值。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P50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86870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三层价值金字塔：用户与角色关系的三个里程碑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8741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用户不是"买了雾人"，是"收留了雾人"——关系深化的三个关键节点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Line 6"/>
          <p:cNvSpPr/>
          <p:nvPr/>
        </p:nvSpPr>
        <p:spPr>
          <a:xfrm>
            <a:off x="6096000" y="1143000"/>
            <a:ext cx="9525" cy="4381500"/>
          </a:xfrm>
          <a:custGeom>
            <a:avLst/>
            <a:gdLst/>
            <a:ahLst/>
            <a:cxnLst/>
            <a:rect l="l" t="t" r="r" b="b"/>
            <a:pathLst>
              <a:path w="9525" h="4381500">
                <a:moveTo>
                  <a:pt x="0" y="0"/>
                </a:moveTo>
                <a:lnTo>
                  <a:pt x="0" y="4381500"/>
                </a:lnTo>
              </a:path>
            </a:pathLst>
          </a:custGeom>
          <a:noFill/>
          <a:ln w="14288">
            <a:solidFill>
              <a:srgbClr val="D5D0C8"/>
            </a:solidFill>
          </a:ln>
        </p:spPr>
      </p:sp>
      <p:sp>
        <p:nvSpPr>
          <p:cNvPr id="7" name="Ellipse 7"/>
          <p:cNvSpPr/>
          <p:nvPr/>
        </p:nvSpPr>
        <p:spPr>
          <a:xfrm>
            <a:off x="6000750" y="1666875"/>
            <a:ext cx="190500" cy="190500"/>
          </a:xfrm>
          <a:prstGeom prst="ellipse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6057900" y="1724025"/>
            <a:ext cx="76200" cy="76200"/>
          </a:xfrm>
          <a:prstGeom prst="ellipse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143000"/>
            <a:ext cx="4953000" cy="1238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143000"/>
            <a:ext cx="495300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4855" y="1283018"/>
            <a:ext cx="27877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里程碑一：收留时刻（第1天）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1522" y="1577816"/>
            <a:ext cx="24307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用户拆开信封式包装，第一次读到角色来信。</a:t>
            </a:r>
          </a:p>
        </p:txBody>
      </p:sp>
      <p:sp>
        <p:nvSpPr>
          <p:cNvPr id="13" name="Line 13"/>
          <p:cNvSpPr/>
          <p:nvPr/>
        </p:nvSpPr>
        <p:spPr>
          <a:xfrm>
            <a:off x="762000" y="1762125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51522" y="1892141"/>
            <a:ext cx="40453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"拆开信封→看到手写体'嘿，收到你的雾了'→第一次感觉'它在跟我说话'。"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2475" y="2128838"/>
            <a:ext cx="43622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品牌动作：包装=信封结构 + 来信首页=欢迎信（不是产品说明书）+ 雾人本体触感=雾面。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477000" y="1143000"/>
            <a:ext cx="5143500" cy="1238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6477000" y="1143000"/>
            <a:ext cx="514350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652260" y="12992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衡量指标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57022" y="1606391"/>
            <a:ext cx="28344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开箱分享率（用户拆包后主动拍照分享）目标 &gt;25%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57022" y="1834991"/>
            <a:ext cx="20391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"第一封信"的阅读完成率 目标 &gt;80%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57022" y="2063591"/>
            <a:ext cx="27862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角色"命名率"（用户给角色起小名）作为定性指标</a:t>
            </a:r>
          </a:p>
        </p:txBody>
      </p:sp>
      <p:sp>
        <p:nvSpPr>
          <p:cNvPr id="22" name="Ellipse 22"/>
          <p:cNvSpPr/>
          <p:nvPr/>
        </p:nvSpPr>
        <p:spPr>
          <a:xfrm>
            <a:off x="6000750" y="3286125"/>
            <a:ext cx="190500" cy="190500"/>
          </a:xfrm>
          <a:prstGeom prst="ellipse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6057900" y="3343275"/>
            <a:ext cx="76200" cy="76200"/>
          </a:xfrm>
          <a:prstGeom prst="ellipse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571500" y="2762250"/>
            <a:ext cx="4953000" cy="1238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571500" y="2762250"/>
            <a:ext cx="495300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44855" y="2902268"/>
            <a:ext cx="34502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里程碑二："它说我"时刻（第1-4周）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51522" y="3197066"/>
            <a:ext cx="28043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用户收到某篇雾人日报，觉得"这句话说的就是我"。</a:t>
            </a:r>
          </a:p>
        </p:txBody>
      </p:sp>
      <p:sp>
        <p:nvSpPr>
          <p:cNvPr id="28" name="Line 28"/>
          <p:cNvSpPr/>
          <p:nvPr/>
        </p:nvSpPr>
        <p:spPr>
          <a:xfrm>
            <a:off x="762000" y="3381375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1522" y="3511391"/>
            <a:ext cx="598527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"雾人说：'今天不想说话。就坐这儿陪你。'——这个瞬间用户从'买了一个手办'变成'收留了一个懂自己的人'。"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2475" y="3748088"/>
            <a:ext cx="389667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品牌动作：每日雾人日报 + 雾人用第一人称说话 + 不说教/不评价/不给出建议。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477000" y="2762250"/>
            <a:ext cx="5143500" cy="1238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6477000" y="2762250"/>
            <a:ext cx="5143500" cy="38100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52260" y="29184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衡量指标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7022" y="3225641"/>
            <a:ext cx="293081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"这我指数"——内容下用户回复"这说的就是我"的比例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7022" y="3454241"/>
            <a:ext cx="21717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内容转发率（非抽奖驱动的自然转发）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7022" y="3682841"/>
            <a:ext cx="32380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用户Aha时刻到达时间（从"收到"到"它说我"平均多少天）</a:t>
            </a:r>
          </a:p>
        </p:txBody>
      </p:sp>
      <p:sp>
        <p:nvSpPr>
          <p:cNvPr id="37" name="Ellipse 37"/>
          <p:cNvSpPr/>
          <p:nvPr/>
        </p:nvSpPr>
        <p:spPr>
          <a:xfrm>
            <a:off x="6000750" y="4857750"/>
            <a:ext cx="190500" cy="190500"/>
          </a:xfrm>
          <a:prstGeom prst="ellipse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6057900" y="4914900"/>
            <a:ext cx="76200" cy="76200"/>
          </a:xfrm>
          <a:prstGeom prst="ellipse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571500" y="4333875"/>
            <a:ext cx="4953000" cy="1238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571500" y="4333875"/>
            <a:ext cx="4953000" cy="3810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44855" y="4473892"/>
            <a:ext cx="43300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里程碑三："不用看它也在"时刻（第2-6个月）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1522" y="4768691"/>
            <a:ext cx="375618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用户几周没看雾人日报，但雾人还在桌上。不需要互动，但知道它在。</a:t>
            </a:r>
          </a:p>
        </p:txBody>
      </p:sp>
      <p:sp>
        <p:nvSpPr>
          <p:cNvPr id="43" name="Line 43"/>
          <p:cNvSpPr/>
          <p:nvPr/>
        </p:nvSpPr>
        <p:spPr>
          <a:xfrm>
            <a:off x="762000" y="495300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751522" y="5083016"/>
            <a:ext cx="511773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"空罐说：'嘿，你回来了。我还在。'——用户意识到这个角色不需要每天都互动。它在就够了。"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52475" y="5319712"/>
            <a:ext cx="449913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品牌动作：不推送/不签到/不催促 + 用户回来时角色只说一句"嘿，你回来了"=克制的陪伴。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77000" y="4333875"/>
            <a:ext cx="5143500" cy="1238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6477000" y="4333875"/>
            <a:ext cx="5143500" cy="38100"/>
          </a:xfrm>
          <a:prstGeom prst="rect">
            <a:avLst/>
          </a:prstGeom>
          <a:solidFill>
            <a:srgbClr val="B8845A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2260" y="449008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衡量指标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57022" y="4797266"/>
            <a:ext cx="243680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"沉默留存率"——不互动但未取关的用户比例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657022" y="5025866"/>
            <a:ext cx="27862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礼品转化率——用户主动购买送人（最大信任信号）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657022" y="5254466"/>
            <a:ext cx="25151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角色"邻里推荐"NPS——用户向朋友介绍的概率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5857875"/>
            <a:ext cx="11049000" cy="476250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1089660" y="5998845"/>
            <a:ext cx="100126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三个里程碑对应三层价值金字塔：收留时刻=物理层 → "它说我"=体验层 → "不用看它也在"=关系层。品牌的所有产品和内容设计，都在推动用户从一个里程碑走向下一个。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457622" y="6681788"/>
            <a:ext cx="1724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P51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9147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定价策略：69元的价值感知翻译——成本结构拆解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46562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69元——不是"比泡泡玛特便宜10元"，是"两杯喜茶换一个会在桌上待很久的角色"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00125"/>
            <a:ext cx="6667500" cy="1905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4855" y="1140142"/>
            <a:ext cx="27670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69元价值拆解——三层价值分配</a:t>
            </a:r>
          </a:p>
        </p:txBody>
      </p:sp>
      <p:sp>
        <p:nvSpPr>
          <p:cNvPr id="8" name="Line 8"/>
          <p:cNvSpPr/>
          <p:nvPr/>
        </p:nvSpPr>
        <p:spPr>
          <a:xfrm>
            <a:off x="762000" y="1409700"/>
            <a:ext cx="6286500" cy="9525"/>
          </a:xfrm>
          <a:custGeom>
            <a:avLst/>
            <a:gdLst/>
            <a:ahLst/>
            <a:cxnLst/>
            <a:rect l="l" t="t" r="r" b="b"/>
            <a:pathLst>
              <a:path w="6286500" h="9525">
                <a:moveTo>
                  <a:pt x="0" y="0"/>
                </a:moveTo>
                <a:lnTo>
                  <a:pt x="62865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1571625"/>
            <a:ext cx="1905000" cy="523875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403080" y="170449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物理产品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3041" y="1903095"/>
            <a:ext cx="4829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15-20元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3207" y="2098834"/>
            <a:ext cx="68258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PVC+涂装+包装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92730" y="1711642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5D0C8"/>
                </a:solidFill>
                <a:latin typeface="Georgia"/>
                <a:ea typeface="KaiTi"/>
                <a:cs typeface="Georgia"/>
              </a:rPr>
              <a:t>+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048000" y="1571625"/>
            <a:ext cx="1905000" cy="523875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89080" y="170449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内容体验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42611" y="1903095"/>
            <a:ext cx="5157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20-30元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70482" y="2098834"/>
            <a:ext cx="86003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角色来信+每日日报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78730" y="1711642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5D0C8"/>
                </a:solidFill>
                <a:latin typeface="Georgia"/>
                <a:ea typeface="KaiTi"/>
                <a:cs typeface="Georgia"/>
              </a:rPr>
              <a:t>+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334000" y="1571625"/>
            <a:ext cx="1714500" cy="523875"/>
          </a:xfrm>
          <a:prstGeom prst="rect">
            <a:avLst/>
          </a:prstGeom>
          <a:solidFill>
            <a:srgbClr val="3C3C5C">
              <a:alpha val="6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879830" y="170449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情感价值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077950" y="1903095"/>
            <a:ext cx="2266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?元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832705" y="2098834"/>
            <a:ext cx="71709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"它替我说话了"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1522" y="2387441"/>
            <a:ext cx="916021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物理产品15-20元=泡泡玛特也能做。内容体验20-30元=岛屿来信能做，泡泡玛特不想做。情感价值?元=只有用户自己能定价——"它替我说话"的那一刻，69元变成了"便宜"。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1522" y="2654141"/>
            <a:ext cx="54358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69元不是成本+利润的加总——是"让用户觉得'这个价买一个懂我的东西，值'"的价值感知锚点。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429500" y="1000125"/>
            <a:ext cx="4191000" cy="1905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602855" y="1140142"/>
            <a:ext cx="32017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价格锚点——"69元在用户的世界里"</a:t>
            </a:r>
          </a:p>
        </p:txBody>
      </p:sp>
      <p:sp>
        <p:nvSpPr>
          <p:cNvPr id="27" name="Line 27"/>
          <p:cNvSpPr/>
          <p:nvPr/>
        </p:nvSpPr>
        <p:spPr>
          <a:xfrm>
            <a:off x="7620000" y="14097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609522" y="1625441"/>
            <a:ext cx="16716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两杯喜茶/星巴克 = 喝掉就没了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609522" y="1892141"/>
            <a:ext cx="17379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一部电影+爆米花 = 2小时后结束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609522" y="2158841"/>
            <a:ext cx="11234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一束花 = 一周后枯萎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609522" y="2425541"/>
            <a:ext cx="13644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雾人 = 在桌上待到你搬家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609522" y="2692241"/>
            <a:ext cx="34685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69元对比的不是"其他手办"——是"同价位的情绪消费选项"。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3143250"/>
            <a:ext cx="11049000" cy="2857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387007" y="325421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产品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387257" y="325421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售价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816007" y="325421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成本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244757" y="325421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毛利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420475" y="3254216"/>
            <a:ext cx="7800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感知价值锚点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166241" y="3254216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竞品对比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499741" y="3254216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定位翻译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71500" y="3429000"/>
            <a:ext cx="11049000" cy="3333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100971" y="3567112"/>
            <a:ext cx="84605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标准雾人（6色）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380931" y="3559016"/>
            <a:ext cx="2866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69元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738092" y="3567112"/>
            <a:ext cx="4298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22-25元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191488" y="3567112"/>
            <a:ext cx="3805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64-68%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057620" y="3575209"/>
            <a:ext cx="150576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"用两杯喜茶换一个陪很久的角色"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940582" y="3575209"/>
            <a:ext cx="97833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泡泡玛特盲盒59-79元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476178" y="3575209"/>
            <a:ext cx="57414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69=两杯喜茶</a:t>
            </a:r>
          </a:p>
        </p:txBody>
      </p:sp>
      <p:sp>
        <p:nvSpPr>
          <p:cNvPr id="49" name="Rectangle 49"/>
          <p:cNvSpPr/>
          <p:nvPr/>
        </p:nvSpPr>
        <p:spPr>
          <a:xfrm>
            <a:off x="571500" y="3762375"/>
            <a:ext cx="11049000" cy="3333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1163955" y="3900488"/>
            <a:ext cx="72009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碎片雾（DIY）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380931" y="3892391"/>
            <a:ext cx="2866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49元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765477" y="3900488"/>
            <a:ext cx="37504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12-15元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191488" y="3900488"/>
            <a:ext cx="3805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69-75%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200567" y="3908584"/>
            <a:ext cx="121986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"一杯喜茶——和朋友一起拼"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878967" y="3908584"/>
            <a:ext cx="11015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低于泡泡玛特盲盒最低价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476178" y="3908584"/>
            <a:ext cx="57414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49=共创入口</a:t>
            </a:r>
          </a:p>
        </p:txBody>
      </p:sp>
      <p:sp>
        <p:nvSpPr>
          <p:cNvPr id="57" name="Rectangle 57"/>
          <p:cNvSpPr/>
          <p:nvPr/>
        </p:nvSpPr>
        <p:spPr>
          <a:xfrm>
            <a:off x="571500" y="4095750"/>
            <a:ext cx="11049000" cy="3333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906542" y="4233862"/>
            <a:ext cx="12349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暖光礼盒（夜光+信+光）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380931" y="4225766"/>
            <a:ext cx="2866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89元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738092" y="4233862"/>
            <a:ext cx="4298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30-35元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191488" y="4233862"/>
            <a:ext cx="3805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60-66%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976289" y="4241959"/>
            <a:ext cx="166842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"送一个'发光的陪伴'=比花更有意义"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837069" y="4241959"/>
            <a:ext cx="118536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LEGO Botanical 小盒 99元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0377595" y="4241959"/>
            <a:ext cx="77131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89=有意义的礼物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4429125"/>
            <a:ext cx="11049000" cy="3333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1076325" y="4567238"/>
            <a:ext cx="8953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五个角色全集礼盒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346139" y="4559141"/>
            <a:ext cx="3562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299元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718923" y="4567238"/>
            <a:ext cx="4681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100-115元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191488" y="4567238"/>
            <a:ext cx="3805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62-67%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151275" y="4575334"/>
            <a:ext cx="131845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"五个朋友一家人"=礼品/收藏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812423" y="4575334"/>
            <a:ext cx="123465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Jellycat 中号玩偶 200-300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0449068" y="4575334"/>
            <a:ext cx="62836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299=五个朋友</a:t>
            </a:r>
          </a:p>
        </p:txBody>
      </p:sp>
      <p:sp>
        <p:nvSpPr>
          <p:cNvPr id="73" name="Rectangle 73"/>
          <p:cNvSpPr/>
          <p:nvPr/>
        </p:nvSpPr>
        <p:spPr>
          <a:xfrm>
            <a:off x="571500" y="4953000"/>
            <a:ext cx="5334000" cy="762000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748665" y="5106352"/>
            <a:ext cx="14919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69元的核心定价逻辑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51522" y="5359241"/>
            <a:ext cx="82324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① 心理账户：69元在"两杯喜茶"区间——不需要犹豫的冲动消费。 ② 锚定效应：定价"低于"泡泡玛特常规系列（79元），但价值感知是"多了一封信"=更高。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51522" y="5568791"/>
            <a:ext cx="75998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③ 价格=品牌承诺的翻译：69元不是"折后价"，是"不打折的价格"。这个数字本身传递信息——我们不降价，因为我们相信"信"的价值是确定的。</a:t>
            </a:r>
          </a:p>
        </p:txBody>
      </p:sp>
      <p:sp>
        <p:nvSpPr>
          <p:cNvPr id="77" name="Rectangle 77"/>
          <p:cNvSpPr/>
          <p:nvPr/>
        </p:nvSpPr>
        <p:spPr>
          <a:xfrm>
            <a:off x="6096000" y="4953000"/>
            <a:ext cx="5524500" cy="762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6273165" y="5106352"/>
            <a:ext cx="18300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成本控制——69元需要规模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276022" y="5359241"/>
            <a:ext cx="45333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单款起订量≥3,000体（当前约22-25元/体成本）。≥10,000体（成本降至15-18元）。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6276022" y="5568791"/>
            <a:ext cx="59250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众筹目标15万元=2,200体。如果达到30万=4,400体——成本进入规模区间。成本控制节点：3,000体→10,000体。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61022" y="6387941"/>
            <a:ext cx="74251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定位一致性：69元的定价不是在"算成本"——是在"翻译品牌承诺"。这个价格让用户觉得"一个懂我的角色=两杯喜茶的价格=我不用犹豫"。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P52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51562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定价策略："不打折"哲学 × 礼品场景作为增长杠杆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7690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69元——让"送一个'懂你'的角色"比"送一束花"更便宜也更有意义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00125"/>
            <a:ext cx="5334000" cy="2190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000125"/>
            <a:ext cx="533400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1168718"/>
            <a:ext cx="19182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"不打折"的三个理由</a:t>
            </a:r>
          </a:p>
        </p:txBody>
      </p:sp>
      <p:sp>
        <p:nvSpPr>
          <p:cNvPr id="9" name="Line 9"/>
          <p:cNvSpPr/>
          <p:nvPr/>
        </p:nvSpPr>
        <p:spPr>
          <a:xfrm>
            <a:off x="762000" y="142875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50570" y="1617345"/>
            <a:ext cx="14030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① 打折 = 否定信的价值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1522" y="1863566"/>
            <a:ext cx="755165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"让你的情绪收到一封回信"——如果这封回信可以打折，那情绪本身也被标了价。打折=品牌在说"信不值69"。不打折=品牌对信的价值的确定。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0570" y="2236470"/>
            <a:ext cx="14030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② 打折 = 背刺早期用户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1522" y="2482691"/>
            <a:ext cx="826255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最先购买的用户是最信任你的人——如果三个月后降价20元卖，他们感觉被背叛。情感价值型品牌不能承受"信任降价"——那是竞品用价格战也攻不破的壁垒。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0570" y="2855595"/>
            <a:ext cx="18101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③ 低价 ≠ 低价格— 是"确定感"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1522" y="3101816"/>
            <a:ext cx="706969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69元本身已经够低——不需要打折来制造"便宜感"。用户需要的是"什么时候买都一样"的确定感——品牌不用算计什么时候下手最划算。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096000" y="1000125"/>
            <a:ext cx="5524500" cy="2190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269355" y="1168718"/>
            <a:ext cx="30361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案例验证：从Le Labo到Jellycat</a:t>
            </a:r>
          </a:p>
        </p:txBody>
      </p:sp>
      <p:sp>
        <p:nvSpPr>
          <p:cNvPr id="18" name="Line 18"/>
          <p:cNvSpPr/>
          <p:nvPr/>
        </p:nvSpPr>
        <p:spPr>
          <a:xfrm>
            <a:off x="6286500" y="142875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275070" y="1598295"/>
            <a:ext cx="18998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Le Labo：从不打折，从不促销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76022" y="1834991"/>
            <a:ext cx="78709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一瓶Santal 33 售价$295，全球统一定价，从不参加任何促销活动。不打折本身就是品牌叙事的一部分——"我们的配方值这个价，今天明天都一样。"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76975" y="2157412"/>
            <a:ext cx="32120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岛屿来信借鉴：69元=品牌的"定价承诺"。价格稳定=品牌可信。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75070" y="2474595"/>
            <a:ext cx="19551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Jellycat：礼品=不打折+高复购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76022" y="2711291"/>
            <a:ext cx="87505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Jellycat 很少打折促销，但礼品场景占总销售额30%+。用户为朋友挑选一只"有名字+有性格"的熊时，价格不是考虑因素——"这个熊是Bartholomew，他代表陪伴"。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76975" y="3033712"/>
            <a:ext cx="342018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岛屿来信借鉴：礼品场景让价格感知从"值不值"变成"有没有意义"。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3429000"/>
            <a:ext cx="11049000" cy="2857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307598" y="3531870"/>
            <a:ext cx="35768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四个礼品场景——"送一个角色=替送礼者说出说不出口的话"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3810000"/>
            <a:ext cx="2571750" cy="8096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49618" y="3942874"/>
            <a:ext cx="12209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场景一：安慰朋友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1522" y="4197191"/>
            <a:ext cx="16114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朋友失恋/裁员/低谷期——不知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1522" y="4387691"/>
            <a:ext cx="17741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道该说什么。送一只雾人："灰色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1522" y="4578191"/>
            <a:ext cx="12921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也没关系。让它陪你。"</a:t>
            </a:r>
          </a:p>
        </p:txBody>
      </p:sp>
      <p:sp>
        <p:nvSpPr>
          <p:cNvPr id="32" name="Rectangle 32"/>
          <p:cNvSpPr/>
          <p:nvPr/>
        </p:nvSpPr>
        <p:spPr>
          <a:xfrm>
            <a:off x="3333750" y="3810000"/>
            <a:ext cx="2571750" cy="8096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511868" y="3942874"/>
            <a:ext cx="12209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场景二：情侣表白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513772" y="4197191"/>
            <a:ext cx="17198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"你发光的时候，我也亮了一点"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513772" y="4387691"/>
            <a:ext cx="16777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——送暖光=比"我爱你"更精确。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096000" y="3810000"/>
            <a:ext cx="2571750" cy="8096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274118" y="3942874"/>
            <a:ext cx="16021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场景三：毕业/离职礼物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276022" y="4197191"/>
            <a:ext cx="17198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同事、同学各奔东西——送根根：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276022" y="4387691"/>
            <a:ext cx="17861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"慢一点。我在长。"=新的开始。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858250" y="3810000"/>
            <a:ext cx="2762250" cy="8096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036368" y="3942874"/>
            <a:ext cx="15199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场景四：给自己的礼物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38272" y="4197191"/>
            <a:ext cx="154516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"今天做了件勇敢的事——奖励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038272" y="4387691"/>
            <a:ext cx="1840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自己一个角色。"自购=自我关怀。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4857750"/>
            <a:ext cx="11049000" cy="619125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746760" y="4994910"/>
            <a:ext cx="279082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礼品场景作为增长引擎的数据逻辑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51522" y="5263991"/>
            <a:ext cx="87023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参考 Jellycat 数据：礼品场景占总销售额30%+；礼品客单价是自购的1.5-2倍；礼品购买者的品牌忠诚度（NPS）是纯自购者的2倍——送礼者=品牌最忠实的推广者。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61022" y="5721191"/>
            <a:ext cx="92867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岛屿来信的礼品策略：不做礼品套装（硬绑），而是让每个角色的"信"本身成为送礼理由——"这封信=我想对你说的话"。69元的定价=比花便宜+比花更有意义的礼物价格带。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P53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55702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创始人IP策略：陈望舒的三个故事——起源/方法论/信仰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6047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不是"打造创始人IP"——是"让创始人成为品牌的第一个'角色'"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3524250" cy="3810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047750"/>
            <a:ext cx="352425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624489" y="124777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故事一：起源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4120" y="1569720"/>
            <a:ext cx="1219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"我画了第一个雾人"</a:t>
            </a:r>
          </a:p>
        </p:txBody>
      </p:sp>
      <p:sp>
        <p:nvSpPr>
          <p:cNvPr id="10" name="Line 10"/>
          <p:cNvSpPr/>
          <p:nvPr/>
        </p:nvSpPr>
        <p:spPr>
          <a:xfrm>
            <a:off x="809625" y="18097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99148" y="1987391"/>
            <a:ext cx="76299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"那天凌晨3点睡不着，窗外城市的灯光在雾里模糊成一片。我打开iPad画了一个灰色的人形——没有五官，边缘模糊。这就是我今天早上的形状。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9148" y="2482691"/>
            <a:ext cx="54310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第二天发到朋友圈，收到了从未见过的评论量。'这是我' '能不能画一个我' '它是灰色的，我也是'。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9148" y="2939891"/>
            <a:ext cx="60575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那个晚上让我意识到：不是只有我一个人在凌晨3点觉得自己是灰色的。我们只是缺一个能替自己说出来的东西。"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9148" y="3435191"/>
            <a:ext cx="26904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作用：建立"她画的不是产品，是情绪"的认知。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0100" y="3709988"/>
            <a:ext cx="29108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使用场景：众筹页面开头 / 首次播客访谈 / 官网"关于"页面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0100" y="3919538"/>
            <a:ext cx="17716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出场频率：季度级（不是日常内容）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9148" y="4149566"/>
            <a:ext cx="37802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对应定位：情绪翻译者——创始人的第一个行为就是"翻译"自己的情绪。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333875" y="1047750"/>
            <a:ext cx="3524250" cy="3810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4333875" y="1047750"/>
            <a:ext cx="352425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271849" y="1247775"/>
            <a:ext cx="16483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故事二：方法论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55050" y="1569720"/>
            <a:ext cx="14818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"情绪不是问题，是内容"</a:t>
            </a:r>
          </a:p>
        </p:txBody>
      </p:sp>
      <p:sp>
        <p:nvSpPr>
          <p:cNvPr id="22" name="Line 22"/>
          <p:cNvSpPr/>
          <p:nvPr/>
        </p:nvSpPr>
        <p:spPr>
          <a:xfrm>
            <a:off x="4572000" y="18097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561522" y="1987391"/>
            <a:ext cx="84613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"我发现每个角色诞生时不是'设计'出来的——是'听到'的。雾人是听到一个朋友说'今天早上我不知道自己是什么'。刺刺是听到有人说'我想让人靠近但不敢'。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61522" y="2482691"/>
            <a:ext cx="70335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这就是我们做角色的方法：不是坐在工位上想'下一个做什么'——是听用户说他们今天是什么形状。情绪不是问题，是内容的原材料。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61522" y="2939891"/>
            <a:ext cx="43285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我们内部有一个'情绪词汇库'——来自用户的真实表达，不是字典里的情绪分类。"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61522" y="3435191"/>
            <a:ext cx="29561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作用：展示品牌不是凭空创造——是"用户需求翻译"。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62475" y="3709988"/>
            <a:ext cx="22426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使用场景：产品发布会 / 设计分享 / 行业访谈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62475" y="3919538"/>
            <a:ext cx="11144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出场频率：产品发布时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61522" y="4149566"/>
            <a:ext cx="365979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对应定位：品牌能力壁垒——"把情绪翻译成角色"不是运气，是方法。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096250" y="1047750"/>
            <a:ext cx="3524250" cy="3810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8096250" y="1047750"/>
            <a:ext cx="3524250" cy="38100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149239" y="124777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故事三：信仰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39466" y="1569720"/>
            <a:ext cx="8378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"69元就够了"</a:t>
            </a:r>
          </a:p>
        </p:txBody>
      </p:sp>
      <p:sp>
        <p:nvSpPr>
          <p:cNvPr id="34" name="Line 34"/>
          <p:cNvSpPr/>
          <p:nvPr/>
        </p:nvSpPr>
        <p:spPr>
          <a:xfrm>
            <a:off x="8334375" y="18097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323898" y="1987391"/>
            <a:ext cx="88228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"有人问我为什么不卖更贵。潮玩市场79，艺术玩具299、699，甚至上千。但我们的东西不是给收藏家放在玻璃柜里的——是给一个普通的年轻人放在出租屋的桌上的。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23898" y="2482691"/>
            <a:ext cx="38706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69元=两杯喜茶。它不应该是'买不起的安慰'——它应该就是'一杯暖的'。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23898" y="2939891"/>
            <a:ext cx="33525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我们不打折，也不打算涨价。因为'信'的价值不随时间波动。"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23898" y="3435191"/>
            <a:ext cx="28991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作用：定价=价值观。69元不是定价策略——是信仰。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24850" y="3709988"/>
            <a:ext cx="24617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使用场景：定价争议回应 / 媒体采访 / 投资人沟通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24850" y="3919538"/>
            <a:ext cx="15525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出场频率：价值观需要被重申时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323898" y="4149566"/>
            <a:ext cx="37923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对应定位：价值观"克制的陪伴"——品牌不追求高溢价，追求"可及性"。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5143500"/>
            <a:ext cx="11049000" cy="666750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746760" y="5280660"/>
            <a:ext cx="16590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创始人IP的三条原则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1522" y="5578316"/>
            <a:ext cx="1628124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① 真实性优先：不打造"完美创始人"——讲凌晨3点画雾人的那个晚上，不是"战略规划"的那个早上。 ② 只在关键时刻出场：不是每天刷存在感——只在产品发布/价值观声明/年度来信三个场景出现。 ③ 不替代角色："有些话只有创始人能说"≠"所有话都由创始人说"——创始人IP占品牌叙事10%，角色叙事占70%。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51522" y="6387941"/>
            <a:ext cx="671424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定位一致性：创始人=品牌的第一个"角色"——她有故事、有性格、有信仰。她不是CEO，是"第一个把情绪翻译成角色的人"。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P54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6386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创始人IP x 品牌内容矩阵分工：三类发声主体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43999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不是"创始人什么都发"——是"有些话只有创始人能说，有些话只有角色能说"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00125"/>
            <a:ext cx="3524250" cy="3429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15710" y="1099185"/>
            <a:ext cx="12358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5F0E8"/>
                </a:solidFill>
                <a:latin typeface="Georgia"/>
                <a:ea typeface="KaiTi"/>
                <a:cs typeface="Georgia"/>
              </a:rPr>
              <a:t>创始人·陈望舒</a:t>
            </a:r>
          </a:p>
        </p:txBody>
      </p:sp>
      <p:sp>
        <p:nvSpPr>
          <p:cNvPr id="8" name="Rectangle 8"/>
          <p:cNvSpPr/>
          <p:nvPr/>
        </p:nvSpPr>
        <p:spPr>
          <a:xfrm>
            <a:off x="4333875" y="1000125"/>
            <a:ext cx="3524250" cy="3429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478085" y="1099185"/>
            <a:ext cx="12358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5F0E8"/>
                </a:solidFill>
                <a:latin typeface="Georgia"/>
                <a:ea typeface="KaiTi"/>
                <a:cs typeface="Georgia"/>
              </a:rPr>
              <a:t>品牌·岛屿来信</a:t>
            </a:r>
          </a:p>
        </p:txBody>
      </p:sp>
      <p:sp>
        <p:nvSpPr>
          <p:cNvPr id="10" name="Rectangle 10"/>
          <p:cNvSpPr/>
          <p:nvPr/>
        </p:nvSpPr>
        <p:spPr>
          <a:xfrm>
            <a:off x="8096250" y="1000125"/>
            <a:ext cx="3524250" cy="34290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475089" y="109918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5F0E8"/>
                </a:solidFill>
                <a:latin typeface="Georgia"/>
                <a:ea typeface="KaiTi"/>
                <a:cs typeface="Georgia"/>
              </a:rPr>
              <a:t>五个角色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1390650"/>
            <a:ext cx="11049000" cy="2381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02945" y="146494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对比维度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676400"/>
            <a:ext cx="11049000" cy="762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02945" y="180784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发声角色</a:t>
            </a:r>
          </a:p>
        </p:txBody>
      </p:sp>
      <p:sp>
        <p:nvSpPr>
          <p:cNvPr id="16" name="Line 16"/>
          <p:cNvSpPr/>
          <p:nvPr/>
        </p:nvSpPr>
        <p:spPr>
          <a:xfrm>
            <a:off x="571500" y="20193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03898" y="2158841"/>
            <a:ext cx="12379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"第一个翻译情绪的人"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23398" y="2158841"/>
            <a:ext cx="12499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"岛屿的邮局"——管理者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33398" y="2158841"/>
            <a:ext cx="19729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"你的朋友"——五个有名字有性格的人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486025"/>
            <a:ext cx="11049000" cy="476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02945" y="2617470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品牌叙事占比</a:t>
            </a:r>
          </a:p>
        </p:txBody>
      </p:sp>
      <p:sp>
        <p:nvSpPr>
          <p:cNvPr id="22" name="Line 22"/>
          <p:cNvSpPr/>
          <p:nvPr/>
        </p:nvSpPr>
        <p:spPr>
          <a:xfrm>
            <a:off x="571500" y="28289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01992" y="2904649"/>
            <a:ext cx="2340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10%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04850" y="2928938"/>
            <a:ext cx="8953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仅在关键时刻出场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321492" y="2904649"/>
            <a:ext cx="271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20%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24350" y="2928938"/>
            <a:ext cx="79676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产品/活动/公告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31492" y="2904649"/>
            <a:ext cx="271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70%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134350" y="2928938"/>
            <a:ext cx="6762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日常内容主力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3009900"/>
            <a:ext cx="1104900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02945" y="314134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核心内容</a:t>
            </a:r>
          </a:p>
        </p:txBody>
      </p:sp>
      <p:sp>
        <p:nvSpPr>
          <p:cNvPr id="31" name="Line 31"/>
          <p:cNvSpPr/>
          <p:nvPr/>
        </p:nvSpPr>
        <p:spPr>
          <a:xfrm>
            <a:off x="571500" y="33528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04850" y="3462338"/>
            <a:ext cx="18318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三类故事：起源（凌晨3点画雾人）、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04850" y="3633788"/>
            <a:ext cx="1662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方法论（情绪不是问题是内容）、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4850" y="3805238"/>
            <a:ext cx="10158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信仰（69元就够了）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324350" y="3462338"/>
            <a:ext cx="151423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产品发布/上新通知/活动公告/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24350" y="3633788"/>
            <a:ext cx="156352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节日问候/品牌声明/价值观重申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134350" y="3462338"/>
            <a:ext cx="151423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雾人日报/角色来信/情绪速写/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134350" y="3633788"/>
            <a:ext cx="146494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"你今天的形状"/拼雾星期三/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134350" y="3805238"/>
            <a:ext cx="8953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角色之间的小对话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3914775"/>
            <a:ext cx="11049000" cy="476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02945" y="4046220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发声频率</a:t>
            </a:r>
          </a:p>
        </p:txBody>
      </p:sp>
      <p:sp>
        <p:nvSpPr>
          <p:cNvPr id="42" name="Line 42"/>
          <p:cNvSpPr/>
          <p:nvPr/>
        </p:nvSpPr>
        <p:spPr>
          <a:xfrm>
            <a:off x="571500" y="42576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704850" y="4338638"/>
            <a:ext cx="28779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季度级。只在产品发布/价值观声明/年度来信三个场景出现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324350" y="4338638"/>
            <a:ext cx="18921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月度级。产品上新/品牌活动/节日问候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134350" y="4338638"/>
            <a:ext cx="281773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日级。雾人日报每天。角色来信每周。情绪速写/拼雾每周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4438650"/>
            <a:ext cx="11049000" cy="476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702945" y="457009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主要平台</a:t>
            </a:r>
          </a:p>
        </p:txBody>
      </p:sp>
      <p:sp>
        <p:nvSpPr>
          <p:cNvPr id="48" name="Line 48"/>
          <p:cNvSpPr/>
          <p:nvPr/>
        </p:nvSpPr>
        <p:spPr>
          <a:xfrm>
            <a:off x="571500" y="47815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704850" y="4852988"/>
            <a:ext cx="28998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播客/媒体采访/众筹页面/官网"关于"/年度来信（公众号）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324350" y="4852988"/>
            <a:ext cx="19523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公众号/小红书品牌号/官网/小程序通知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134350" y="4852988"/>
            <a:ext cx="239053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小红书角色号/公众号日报/微信群/小程序内容流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4962525"/>
            <a:ext cx="11049000" cy="476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702945" y="5093970"/>
            <a:ext cx="6508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语气/人格</a:t>
            </a:r>
          </a:p>
        </p:txBody>
      </p:sp>
      <p:sp>
        <p:nvSpPr>
          <p:cNvPr id="54" name="Line 54"/>
          <p:cNvSpPr/>
          <p:nvPr/>
        </p:nvSpPr>
        <p:spPr>
          <a:xfrm>
            <a:off x="571500" y="53054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04850" y="5386388"/>
            <a:ext cx="20838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真诚/脆弱/不完美——"我凌晨3点也睡不着"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324350" y="5386388"/>
            <a:ext cx="20235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温暖/可靠/不打扰——"我们在，但不大声"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134350" y="5386388"/>
            <a:ext cx="268081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像朋友——雾人说"今天不想说话"，空罐说"嘿你回来了"</a:t>
            </a:r>
          </a:p>
        </p:txBody>
      </p:sp>
      <p:sp>
        <p:nvSpPr>
          <p:cNvPr id="58" name="Rectangle 58"/>
          <p:cNvSpPr/>
          <p:nvPr/>
        </p:nvSpPr>
        <p:spPr>
          <a:xfrm>
            <a:off x="571500" y="5486400"/>
            <a:ext cx="11049000" cy="476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702945" y="561784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不可替代性</a:t>
            </a:r>
          </a:p>
        </p:txBody>
      </p:sp>
      <p:sp>
        <p:nvSpPr>
          <p:cNvPr id="60" name="Line 60"/>
          <p:cNvSpPr/>
          <p:nvPr/>
        </p:nvSpPr>
        <p:spPr>
          <a:xfrm>
            <a:off x="571500" y="58293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704850" y="5900738"/>
            <a:ext cx="25822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"价值观声明"只能由创始人说——"我为什么坚持69元"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324350" y="5900738"/>
            <a:ext cx="257127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"产品承诺"只能由品牌说——"每一只雾人都有一封信"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134350" y="5900738"/>
            <a:ext cx="28998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"日常情绪陪伴"只能由角色说——"今天不想说话，坐这陪你"</a:t>
            </a:r>
          </a:p>
        </p:txBody>
      </p:sp>
      <p:sp>
        <p:nvSpPr>
          <p:cNvPr id="64" name="Rectangle 64"/>
          <p:cNvSpPr/>
          <p:nvPr/>
        </p:nvSpPr>
        <p:spPr>
          <a:xfrm>
            <a:off x="571500" y="6143625"/>
            <a:ext cx="11049000" cy="381000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1707452" y="6265545"/>
            <a:ext cx="87770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三类主体不是竞争关系——是"各有自己的话要说"。创始人不替角色说话，角色不替品牌说话，品牌不替创始人说话。三者合在一起=完整的品牌声音。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P55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524825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内容营销：信任螺旋6层漏斗——逐层加深的内容逻辑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0855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不是"多发内容"——是"每一层内容把用户往下一层推"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Polygon 6"/>
          <p:cNvSpPr/>
          <p:nvPr/>
        </p:nvSpPr>
        <p:spPr>
          <a:xfrm>
            <a:off x="571500" y="1095375"/>
            <a:ext cx="11049000" cy="571500"/>
          </a:xfrm>
          <a:custGeom>
            <a:avLst/>
            <a:gdLst/>
            <a:ahLst/>
            <a:cxnLst/>
            <a:rect l="l" t="t" r="r" b="b"/>
            <a:pathLst>
              <a:path w="11049000" h="571500">
                <a:moveTo>
                  <a:pt x="0" y="0"/>
                </a:moveTo>
                <a:lnTo>
                  <a:pt x="11049000" y="0"/>
                </a:lnTo>
                <a:lnTo>
                  <a:pt x="10477500" y="571500"/>
                </a:lnTo>
                <a:lnTo>
                  <a:pt x="571500" y="571500"/>
                </a:lnTo>
                <a:close/>
              </a:path>
            </a:pathLst>
          </a:custGeom>
          <a:solidFill>
            <a:srgbClr val="EDE8E0"/>
          </a:solidFill>
          <a:ln w="4762">
            <a:solidFill>
              <a:srgbClr val="D5D0C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593099" y="1299210"/>
            <a:ext cx="10058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第1层：知道</a:t>
            </a:r>
          </a:p>
        </p:txBody>
      </p:sp>
      <p:sp>
        <p:nvSpPr>
          <p:cNvPr id="8" name="Polygon 8"/>
          <p:cNvSpPr/>
          <p:nvPr/>
        </p:nvSpPr>
        <p:spPr>
          <a:xfrm>
            <a:off x="1143000" y="1714500"/>
            <a:ext cx="9906000" cy="571500"/>
          </a:xfrm>
          <a:custGeom>
            <a:avLst/>
            <a:gdLst/>
            <a:ahLst/>
            <a:cxnLst/>
            <a:rect l="l" t="t" r="r" b="b"/>
            <a:pathLst>
              <a:path w="9906000" h="571500">
                <a:moveTo>
                  <a:pt x="0" y="0"/>
                </a:moveTo>
                <a:lnTo>
                  <a:pt x="9906000" y="0"/>
                </a:lnTo>
                <a:lnTo>
                  <a:pt x="9334500" y="571500"/>
                </a:lnTo>
                <a:lnTo>
                  <a:pt x="571500" y="571500"/>
                </a:lnTo>
                <a:close/>
              </a:path>
            </a:pathLst>
          </a:custGeom>
          <a:solidFill>
            <a:srgbClr val="EDE8E0"/>
          </a:solidFill>
          <a:ln w="4762">
            <a:solidFill>
              <a:srgbClr val="D5D0C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570096" y="1918335"/>
            <a:ext cx="1051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第2层：兴趣</a:t>
            </a:r>
          </a:p>
        </p:txBody>
      </p:sp>
      <p:sp>
        <p:nvSpPr>
          <p:cNvPr id="10" name="Polygon 10"/>
          <p:cNvSpPr/>
          <p:nvPr/>
        </p:nvSpPr>
        <p:spPr>
          <a:xfrm>
            <a:off x="1714500" y="2333625"/>
            <a:ext cx="8763000" cy="571500"/>
          </a:xfrm>
          <a:custGeom>
            <a:avLst/>
            <a:gdLst/>
            <a:ahLst/>
            <a:cxnLst/>
            <a:rect l="l" t="t" r="r" b="b"/>
            <a:pathLst>
              <a:path w="8763000" h="571500">
                <a:moveTo>
                  <a:pt x="0" y="0"/>
                </a:moveTo>
                <a:lnTo>
                  <a:pt x="8763000" y="0"/>
                </a:lnTo>
                <a:lnTo>
                  <a:pt x="8191500" y="571500"/>
                </a:lnTo>
                <a:lnTo>
                  <a:pt x="571500" y="571500"/>
                </a:lnTo>
                <a:close/>
              </a:path>
            </a:pathLst>
          </a:custGeom>
          <a:solidFill>
            <a:srgbClr val="EDE8E0"/>
          </a:solidFill>
          <a:ln w="4762">
            <a:solidFill>
              <a:srgbClr val="D5D0C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5570096" y="2537460"/>
            <a:ext cx="1051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第3层：信任</a:t>
            </a:r>
          </a:p>
        </p:txBody>
      </p:sp>
      <p:sp>
        <p:nvSpPr>
          <p:cNvPr id="12" name="Polygon 12"/>
          <p:cNvSpPr/>
          <p:nvPr/>
        </p:nvSpPr>
        <p:spPr>
          <a:xfrm>
            <a:off x="2286000" y="2952750"/>
            <a:ext cx="7620000" cy="571500"/>
          </a:xfrm>
          <a:custGeom>
            <a:avLst/>
            <a:gdLst/>
            <a:ahLst/>
            <a:cxnLst/>
            <a:rect l="l" t="t" r="r" b="b"/>
            <a:pathLst>
              <a:path w="7620000" h="571500">
                <a:moveTo>
                  <a:pt x="0" y="0"/>
                </a:moveTo>
                <a:lnTo>
                  <a:pt x="7620000" y="0"/>
                </a:lnTo>
                <a:lnTo>
                  <a:pt x="7048500" y="571500"/>
                </a:lnTo>
                <a:lnTo>
                  <a:pt x="571500" y="571500"/>
                </a:lnTo>
                <a:close/>
              </a:path>
            </a:pathLst>
          </a:custGeom>
          <a:solidFill>
            <a:srgbClr val="EDE8E0"/>
          </a:solidFill>
          <a:ln w="4762">
            <a:solidFill>
              <a:srgbClr val="D5D0C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570096" y="3156585"/>
            <a:ext cx="1051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第4层：购买</a:t>
            </a:r>
          </a:p>
        </p:txBody>
      </p:sp>
      <p:sp>
        <p:nvSpPr>
          <p:cNvPr id="14" name="Polygon 14"/>
          <p:cNvSpPr/>
          <p:nvPr/>
        </p:nvSpPr>
        <p:spPr>
          <a:xfrm>
            <a:off x="2857500" y="3571875"/>
            <a:ext cx="6477000" cy="571500"/>
          </a:xfrm>
          <a:custGeom>
            <a:avLst/>
            <a:gdLst/>
            <a:ahLst/>
            <a:cxnLst/>
            <a:rect l="l" t="t" r="r" b="b"/>
            <a:pathLst>
              <a:path w="6477000" h="571500">
                <a:moveTo>
                  <a:pt x="0" y="0"/>
                </a:moveTo>
                <a:lnTo>
                  <a:pt x="6477000" y="0"/>
                </a:lnTo>
                <a:lnTo>
                  <a:pt x="5905500" y="571500"/>
                </a:lnTo>
                <a:lnTo>
                  <a:pt x="571500" y="571500"/>
                </a:lnTo>
                <a:close/>
              </a:path>
            </a:pathLst>
          </a:custGeom>
          <a:solidFill>
            <a:srgbClr val="EDE8E0"/>
          </a:solidFill>
          <a:ln w="4762">
            <a:solidFill>
              <a:srgbClr val="D5D0C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570096" y="3775710"/>
            <a:ext cx="1051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第5层：复购</a:t>
            </a:r>
          </a:p>
        </p:txBody>
      </p:sp>
      <p:sp>
        <p:nvSpPr>
          <p:cNvPr id="16" name="Polygon 16"/>
          <p:cNvSpPr/>
          <p:nvPr/>
        </p:nvSpPr>
        <p:spPr>
          <a:xfrm>
            <a:off x="3429000" y="4191000"/>
            <a:ext cx="5334000" cy="571500"/>
          </a:xfrm>
          <a:custGeom>
            <a:avLst/>
            <a:gdLst/>
            <a:ahLst/>
            <a:cxnLst/>
            <a:rect l="l" t="t" r="r" b="b"/>
            <a:pathLst>
              <a:path w="5334000" h="571500">
                <a:moveTo>
                  <a:pt x="0" y="0"/>
                </a:moveTo>
                <a:lnTo>
                  <a:pt x="5334000" y="0"/>
                </a:lnTo>
                <a:lnTo>
                  <a:pt x="4762500" y="571500"/>
                </a:lnTo>
                <a:lnTo>
                  <a:pt x="571500" y="571500"/>
                </a:lnTo>
                <a:close/>
              </a:path>
            </a:pathLst>
          </a:custGeom>
          <a:solidFill>
            <a:srgbClr val="3C3C5C">
              <a:alpha val="8000"/>
            </a:srgbClr>
          </a:solidFill>
          <a:ln w="4762">
            <a:solidFill>
              <a:srgbClr val="D5D0C8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570096" y="4394835"/>
            <a:ext cx="1051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第6层：共建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1095375"/>
            <a:ext cx="1905000" cy="133350"/>
          </a:xfrm>
          <a:prstGeom prst="rect">
            <a:avLst/>
          </a:prstGeom>
          <a:solidFill>
            <a:srgbClr val="7B7B8E">
              <a:alpha val="3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58178" y="1136809"/>
            <a:ext cx="84524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平均浏览时长 &lt;3秒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143000" y="1714500"/>
            <a:ext cx="1905000" cy="133350"/>
          </a:xfrm>
          <a:prstGeom prst="rect">
            <a:avLst/>
          </a:prstGeom>
          <a:solidFill>
            <a:srgbClr val="7B7B8E">
              <a:alpha val="30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229678" y="1765459"/>
            <a:ext cx="95369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内容阅读完成率 &gt;40%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714500" y="2333625"/>
            <a:ext cx="1905000" cy="133350"/>
          </a:xfrm>
          <a:prstGeom prst="rect">
            <a:avLst/>
          </a:prstGeom>
          <a:solidFill>
            <a:srgbClr val="8B9D8B">
              <a:alpha val="30000"/>
            </a:srgbClr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801178" y="2384584"/>
            <a:ext cx="74173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"这我指数" &gt;15%</a:t>
            </a:r>
          </a:p>
        </p:txBody>
      </p:sp>
      <p:sp>
        <p:nvSpPr>
          <p:cNvPr id="24" name="Rectangle 24"/>
          <p:cNvSpPr/>
          <p:nvPr/>
        </p:nvSpPr>
        <p:spPr>
          <a:xfrm>
            <a:off x="2286000" y="2952750"/>
            <a:ext cx="1905000" cy="133350"/>
          </a:xfrm>
          <a:prstGeom prst="rect">
            <a:avLst/>
          </a:prstGeom>
          <a:solidFill>
            <a:srgbClr val="8B9D8B">
              <a:alpha val="30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2372678" y="3003709"/>
            <a:ext cx="95369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详情页→购买转化 &gt;3%</a:t>
            </a:r>
          </a:p>
        </p:txBody>
      </p:sp>
      <p:sp>
        <p:nvSpPr>
          <p:cNvPr id="26" name="Rectangle 26"/>
          <p:cNvSpPr/>
          <p:nvPr/>
        </p:nvSpPr>
        <p:spPr>
          <a:xfrm>
            <a:off x="2857500" y="3571875"/>
            <a:ext cx="1905000" cy="133350"/>
          </a:xfrm>
          <a:prstGeom prst="rect">
            <a:avLst/>
          </a:prstGeom>
          <a:solidFill>
            <a:srgbClr val="7BA4B5">
              <a:alpha val="3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2944178" y="3622834"/>
            <a:ext cx="74173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90天复购率 &gt;15%</a:t>
            </a:r>
          </a:p>
        </p:txBody>
      </p:sp>
      <p:sp>
        <p:nvSpPr>
          <p:cNvPr id="28" name="Rectangle 28"/>
          <p:cNvSpPr/>
          <p:nvPr/>
        </p:nvSpPr>
        <p:spPr>
          <a:xfrm>
            <a:off x="3429000" y="4191000"/>
            <a:ext cx="1905000" cy="133350"/>
          </a:xfrm>
          <a:prstGeom prst="rect">
            <a:avLst/>
          </a:prstGeom>
          <a:solidFill>
            <a:srgbClr val="7BA4B5">
              <a:alpha val="30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3515678" y="4241959"/>
            <a:ext cx="66779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UGC参与率 &gt;5%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58165" y="4982528"/>
            <a:ext cx="17495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6层漏斗 × 内容策略详表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5238750"/>
            <a:ext cx="11049000" cy="2857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94253" y="5348288"/>
            <a:ext cx="36409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漏斗层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855946" y="5348288"/>
            <a:ext cx="479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内容类型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721418" y="5348288"/>
            <a:ext cx="93916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岛屿来信内容资产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312932" y="5348288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用户心理状态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142446" y="5348288"/>
            <a:ext cx="479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关键指标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047446" y="5348288"/>
            <a:ext cx="479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内容公式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5524500"/>
            <a:ext cx="11049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69144" y="5623084"/>
            <a:ext cx="21431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知道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714774" y="5623084"/>
            <a:ext cx="76145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短视频/图文笔记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213842" y="5623084"/>
            <a:ext cx="195431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雾人形象+一句话金句（"今天我是灰色的"）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963912" y="5623084"/>
            <a:ext cx="140717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"这是什么？好看。有点意思。"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099858" y="5623084"/>
            <a:ext cx="56428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曝光→点击率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827407" y="5623084"/>
            <a:ext cx="91918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角色形象 + 一句情绪</a:t>
            </a:r>
          </a:p>
        </p:txBody>
      </p:sp>
      <p:sp>
        <p:nvSpPr>
          <p:cNvPr id="45" name="Rectangle 45"/>
          <p:cNvSpPr/>
          <p:nvPr/>
        </p:nvSpPr>
        <p:spPr>
          <a:xfrm>
            <a:off x="571500" y="5791200"/>
            <a:ext cx="11049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769144" y="5889784"/>
            <a:ext cx="21431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兴趣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665482" y="5889784"/>
            <a:ext cx="86003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图文故事/角色介绍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460302" y="5889784"/>
            <a:ext cx="146139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角色背景故事+"一封信"概念解释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062496" y="5889784"/>
            <a:ext cx="121000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"这也太温柔了。怎么做？"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050566" y="5889784"/>
            <a:ext cx="66286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关注率/收藏率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827407" y="5889784"/>
            <a:ext cx="91918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角色故事 + 使用场景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6057900"/>
            <a:ext cx="11049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769144" y="6156484"/>
            <a:ext cx="21431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信任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665482" y="6156484"/>
            <a:ext cx="86003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创始人故事/方法论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329678" y="6156484"/>
            <a:ext cx="172264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"凌晨3点画雾人"+"情绪词汇库"方法论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963912" y="6156484"/>
            <a:ext cx="140717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"这个人是认真的。她不是我。"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122039" y="6156484"/>
            <a:ext cx="51992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"这我指数"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778115" y="6156484"/>
            <a:ext cx="101777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创始人故事 + 信念声明</a:t>
            </a:r>
          </a:p>
        </p:txBody>
      </p:sp>
      <p:sp>
        <p:nvSpPr>
          <p:cNvPr id="59" name="Rectangle 59"/>
          <p:cNvSpPr/>
          <p:nvPr/>
        </p:nvSpPr>
        <p:spPr>
          <a:xfrm>
            <a:off x="571500" y="6324600"/>
            <a:ext cx="11049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769144" y="6423184"/>
            <a:ext cx="21431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购买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665482" y="6423184"/>
            <a:ext cx="86003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产品详情/用户证言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356789" y="6423184"/>
            <a:ext cx="166842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众筹页面/角色来信示例/开箱分享UGC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931872" y="6423184"/>
            <a:ext cx="147125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"69元=两杯喜茶。我想试一个。"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225552" y="6423184"/>
            <a:ext cx="31289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转化率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827407" y="6423184"/>
            <a:ext cx="91918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价格锚点 + 开箱证据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52475" y="67008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430238" y="670083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P56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55816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内容营销：AISAS x 岛屿来信的独特路径修正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4404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标准AISAS不够——岛屿来信的"S"不是Search，是"Silence"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58165" y="982028"/>
            <a:ext cx="10733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B7B8E"/>
                </a:solidFill>
                <a:latin typeface="Georgia"/>
                <a:ea typeface="KaiTi"/>
                <a:cs typeface="Georgia"/>
              </a:rPr>
              <a:t>标准AISAS模型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219200"/>
            <a:ext cx="1333500" cy="476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46518" y="1315402"/>
            <a:ext cx="7834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Attention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19188" y="153828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注意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78355" y="1359218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5D0C8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381250" y="1219200"/>
            <a:ext cx="1333500" cy="476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700548" y="1315402"/>
            <a:ext cx="6949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Interest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28938" y="153828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兴趣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888105" y="1359218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5D0C8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191000" y="1219200"/>
            <a:ext cx="1333500" cy="476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578732" y="1315402"/>
            <a:ext cx="5580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Search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38688" y="153828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搜索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97855" y="1359218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5D0C8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000750" y="1219200"/>
            <a:ext cx="1333500" cy="476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408609" y="1315402"/>
            <a:ext cx="5177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Action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48438" y="153828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行动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07605" y="1359218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5D0C8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810500" y="1219200"/>
            <a:ext cx="1333500" cy="476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242512" y="1315402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Share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58188" y="153828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分享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14522" y="1415891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适用于：标准化商品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8165" y="1934528"/>
            <a:ext cx="3069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岛屿来信修正模型：A → I → Silence → A → S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2238375"/>
            <a:ext cx="1714500" cy="571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571500" y="2238375"/>
            <a:ext cx="171450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83411" y="2363152"/>
            <a:ext cx="12906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Attention · 注意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20829" y="2605088"/>
            <a:ext cx="10158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"这是什么？雾人？"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459355" y="2406968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33" name="Rectangle 33"/>
          <p:cNvSpPr/>
          <p:nvPr/>
        </p:nvSpPr>
        <p:spPr>
          <a:xfrm>
            <a:off x="2762250" y="2238375"/>
            <a:ext cx="1714500" cy="571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2762250" y="2238375"/>
            <a:ext cx="171450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018442" y="2363152"/>
            <a:ext cx="12021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Interest · 兴趣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002042" y="2605088"/>
            <a:ext cx="12349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"有一封信？它说什么？"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650105" y="2406968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953000" y="2171700"/>
            <a:ext cx="1905000" cy="704850"/>
          </a:xfrm>
          <a:prstGeom prst="rect">
            <a:avLst/>
          </a:prstGeom>
          <a:solidFill>
            <a:srgbClr val="3C3C5C">
              <a:alpha val="6000"/>
            </a:srgbClr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4953000" y="2171700"/>
            <a:ext cx="190500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368850" y="2315528"/>
            <a:ext cx="10733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Silence · 沉默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30347" y="2538412"/>
            <a:ext cx="55030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★ 修正核心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290637" y="2737009"/>
            <a:ext cx="122972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不是"搜一下"——是"想一想"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031355" y="2406968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334250" y="2238375"/>
            <a:ext cx="1714500" cy="571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7334250" y="2238375"/>
            <a:ext cx="171450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7679003" y="2363152"/>
            <a:ext cx="10249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Action · 行动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623334" y="2605088"/>
            <a:ext cx="11363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"69元。买一只试试。"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222105" y="2406968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49" name="Rectangle 49"/>
          <p:cNvSpPr/>
          <p:nvPr/>
        </p:nvSpPr>
        <p:spPr>
          <a:xfrm>
            <a:off x="9525000" y="2238375"/>
            <a:ext cx="2095500" cy="571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9525000" y="2238375"/>
            <a:ext cx="2095500" cy="3810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10084406" y="2363152"/>
            <a:ext cx="976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Share · 分享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900523" y="2605088"/>
            <a:ext cx="13444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"送你一个。它替我说话。"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58165" y="312515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三个关键修正</a:t>
            </a:r>
          </a:p>
        </p:txBody>
      </p:sp>
      <p:sp>
        <p:nvSpPr>
          <p:cNvPr id="54" name="Line 54"/>
          <p:cNvSpPr/>
          <p:nvPr/>
        </p:nvSpPr>
        <p:spPr>
          <a:xfrm>
            <a:off x="571500" y="335280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55" name="Rectangle 55"/>
          <p:cNvSpPr/>
          <p:nvPr/>
        </p:nvSpPr>
        <p:spPr>
          <a:xfrm>
            <a:off x="571500" y="3476625"/>
            <a:ext cx="3524250" cy="13811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6" name="Rectangle 56"/>
          <p:cNvSpPr/>
          <p:nvPr/>
        </p:nvSpPr>
        <p:spPr>
          <a:xfrm>
            <a:off x="571500" y="3476625"/>
            <a:ext cx="352425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749618" y="3628549"/>
            <a:ext cx="21180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修正一："Search" → "Silence"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51522" y="3892391"/>
            <a:ext cx="22500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标准AISAS假设用户会主动搜索产品信息。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51522" y="4120991"/>
            <a:ext cx="258741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岛屿来信的不同：用户不是"搜索"——是"沉淀"。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51522" y="4349591"/>
            <a:ext cx="41658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看了雾人日报 → 沉默几天 → 某一天突然想起"那个灰色的小东西说的就是我"。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52475" y="4662488"/>
            <a:ext cx="36392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不做搜索引擎优化。做"沉默期内容"——让用户在安静中和角色建立关系。</a:t>
            </a:r>
          </a:p>
        </p:txBody>
      </p:sp>
      <p:sp>
        <p:nvSpPr>
          <p:cNvPr id="62" name="Rectangle 62"/>
          <p:cNvSpPr/>
          <p:nvPr/>
        </p:nvSpPr>
        <p:spPr>
          <a:xfrm>
            <a:off x="4333875" y="3476625"/>
            <a:ext cx="3524250" cy="13811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4333875" y="3476625"/>
            <a:ext cx="352425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4511992" y="3628549"/>
            <a:ext cx="18414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修正二："Action"不是终点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513898" y="3892391"/>
            <a:ext cx="18524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标准AISAS的"Action"=购买完成。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513898" y="4120991"/>
            <a:ext cx="20150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岛屿来信的不同：购买=关系的开始。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513898" y="4349591"/>
            <a:ext cx="392487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拆开信封→读到第一封信→收到每天日报→"它说我"时刻→"不用看它也在"。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514850" y="4662488"/>
            <a:ext cx="327231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购买后的内容设计比购买前重要——"第一封信"是第二个Aha时刻。</a:t>
            </a:r>
          </a:p>
        </p:txBody>
      </p:sp>
      <p:sp>
        <p:nvSpPr>
          <p:cNvPr id="69" name="Rectangle 69"/>
          <p:cNvSpPr/>
          <p:nvPr/>
        </p:nvSpPr>
        <p:spPr>
          <a:xfrm>
            <a:off x="8096250" y="3476625"/>
            <a:ext cx="3524250" cy="13811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0" name="Rectangle 70"/>
          <p:cNvSpPr/>
          <p:nvPr/>
        </p:nvSpPr>
        <p:spPr>
          <a:xfrm>
            <a:off x="8096250" y="3476625"/>
            <a:ext cx="3524250" cy="38100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8274368" y="3628549"/>
            <a:ext cx="19460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修正三："Share"的动机不同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276272" y="3892391"/>
            <a:ext cx="175000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标准AISAS的Share=晒单/评价。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276272" y="4120991"/>
            <a:ext cx="26958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岛屿来信的不同：分享动机不是"我买了好东西"——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276272" y="4349591"/>
            <a:ext cx="1840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是"它替我说了我说不出口的话"。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277225" y="4662488"/>
            <a:ext cx="403907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不做"转发抽奖"。做"这封信=你想对谁说"——让分享成为情感行为而非利益行为。</a:t>
            </a:r>
          </a:p>
        </p:txBody>
      </p:sp>
      <p:sp>
        <p:nvSpPr>
          <p:cNvPr id="76" name="Rectangle 76"/>
          <p:cNvSpPr/>
          <p:nvPr/>
        </p:nvSpPr>
        <p:spPr>
          <a:xfrm>
            <a:off x="571500" y="5048250"/>
            <a:ext cx="11049000" cy="809625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4404030" y="5201602"/>
            <a:ext cx="33839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Silence 阶段的内容设计——"在沉默中建立关系"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51522" y="5483066"/>
            <a:ext cx="43646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雾人日报：不在日报里推销——只在日报里"说话"。用户不是被推销，是被陪伴。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751522" y="5673566"/>
            <a:ext cx="57864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沉默期KPI：不是"日活"——是"沉默留存率"（不互动但未取关）。不是"时长"——是"回来的那天说了什么"。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561022" y="6149816"/>
            <a:ext cx="64853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定位一致性：品牌承诺"克制的陪伴"——AISAS修正让"克制"有了内容工具。不是不沟通，是在对的时刻用对的方式沟通。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P57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539777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内容营销：五个角色 x 七个内容系列 x 内容节奏规划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29540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内容不是"品牌在说话"——是"五个角色各自在生活"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58165" y="982028"/>
            <a:ext cx="18220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角色 x 内容系列分配矩阵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219200"/>
            <a:ext cx="762000" cy="2476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40415" y="1327309"/>
            <a:ext cx="22417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角色</a:t>
            </a:r>
          </a:p>
        </p:txBody>
      </p:sp>
      <p:sp>
        <p:nvSpPr>
          <p:cNvPr id="9" name="Rectangle 9"/>
          <p:cNvSpPr/>
          <p:nvPr/>
        </p:nvSpPr>
        <p:spPr>
          <a:xfrm>
            <a:off x="1333500" y="1219200"/>
            <a:ext cx="1333500" cy="2476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784652" y="1327309"/>
            <a:ext cx="43119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雾人日报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667000" y="1219200"/>
            <a:ext cx="1333500" cy="2476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118152" y="1327309"/>
            <a:ext cx="43119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角色来信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000500" y="1219200"/>
            <a:ext cx="1333500" cy="2476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451652" y="1327309"/>
            <a:ext cx="43119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情绪速写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334000" y="1219200"/>
            <a:ext cx="1333500" cy="2476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785152" y="1327309"/>
            <a:ext cx="43119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角色对话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667500" y="1219200"/>
            <a:ext cx="1333500" cy="2476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015139" y="1327309"/>
            <a:ext cx="63822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你今天的形状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001000" y="1219200"/>
            <a:ext cx="1333500" cy="2476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400395" y="1327309"/>
            <a:ext cx="53471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拼雾星期三</a:t>
            </a:r>
          </a:p>
        </p:txBody>
      </p:sp>
      <p:sp>
        <p:nvSpPr>
          <p:cNvPr id="21" name="Rectangle 21"/>
          <p:cNvSpPr/>
          <p:nvPr/>
        </p:nvSpPr>
        <p:spPr>
          <a:xfrm>
            <a:off x="9334500" y="1219200"/>
            <a:ext cx="1333500" cy="2476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757186" y="1327309"/>
            <a:ext cx="48812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幕后/手记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0668000" y="1219200"/>
            <a:ext cx="952500" cy="2476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1032165" y="1327309"/>
            <a:ext cx="22417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频率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1466850"/>
            <a:ext cx="762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27961" y="1566862"/>
            <a:ext cx="249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雾人</a:t>
            </a:r>
          </a:p>
        </p:txBody>
      </p:sp>
      <p:sp>
        <p:nvSpPr>
          <p:cNvPr id="27" name="Rectangle 27"/>
          <p:cNvSpPr/>
          <p:nvPr/>
        </p:nvSpPr>
        <p:spPr>
          <a:xfrm>
            <a:off x="1333500" y="14668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851196" y="1574959"/>
            <a:ext cx="29810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★ 主力</a:t>
            </a:r>
          </a:p>
        </p:txBody>
      </p:sp>
      <p:sp>
        <p:nvSpPr>
          <p:cNvPr id="29" name="Rectangle 29"/>
          <p:cNvSpPr/>
          <p:nvPr/>
        </p:nvSpPr>
        <p:spPr>
          <a:xfrm>
            <a:off x="2667000" y="14668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3184696" y="1574959"/>
            <a:ext cx="29810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★ 主力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000500" y="14668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560094" y="1574959"/>
            <a:ext cx="21431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偶尔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334000" y="14668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844302" y="1574959"/>
            <a:ext cx="31289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与刺刺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667500" y="14668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298567" y="157495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001000" y="14668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632067" y="157495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39" name="Rectangle 39"/>
          <p:cNvSpPr/>
          <p:nvPr/>
        </p:nvSpPr>
        <p:spPr>
          <a:xfrm>
            <a:off x="9334500" y="14668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965567" y="157495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41" name="Rectangle 41"/>
          <p:cNvSpPr/>
          <p:nvPr/>
        </p:nvSpPr>
        <p:spPr>
          <a:xfrm>
            <a:off x="10668000" y="1466850"/>
            <a:ext cx="952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1009983" y="1574959"/>
            <a:ext cx="26853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日+周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1733550"/>
            <a:ext cx="762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27961" y="1833562"/>
            <a:ext cx="249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刺刺</a:t>
            </a:r>
          </a:p>
        </p:txBody>
      </p:sp>
      <p:sp>
        <p:nvSpPr>
          <p:cNvPr id="45" name="Rectangle 45"/>
          <p:cNvSpPr/>
          <p:nvPr/>
        </p:nvSpPr>
        <p:spPr>
          <a:xfrm>
            <a:off x="1333500" y="17335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1964567" y="184165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47" name="Rectangle 47"/>
          <p:cNvSpPr/>
          <p:nvPr/>
        </p:nvSpPr>
        <p:spPr>
          <a:xfrm>
            <a:off x="2667000" y="17335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3184696" y="1841659"/>
            <a:ext cx="29810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★ 主力</a:t>
            </a:r>
          </a:p>
        </p:txBody>
      </p:sp>
      <p:sp>
        <p:nvSpPr>
          <p:cNvPr id="49" name="Rectangle 49"/>
          <p:cNvSpPr/>
          <p:nvPr/>
        </p:nvSpPr>
        <p:spPr>
          <a:xfrm>
            <a:off x="4000500" y="17335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4560094" y="1841659"/>
            <a:ext cx="21431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偶尔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334000" y="17335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844302" y="1841659"/>
            <a:ext cx="31289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与雾人</a:t>
            </a:r>
          </a:p>
        </p:txBody>
      </p:sp>
      <p:sp>
        <p:nvSpPr>
          <p:cNvPr id="53" name="Rectangle 53"/>
          <p:cNvSpPr/>
          <p:nvPr/>
        </p:nvSpPr>
        <p:spPr>
          <a:xfrm>
            <a:off x="6667500" y="17335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298567" y="184165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55" name="Rectangle 55"/>
          <p:cNvSpPr/>
          <p:nvPr/>
        </p:nvSpPr>
        <p:spPr>
          <a:xfrm>
            <a:off x="8001000" y="17335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8632067" y="184165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57" name="Rectangle 57"/>
          <p:cNvSpPr/>
          <p:nvPr/>
        </p:nvSpPr>
        <p:spPr>
          <a:xfrm>
            <a:off x="9334500" y="17335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9965567" y="184165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59" name="Rectangle 59"/>
          <p:cNvSpPr/>
          <p:nvPr/>
        </p:nvSpPr>
        <p:spPr>
          <a:xfrm>
            <a:off x="10668000" y="1733550"/>
            <a:ext cx="952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11086386" y="1841659"/>
            <a:ext cx="11572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周</a:t>
            </a:r>
          </a:p>
        </p:txBody>
      </p:sp>
      <p:sp>
        <p:nvSpPr>
          <p:cNvPr id="61" name="Rectangle 61"/>
          <p:cNvSpPr/>
          <p:nvPr/>
        </p:nvSpPr>
        <p:spPr>
          <a:xfrm>
            <a:off x="571500" y="2000250"/>
            <a:ext cx="762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827961" y="2100262"/>
            <a:ext cx="249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7BA4B5"/>
                </a:solidFill>
                <a:latin typeface="Arial"/>
                <a:ea typeface="Microsoft YaHei"/>
                <a:cs typeface="Arial"/>
              </a:rPr>
              <a:t>空罐</a:t>
            </a:r>
          </a:p>
        </p:txBody>
      </p:sp>
      <p:sp>
        <p:nvSpPr>
          <p:cNvPr id="63" name="Rectangle 63"/>
          <p:cNvSpPr/>
          <p:nvPr/>
        </p:nvSpPr>
        <p:spPr>
          <a:xfrm>
            <a:off x="1333500" y="20002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1964567" y="210835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65" name="Rectangle 65"/>
          <p:cNvSpPr/>
          <p:nvPr/>
        </p:nvSpPr>
        <p:spPr>
          <a:xfrm>
            <a:off x="2667000" y="20002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3184696" y="2108359"/>
            <a:ext cx="29810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★ 主力</a:t>
            </a:r>
          </a:p>
        </p:txBody>
      </p:sp>
      <p:sp>
        <p:nvSpPr>
          <p:cNvPr id="67" name="Rectangle 67"/>
          <p:cNvSpPr/>
          <p:nvPr/>
        </p:nvSpPr>
        <p:spPr>
          <a:xfrm>
            <a:off x="4000500" y="20002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4560094" y="2108359"/>
            <a:ext cx="21431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偶尔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334000" y="20002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5965067" y="210835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71" name="Rectangle 71"/>
          <p:cNvSpPr/>
          <p:nvPr/>
        </p:nvSpPr>
        <p:spPr>
          <a:xfrm>
            <a:off x="6667500" y="20002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7298567" y="210835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73" name="Rectangle 73"/>
          <p:cNvSpPr/>
          <p:nvPr/>
        </p:nvSpPr>
        <p:spPr>
          <a:xfrm>
            <a:off x="8001000" y="20002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8632067" y="210835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75" name="Rectangle 75"/>
          <p:cNvSpPr/>
          <p:nvPr/>
        </p:nvSpPr>
        <p:spPr>
          <a:xfrm>
            <a:off x="9334500" y="20002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9965567" y="210835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77" name="Rectangle 77"/>
          <p:cNvSpPr/>
          <p:nvPr/>
        </p:nvSpPr>
        <p:spPr>
          <a:xfrm>
            <a:off x="10668000" y="2000250"/>
            <a:ext cx="952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11086386" y="2108359"/>
            <a:ext cx="11572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周</a:t>
            </a:r>
          </a:p>
        </p:txBody>
      </p:sp>
      <p:sp>
        <p:nvSpPr>
          <p:cNvPr id="79" name="Rectangle 79"/>
          <p:cNvSpPr/>
          <p:nvPr/>
        </p:nvSpPr>
        <p:spPr>
          <a:xfrm>
            <a:off x="571500" y="2266950"/>
            <a:ext cx="762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827961" y="2366962"/>
            <a:ext cx="249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E6B8"/>
                </a:solidFill>
                <a:latin typeface="Arial"/>
                <a:ea typeface="Microsoft YaHei"/>
                <a:cs typeface="Arial"/>
              </a:rPr>
              <a:t>暖光</a:t>
            </a:r>
          </a:p>
        </p:txBody>
      </p:sp>
      <p:sp>
        <p:nvSpPr>
          <p:cNvPr id="81" name="Rectangle 81"/>
          <p:cNvSpPr/>
          <p:nvPr/>
        </p:nvSpPr>
        <p:spPr>
          <a:xfrm>
            <a:off x="1333500" y="22669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82" name="TextBox 82"/>
          <p:cNvSpPr txBox="1"/>
          <p:nvPr/>
        </p:nvSpPr>
        <p:spPr>
          <a:xfrm>
            <a:off x="1964567" y="237505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83" name="Rectangle 83"/>
          <p:cNvSpPr/>
          <p:nvPr/>
        </p:nvSpPr>
        <p:spPr>
          <a:xfrm>
            <a:off x="2667000" y="22669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3184696" y="2375059"/>
            <a:ext cx="29810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★ 主力</a:t>
            </a:r>
          </a:p>
        </p:txBody>
      </p:sp>
      <p:sp>
        <p:nvSpPr>
          <p:cNvPr id="85" name="Rectangle 85"/>
          <p:cNvSpPr/>
          <p:nvPr/>
        </p:nvSpPr>
        <p:spPr>
          <a:xfrm>
            <a:off x="4000500" y="22669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86" name="TextBox 86"/>
          <p:cNvSpPr txBox="1"/>
          <p:nvPr/>
        </p:nvSpPr>
        <p:spPr>
          <a:xfrm>
            <a:off x="4560094" y="2375059"/>
            <a:ext cx="21431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偶尔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334000" y="22669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5844302" y="2375059"/>
            <a:ext cx="31289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与根根</a:t>
            </a:r>
          </a:p>
        </p:txBody>
      </p:sp>
      <p:sp>
        <p:nvSpPr>
          <p:cNvPr id="89" name="Rectangle 89"/>
          <p:cNvSpPr/>
          <p:nvPr/>
        </p:nvSpPr>
        <p:spPr>
          <a:xfrm>
            <a:off x="6667500" y="22669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90" name="TextBox 90"/>
          <p:cNvSpPr txBox="1"/>
          <p:nvPr/>
        </p:nvSpPr>
        <p:spPr>
          <a:xfrm>
            <a:off x="7298567" y="237505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91" name="Rectangle 91"/>
          <p:cNvSpPr/>
          <p:nvPr/>
        </p:nvSpPr>
        <p:spPr>
          <a:xfrm>
            <a:off x="8001000" y="22669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92" name="TextBox 92"/>
          <p:cNvSpPr txBox="1"/>
          <p:nvPr/>
        </p:nvSpPr>
        <p:spPr>
          <a:xfrm>
            <a:off x="8632067" y="237505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93" name="Rectangle 93"/>
          <p:cNvSpPr/>
          <p:nvPr/>
        </p:nvSpPr>
        <p:spPr>
          <a:xfrm>
            <a:off x="9334500" y="22669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94" name="TextBox 94"/>
          <p:cNvSpPr txBox="1"/>
          <p:nvPr/>
        </p:nvSpPr>
        <p:spPr>
          <a:xfrm>
            <a:off x="9965567" y="237505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95" name="Rectangle 95"/>
          <p:cNvSpPr/>
          <p:nvPr/>
        </p:nvSpPr>
        <p:spPr>
          <a:xfrm>
            <a:off x="10668000" y="2266950"/>
            <a:ext cx="952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96" name="TextBox 96"/>
          <p:cNvSpPr txBox="1"/>
          <p:nvPr/>
        </p:nvSpPr>
        <p:spPr>
          <a:xfrm>
            <a:off x="11086386" y="2375059"/>
            <a:ext cx="11572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周</a:t>
            </a:r>
          </a:p>
        </p:txBody>
      </p:sp>
      <p:sp>
        <p:nvSpPr>
          <p:cNvPr id="97" name="Rectangle 97"/>
          <p:cNvSpPr/>
          <p:nvPr/>
        </p:nvSpPr>
        <p:spPr>
          <a:xfrm>
            <a:off x="571500" y="2533650"/>
            <a:ext cx="762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98" name="TextBox 98"/>
          <p:cNvSpPr txBox="1"/>
          <p:nvPr/>
        </p:nvSpPr>
        <p:spPr>
          <a:xfrm>
            <a:off x="827961" y="2633662"/>
            <a:ext cx="249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A8C97B"/>
                </a:solidFill>
                <a:latin typeface="Arial"/>
                <a:ea typeface="Microsoft YaHei"/>
                <a:cs typeface="Arial"/>
              </a:rPr>
              <a:t>根根</a:t>
            </a:r>
          </a:p>
        </p:txBody>
      </p:sp>
      <p:sp>
        <p:nvSpPr>
          <p:cNvPr id="99" name="Rectangle 99"/>
          <p:cNvSpPr/>
          <p:nvPr/>
        </p:nvSpPr>
        <p:spPr>
          <a:xfrm>
            <a:off x="1333500" y="25336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00" name="TextBox 100"/>
          <p:cNvSpPr txBox="1"/>
          <p:nvPr/>
        </p:nvSpPr>
        <p:spPr>
          <a:xfrm>
            <a:off x="1964567" y="264175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101" name="Rectangle 101"/>
          <p:cNvSpPr/>
          <p:nvPr/>
        </p:nvSpPr>
        <p:spPr>
          <a:xfrm>
            <a:off x="2667000" y="25336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02" name="TextBox 102"/>
          <p:cNvSpPr txBox="1"/>
          <p:nvPr/>
        </p:nvSpPr>
        <p:spPr>
          <a:xfrm>
            <a:off x="3184696" y="2641759"/>
            <a:ext cx="29810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★ 主力</a:t>
            </a:r>
          </a:p>
        </p:txBody>
      </p:sp>
      <p:sp>
        <p:nvSpPr>
          <p:cNvPr id="103" name="Rectangle 103"/>
          <p:cNvSpPr/>
          <p:nvPr/>
        </p:nvSpPr>
        <p:spPr>
          <a:xfrm>
            <a:off x="4000500" y="25336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04" name="TextBox 104"/>
          <p:cNvSpPr txBox="1"/>
          <p:nvPr/>
        </p:nvSpPr>
        <p:spPr>
          <a:xfrm>
            <a:off x="4560094" y="2641759"/>
            <a:ext cx="21431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偶尔</a:t>
            </a:r>
          </a:p>
        </p:txBody>
      </p:sp>
      <p:sp>
        <p:nvSpPr>
          <p:cNvPr id="105" name="Rectangle 105"/>
          <p:cNvSpPr/>
          <p:nvPr/>
        </p:nvSpPr>
        <p:spPr>
          <a:xfrm>
            <a:off x="5334000" y="25336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06" name="TextBox 106"/>
          <p:cNvSpPr txBox="1"/>
          <p:nvPr/>
        </p:nvSpPr>
        <p:spPr>
          <a:xfrm>
            <a:off x="5844302" y="2641759"/>
            <a:ext cx="31289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与暖光</a:t>
            </a:r>
          </a:p>
        </p:txBody>
      </p:sp>
      <p:sp>
        <p:nvSpPr>
          <p:cNvPr id="107" name="Rectangle 107"/>
          <p:cNvSpPr/>
          <p:nvPr/>
        </p:nvSpPr>
        <p:spPr>
          <a:xfrm>
            <a:off x="6667500" y="25336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08" name="TextBox 108"/>
          <p:cNvSpPr txBox="1"/>
          <p:nvPr/>
        </p:nvSpPr>
        <p:spPr>
          <a:xfrm>
            <a:off x="7298567" y="264175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109" name="Rectangle 109"/>
          <p:cNvSpPr/>
          <p:nvPr/>
        </p:nvSpPr>
        <p:spPr>
          <a:xfrm>
            <a:off x="8001000" y="25336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10" name="TextBox 110"/>
          <p:cNvSpPr txBox="1"/>
          <p:nvPr/>
        </p:nvSpPr>
        <p:spPr>
          <a:xfrm>
            <a:off x="8632067" y="264175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9334500" y="2533650"/>
            <a:ext cx="1333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9795510" y="2641759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生长日记</a:t>
            </a:r>
          </a:p>
        </p:txBody>
      </p:sp>
      <p:sp>
        <p:nvSpPr>
          <p:cNvPr id="113" name="Rectangle 113"/>
          <p:cNvSpPr/>
          <p:nvPr/>
        </p:nvSpPr>
        <p:spPr>
          <a:xfrm>
            <a:off x="10668000" y="2533650"/>
            <a:ext cx="9525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14" name="TextBox 114"/>
          <p:cNvSpPr txBox="1"/>
          <p:nvPr/>
        </p:nvSpPr>
        <p:spPr>
          <a:xfrm>
            <a:off x="11009983" y="2641759"/>
            <a:ext cx="26853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周+月</a:t>
            </a:r>
          </a:p>
        </p:txBody>
      </p:sp>
      <p:sp>
        <p:nvSpPr>
          <p:cNvPr id="115" name="Rectangle 115"/>
          <p:cNvSpPr/>
          <p:nvPr/>
        </p:nvSpPr>
        <p:spPr>
          <a:xfrm>
            <a:off x="571500" y="2905125"/>
            <a:ext cx="11049000" cy="1714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16" name="TextBox 116"/>
          <p:cNvSpPr txBox="1"/>
          <p:nvPr/>
        </p:nvSpPr>
        <p:spPr>
          <a:xfrm>
            <a:off x="705802" y="2946559"/>
            <a:ext cx="389641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★ 主力 = 该角色在此内容系列中承担主要发声任务。 "偶尔" = 偶尔客串。"—" = 不参与。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558165" y="3220402"/>
            <a:ext cx="22809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每周内容节奏规划（示例模板）</a:t>
            </a:r>
          </a:p>
        </p:txBody>
      </p:sp>
      <p:sp>
        <p:nvSpPr>
          <p:cNvPr id="118" name="Rectangle 118"/>
          <p:cNvSpPr/>
          <p:nvPr/>
        </p:nvSpPr>
        <p:spPr>
          <a:xfrm>
            <a:off x="571500" y="3476625"/>
            <a:ext cx="11049000" cy="2857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119" name="TextBox 119"/>
          <p:cNvSpPr txBox="1"/>
          <p:nvPr/>
        </p:nvSpPr>
        <p:spPr>
          <a:xfrm>
            <a:off x="923211" y="3586162"/>
            <a:ext cx="249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周一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2504361" y="3586162"/>
            <a:ext cx="249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周二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4085511" y="3586162"/>
            <a:ext cx="249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周三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5666661" y="3586162"/>
            <a:ext cx="249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周四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7247811" y="3586162"/>
            <a:ext cx="249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周五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8828961" y="3586162"/>
            <a:ext cx="249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周六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10410111" y="3586162"/>
            <a:ext cx="249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周日</a:t>
            </a:r>
          </a:p>
        </p:txBody>
      </p:sp>
      <p:sp>
        <p:nvSpPr>
          <p:cNvPr id="126" name="Rectangle 126"/>
          <p:cNvSpPr/>
          <p:nvPr/>
        </p:nvSpPr>
        <p:spPr>
          <a:xfrm>
            <a:off x="571500" y="3762375"/>
            <a:ext cx="11049000" cy="4572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27" name="TextBox 127"/>
          <p:cNvSpPr txBox="1"/>
          <p:nvPr/>
        </p:nvSpPr>
        <p:spPr>
          <a:xfrm>
            <a:off x="704850" y="3871912"/>
            <a:ext cx="134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早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842010" y="4022884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雾人日报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2423160" y="4022884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雾人日报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4004310" y="4022884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雾人日报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5585460" y="4022884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雾人日报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7166610" y="4022884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雾人日报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8747760" y="4022884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雾人日报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10328910" y="4022884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雾人日报</a:t>
            </a:r>
          </a:p>
        </p:txBody>
      </p:sp>
      <p:sp>
        <p:nvSpPr>
          <p:cNvPr id="135" name="Rectangle 135"/>
          <p:cNvSpPr/>
          <p:nvPr/>
        </p:nvSpPr>
        <p:spPr>
          <a:xfrm>
            <a:off x="571500" y="4219575"/>
            <a:ext cx="11049000" cy="4572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36" name="TextBox 136"/>
          <p:cNvSpPr txBox="1"/>
          <p:nvPr/>
        </p:nvSpPr>
        <p:spPr>
          <a:xfrm>
            <a:off x="704850" y="4329112"/>
            <a:ext cx="134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午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1012067" y="4480084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2423160" y="4480084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刺刺来信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3955018" y="4480084"/>
            <a:ext cx="51006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拼雾星期三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5585460" y="4480084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空罐来信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7166610" y="4480084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情绪速写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8917817" y="4480084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10328910" y="4480084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暖光来信</a:t>
            </a:r>
          </a:p>
        </p:txBody>
      </p:sp>
      <p:sp>
        <p:nvSpPr>
          <p:cNvPr id="144" name="Rectangle 144"/>
          <p:cNvSpPr/>
          <p:nvPr/>
        </p:nvSpPr>
        <p:spPr>
          <a:xfrm>
            <a:off x="571500" y="4676775"/>
            <a:ext cx="11049000" cy="4572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45" name="TextBox 145"/>
          <p:cNvSpPr txBox="1"/>
          <p:nvPr/>
        </p:nvSpPr>
        <p:spPr>
          <a:xfrm>
            <a:off x="704850" y="4786312"/>
            <a:ext cx="134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7BA4B5"/>
                </a:solidFill>
                <a:latin typeface="Arial"/>
                <a:ea typeface="Microsoft YaHei"/>
                <a:cs typeface="Arial"/>
              </a:rPr>
              <a:t>晚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743426" y="4937284"/>
            <a:ext cx="60864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你今天的形状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2593217" y="4937284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4174367" y="4937284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5585460" y="4937284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角色对话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7336667" y="4937284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8649176" y="4937284"/>
            <a:ext cx="60864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根根生长日记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10498967" y="4937284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153" name="Rectangle 153"/>
          <p:cNvSpPr/>
          <p:nvPr/>
        </p:nvSpPr>
        <p:spPr>
          <a:xfrm>
            <a:off x="571500" y="5334000"/>
            <a:ext cx="3524250" cy="714375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154" name="TextBox 154"/>
          <p:cNvSpPr txBox="1"/>
          <p:nvPr/>
        </p:nvSpPr>
        <p:spPr>
          <a:xfrm>
            <a:off x="749618" y="5466874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内容节奏三原则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752475" y="5681662"/>
            <a:ext cx="212764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① 每天至少1条（雾人日报）——保持存在感。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752475" y="5843588"/>
            <a:ext cx="179903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② 每周至少1个角色来信——深度内容。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752475" y="6005512"/>
            <a:ext cx="291631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③ 每周至少1个互动内容（拼雾/你今天的形状）——UGC生成。</a:t>
            </a:r>
          </a:p>
        </p:txBody>
      </p:sp>
      <p:sp>
        <p:nvSpPr>
          <p:cNvPr id="158" name="Rectangle 158"/>
          <p:cNvSpPr/>
          <p:nvPr/>
        </p:nvSpPr>
        <p:spPr>
          <a:xfrm>
            <a:off x="4333875" y="5334000"/>
            <a:ext cx="3524250" cy="7143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59" name="TextBox 159"/>
          <p:cNvSpPr txBox="1"/>
          <p:nvPr/>
        </p:nvSpPr>
        <p:spPr>
          <a:xfrm>
            <a:off x="4511992" y="5466874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内容调性三纪律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4514850" y="5681662"/>
            <a:ext cx="243435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① 所有内容用角色第一人称——"品牌"不直接说话。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4514850" y="5843588"/>
            <a:ext cx="232481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② 不说教、不评价、不给出建议——只说"我在"。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4514850" y="6005512"/>
            <a:ext cx="16566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③ 不追热点——情绪有自己的节奏。</a:t>
            </a:r>
          </a:p>
        </p:txBody>
      </p:sp>
      <p:sp>
        <p:nvSpPr>
          <p:cNvPr id="163" name="Rectangle 163"/>
          <p:cNvSpPr/>
          <p:nvPr/>
        </p:nvSpPr>
        <p:spPr>
          <a:xfrm>
            <a:off x="8096250" y="5334000"/>
            <a:ext cx="3524250" cy="7143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64" name="TextBox 164"/>
          <p:cNvSpPr txBox="1"/>
          <p:nvPr/>
        </p:nvSpPr>
        <p:spPr>
          <a:xfrm>
            <a:off x="8274368" y="5466874"/>
            <a:ext cx="1669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内容储备要求（众筹前）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8277225" y="5681662"/>
            <a:ext cx="198524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① 雾人日报：至少30期储备（一个月量）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8277225" y="5843588"/>
            <a:ext cx="170592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② 角色来信：每个角色至少4封储备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8277225" y="6005512"/>
            <a:ext cx="126777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③ 情绪速写：至少8篇储备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561022" y="6387941"/>
            <a:ext cx="54069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定位一致性：品牌的"70%内容由角色发声"不是空话——矩阵让每个角色有明确的内容任务和时间表。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P58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5811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内容营销：四不原则 x KPI体系——"这我指数"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2301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衡量内容不是"多少赞"——是"多少人觉得'这说的是我'"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00125"/>
            <a:ext cx="5334000" cy="2857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492523" y="1086802"/>
            <a:ext cx="14919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5F0E8"/>
                </a:solidFill>
                <a:latin typeface="Georgia"/>
                <a:ea typeface="KaiTi"/>
                <a:cs typeface="Georgia"/>
              </a:rPr>
              <a:t>四不原则——内容纪律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333500"/>
            <a:ext cx="5334000" cy="7143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333500"/>
            <a:ext cx="533400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9618" y="1494949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一不：不追热点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1522" y="1720691"/>
            <a:ext cx="52261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节日/热搜/社会事件——都不是岛屿来信的发声理由。品牌的节奏是情绪的节奏，不是日历的节奏。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2475" y="1919288"/>
            <a:ext cx="366664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反例："今天是世界睡眠日，雾人也睡了"——不对。雾人不说"世界睡眠日"。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2095500"/>
            <a:ext cx="5334000" cy="7143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571500" y="2095500"/>
            <a:ext cx="533400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49618" y="225694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二不：不说教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522" y="2482691"/>
            <a:ext cx="58647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"你要学会爱自己""情绪管理很重要""积极面对每一天"——这些话不是陪伴，是说教。角色永远不说"你应该"。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2475" y="2681288"/>
            <a:ext cx="321754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正例："今天不想说话。就坐这儿陪你。"——没有建议，只有存在。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2857500"/>
            <a:ext cx="5334000" cy="7143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71500" y="2857500"/>
            <a:ext cx="5334000" cy="38100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49618" y="301894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三不：不抽奖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1522" y="3244691"/>
            <a:ext cx="620215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转发抽奖/集赞送礼/关注有礼——是用利益交换注意力。岛屿来信的分享动机应该只有一种：用户觉得"它说的是我"。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2475" y="3443288"/>
            <a:ext cx="37871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替代方案：用户UGC精选→角色回信→形成"我写了信→收到了回信"的正向循环。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71500" y="3619500"/>
            <a:ext cx="5334000" cy="7143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571500" y="3619500"/>
            <a:ext cx="5334000" cy="38100"/>
          </a:xfrm>
          <a:prstGeom prst="rect">
            <a:avLst/>
          </a:prstGeom>
          <a:solidFill>
            <a:srgbClr val="B8845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49618" y="3780949"/>
            <a:ext cx="13853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四不：不"品牌说话"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1522" y="4006691"/>
            <a:ext cx="57864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品牌号不发"品牌新闻"——新产品/公司动态只在"品牌公告"渠道发布。日常内容永远从角色的第一人称出发。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52475" y="4205288"/>
            <a:ext cx="408289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品牌说话的场景仅限：产品发布、价值观声明、年度来信。这三个之外——交给角色。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096000" y="1000125"/>
            <a:ext cx="5524500" cy="2857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460142" y="1086802"/>
            <a:ext cx="27962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5F0E8"/>
                </a:solidFill>
                <a:latin typeface="Georgia"/>
                <a:ea typeface="KaiTi"/>
                <a:cs typeface="Georgia"/>
              </a:rPr>
              <a:t>"这我指数" KPI 体系——替代传统赞评比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096000" y="1333500"/>
            <a:ext cx="5524500" cy="1524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275070" y="1503045"/>
            <a:ext cx="27279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核心指标：这我指数（"This Is Me" Index）</a:t>
            </a:r>
          </a:p>
        </p:txBody>
      </p:sp>
      <p:sp>
        <p:nvSpPr>
          <p:cNvPr id="32" name="Line 32"/>
          <p:cNvSpPr/>
          <p:nvPr/>
        </p:nvSpPr>
        <p:spPr>
          <a:xfrm>
            <a:off x="6286500" y="169545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276022" y="1834991"/>
            <a:ext cx="47683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定义：内容下用户回复包含"这说的是我""我也是""我懂了""替我说了"等认同表达的比例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276022" y="2063591"/>
            <a:ext cx="3948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计算公式：这我指数 = （含"我也是"类回复数）/（总互动用户数）× 100%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276022" y="2292191"/>
            <a:ext cx="28103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目标值：&gt;15%（行业内容类平均认同表达率约3-5%）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276022" y="2520791"/>
            <a:ext cx="45092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为什么不用"赞"？赞="看到了"。这我="被说中了"。后者是品牌关系的真正深度。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096000" y="2952750"/>
            <a:ext cx="2667000" cy="10001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275070" y="3122295"/>
            <a:ext cx="1541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传统指标（保留但降权）</a:t>
            </a:r>
          </a:p>
        </p:txBody>
      </p:sp>
      <p:sp>
        <p:nvSpPr>
          <p:cNvPr id="39" name="Line 39"/>
          <p:cNvSpPr/>
          <p:nvPr/>
        </p:nvSpPr>
        <p:spPr>
          <a:xfrm>
            <a:off x="6286500" y="331470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6276975" y="3443288"/>
            <a:ext cx="12075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阅读量：仅作曝光参考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276975" y="3614738"/>
            <a:ext cx="10322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点赞量：不作为KPI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276975" y="3786188"/>
            <a:ext cx="154709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评论量：仅统计"这我"类评论</a:t>
            </a:r>
          </a:p>
        </p:txBody>
      </p:sp>
      <p:sp>
        <p:nvSpPr>
          <p:cNvPr id="43" name="Rectangle 43"/>
          <p:cNvSpPr/>
          <p:nvPr/>
        </p:nvSpPr>
        <p:spPr>
          <a:xfrm>
            <a:off x="8953500" y="2952750"/>
            <a:ext cx="2667000" cy="10001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9132570" y="3122295"/>
            <a:ext cx="13202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新增指标（核心KPI）</a:t>
            </a:r>
          </a:p>
        </p:txBody>
      </p:sp>
      <p:sp>
        <p:nvSpPr>
          <p:cNvPr id="45" name="Line 45"/>
          <p:cNvSpPr/>
          <p:nvPr/>
        </p:nvSpPr>
        <p:spPr>
          <a:xfrm>
            <a:off x="9144000" y="331470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9134475" y="3443288"/>
            <a:ext cx="12568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· "这我指数"——目标 &gt;15%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134475" y="3614738"/>
            <a:ext cx="12732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· 沉默留存率——目标 &gt;60%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134475" y="3786188"/>
            <a:ext cx="121300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· 自然转发率——目标 &gt;8%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096000" y="4048125"/>
            <a:ext cx="5524500" cy="952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275070" y="4208145"/>
            <a:ext cx="14582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各内容系列的差异化KPI</a:t>
            </a:r>
          </a:p>
        </p:txBody>
      </p:sp>
      <p:sp>
        <p:nvSpPr>
          <p:cNvPr id="51" name="Line 51"/>
          <p:cNvSpPr/>
          <p:nvPr/>
        </p:nvSpPr>
        <p:spPr>
          <a:xfrm>
            <a:off x="6286500" y="440055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6276975" y="4529138"/>
            <a:ext cx="37488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雾人日报：打开率 &gt;40% | 角色来信：这我指数 &gt;20% | 情绪速写：收藏率 &gt;12%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276975" y="4700588"/>
            <a:ext cx="45867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角色对话：自然转发率 &gt;10% | "你今天的形状"：UGC参与率 &gt;5% | 拼雾星期三：作品提交率 &gt;3%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276975" y="4872038"/>
            <a:ext cx="291631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幕后/手记：深度阅读完成率 &gt;60% | 品牌公告：触达率 &gt;80%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71500" y="4572000"/>
            <a:ext cx="5334000" cy="952500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748665" y="4725352"/>
            <a:ext cx="9444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KPI 复盘节奏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51522" y="5006816"/>
            <a:ext cx="476228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日级：雾人日报打开率（不优化，只记录——因为日报内容不允许为KPI优化而改变调性）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51522" y="5225891"/>
            <a:ext cx="47261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周级：这我指数周报——哪篇内容"这我"比例最高？为什么？（用于下周内容方向调整）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51522" y="5444966"/>
            <a:ext cx="32922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月级：沉默留存率 + 自然转发率趋势 + 内容系列完整度自检</a:t>
            </a:r>
          </a:p>
        </p:txBody>
      </p:sp>
      <p:sp>
        <p:nvSpPr>
          <p:cNvPr id="60" name="Rectangle 60"/>
          <p:cNvSpPr/>
          <p:nvPr/>
        </p:nvSpPr>
        <p:spPr>
          <a:xfrm>
            <a:off x="6096000" y="5143500"/>
            <a:ext cx="5524500" cy="6191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273165" y="5296852"/>
            <a:ext cx="17817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KPI 哲学——三个"不衡量"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276022" y="5549741"/>
            <a:ext cx="42562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① 不衡量"粉丝增长"——只衡量"关系深度"。100个"这我"比10000个点赞有价值。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276022" y="5740241"/>
            <a:ext cx="485867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② 不衡量"日均时长"——只衡量"回来的那天说了什么"。沉默不是流失，是信任的一种形式。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61022" y="5959316"/>
            <a:ext cx="611178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定位一致性：品牌承诺"克制的陪伴"——KPI体系证明了"克制"是可以衡量的。不是不关心数据，是关心对的数据。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61022" y="6197441"/>
            <a:ext cx="55936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"四不原则"不是自我设限——是品牌识别系统在内容领域的落地。每一条"不"都在强化"岛屿来信是谁"。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P59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2016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社群建设：情绪群岛居民社区——三层架构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24283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不是"建个微信群"——是"建一个情绪群岛"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Ellipse 6"/>
          <p:cNvSpPr/>
          <p:nvPr/>
        </p:nvSpPr>
        <p:spPr>
          <a:xfrm>
            <a:off x="3190875" y="1476375"/>
            <a:ext cx="4286250" cy="4286250"/>
          </a:xfrm>
          <a:prstGeom prst="ellipse">
            <a:avLst/>
          </a:prstGeom>
          <a:solidFill>
            <a:srgbClr val="EDE8E0"/>
          </a:solidFill>
          <a:ln w="4762">
            <a:solidFill>
              <a:srgbClr val="D5D0C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115544" y="1503045"/>
            <a:ext cx="4369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公海层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50631" y="1681162"/>
            <a:ext cx="56673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话题参与者</a:t>
            </a:r>
          </a:p>
        </p:txBody>
      </p:sp>
      <p:sp>
        <p:nvSpPr>
          <p:cNvPr id="9" name="Ellipse 9"/>
          <p:cNvSpPr/>
          <p:nvPr/>
        </p:nvSpPr>
        <p:spPr>
          <a:xfrm>
            <a:off x="3857625" y="2143125"/>
            <a:ext cx="2952750" cy="2952750"/>
          </a:xfrm>
          <a:prstGeom prst="ellipse">
            <a:avLst/>
          </a:prstGeom>
          <a:solidFill>
            <a:srgbClr val="EDE8E0"/>
          </a:solidFill>
          <a:ln w="9525">
            <a:solidFill>
              <a:srgbClr val="8B9D8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5046535" y="216979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岛屿访客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05400" y="2347912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内容读者</a:t>
            </a:r>
          </a:p>
        </p:txBody>
      </p:sp>
      <p:sp>
        <p:nvSpPr>
          <p:cNvPr id="12" name="Ellipse 12"/>
          <p:cNvSpPr/>
          <p:nvPr/>
        </p:nvSpPr>
        <p:spPr>
          <a:xfrm>
            <a:off x="4524375" y="2809875"/>
            <a:ext cx="1619250" cy="1619250"/>
          </a:xfrm>
          <a:prstGeom prst="ellipse">
            <a:avLst/>
          </a:prstGeom>
          <a:solidFill>
            <a:srgbClr val="3C3C5C">
              <a:alpha val="6000"/>
            </a:srgbClr>
          </a:solidFill>
          <a:ln w="14288">
            <a:solidFill>
              <a:srgbClr val="3C3C5C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4950714" y="33756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群岛居民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65740" y="3652838"/>
            <a:ext cx="73652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已购+深度参与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715250" y="1000125"/>
            <a:ext cx="3905250" cy="16668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7715250" y="1000125"/>
            <a:ext cx="3905250" cy="3810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890510" y="1184910"/>
            <a:ext cx="15026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内核层：群岛居民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95272" y="1453991"/>
            <a:ext cx="15692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进入门槛：已购买任意角色 +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95272" y="1625441"/>
            <a:ext cx="1665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完成"居民登记"（给角色起名+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95272" y="1796891"/>
            <a:ext cx="14909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写一句"今天我是xx形状"）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96225" y="2062162"/>
            <a:ext cx="1662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权益：专属雾人日报（比公域更深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96225" y="2233612"/>
            <a:ext cx="141017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入）/ 拼雾星期三优先参与 /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896225" y="2405062"/>
            <a:ext cx="156900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角色回信优先回复 / 新角色内测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896225" y="2595562"/>
            <a:ext cx="110894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目标规模：首年 500人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715250" y="2809875"/>
            <a:ext cx="3905250" cy="14763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7715250" y="2809875"/>
            <a:ext cx="390525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890510" y="2994660"/>
            <a:ext cx="15026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中间层：岛屿访客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895272" y="3263741"/>
            <a:ext cx="17741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进入门槛：关注岛屿来信公众号/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895272" y="3435191"/>
            <a:ext cx="18765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小红书角色号，持续阅读内容 &gt;2周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896225" y="3700462"/>
            <a:ext cx="16456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权益：雾人日报（公域版）/ 角色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896225" y="3871912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来信公开版 / 偶尔的互动邀请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896225" y="4090988"/>
            <a:ext cx="122943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目标规模：首年 5,000人</a:t>
            </a:r>
          </a:p>
        </p:txBody>
      </p:sp>
      <p:sp>
        <p:nvSpPr>
          <p:cNvPr id="33" name="Rectangle 33"/>
          <p:cNvSpPr/>
          <p:nvPr/>
        </p:nvSpPr>
        <p:spPr>
          <a:xfrm>
            <a:off x="7715250" y="4429125"/>
            <a:ext cx="3905250" cy="1143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7715250" y="4429125"/>
            <a:ext cx="390525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890510" y="4613910"/>
            <a:ext cx="22663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外圈：公海层 - 话题参与者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895272" y="4882991"/>
            <a:ext cx="17741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进入门槛：在小红书/微博参与过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895272" y="5054441"/>
            <a:ext cx="14788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"你今天的形状"或相关话题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896225" y="5300662"/>
            <a:ext cx="19085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权益：话题参与感 / 被角色"翻牌"机会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896225" y="5472112"/>
            <a:ext cx="128968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目标规模：首年 50,000人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5715000"/>
            <a:ext cx="11049000" cy="476250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48665" y="5839778"/>
            <a:ext cx="32953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三层之间的流动机制——不是"漏斗"，是"洋流"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1522" y="6083141"/>
            <a:ext cx="82746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公海→访客：某天被一篇雾人日报触动，点了关注 → 访客→居民：买了一只雾人，收到第一封信 → 居民→访客（反向）：用户几周没互动但没取关=沉默留存。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61022" y="6387941"/>
            <a:ext cx="61961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定位一致性：品牌承诺"克制的陪伴"——社区不是"越多人越好"，是"越深越好"。不追求公海规模，追求居民深度。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P60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2361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社群建设：四个核心仪式 x 运营"慢"哲学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3878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不是"活跃度"——是"仪式感"。不是"快增长"——是"慢沉淀"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2571750" cy="2000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047750"/>
            <a:ext cx="257175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1206818"/>
            <a:ext cx="96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B7B8E"/>
                </a:solidFill>
                <a:latin typeface="Georgia"/>
                <a:ea typeface="KaiTi"/>
                <a:cs typeface="Georgia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6760" y="14706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雾人日报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2475" y="1728788"/>
            <a:ext cx="56673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频率：每天</a:t>
            </a:r>
          </a:p>
        </p:txBody>
      </p:sp>
      <p:sp>
        <p:nvSpPr>
          <p:cNvPr id="11" name="Line 11"/>
          <p:cNvSpPr/>
          <p:nvPr/>
        </p:nvSpPr>
        <p:spPr>
          <a:xfrm>
            <a:off x="762000" y="1905000"/>
            <a:ext cx="2190750" cy="9525"/>
          </a:xfrm>
          <a:custGeom>
            <a:avLst/>
            <a:gdLst/>
            <a:ahLst/>
            <a:cxnLst/>
            <a:rect l="l" t="t" r="r" b="b"/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751522" y="2006441"/>
            <a:ext cx="17198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每天早上，雾人发一条"日报"。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1522" y="2215991"/>
            <a:ext cx="17198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不是新闻——是雾人今天的心情。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1522" y="2425541"/>
            <a:ext cx="1840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"今天不想说话。就坐这儿陪你。"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2475" y="2738438"/>
            <a:ext cx="175521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最轻量的陪伴。用户不需要回应。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2475" y="2947988"/>
            <a:ext cx="18921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居民版比公域版更深——有时只有一句。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3333750" y="1047750"/>
            <a:ext cx="2571750" cy="2000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3333750" y="1047750"/>
            <a:ext cx="257175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3507105" y="120681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509010" y="147066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来信日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14725" y="1728788"/>
            <a:ext cx="17826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频率：每周（周二/周四/周日轮换）</a:t>
            </a:r>
          </a:p>
        </p:txBody>
      </p:sp>
      <p:sp>
        <p:nvSpPr>
          <p:cNvPr id="22" name="Line 22"/>
          <p:cNvSpPr/>
          <p:nvPr/>
        </p:nvSpPr>
        <p:spPr>
          <a:xfrm>
            <a:off x="3524250" y="1905000"/>
            <a:ext cx="2190750" cy="9525"/>
          </a:xfrm>
          <a:custGeom>
            <a:avLst/>
            <a:gdLst/>
            <a:ahLst/>
            <a:cxnLst/>
            <a:rect l="l" t="t" r="r" b="b"/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3513772" y="2006441"/>
            <a:ext cx="17078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每周一位角色写一封完整的信。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513772" y="2215991"/>
            <a:ext cx="18283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刺刺的信更锋利，暖光的信更暖。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513772" y="2425541"/>
            <a:ext cx="13584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居民可以在信下"回信"。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514725" y="2738438"/>
            <a:ext cx="16566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深度连接。不是内容——是对话。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514725" y="2947988"/>
            <a:ext cx="17935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角色会择取回信——"收到你的信了"。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096000" y="1047750"/>
            <a:ext cx="2571750" cy="2000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6096000" y="1047750"/>
            <a:ext cx="2571750" cy="38100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269355" y="120681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BA4B5"/>
                </a:solidFill>
                <a:latin typeface="Georgia"/>
                <a:ea typeface="KaiTi"/>
                <a:cs typeface="Georgia"/>
              </a:rPr>
              <a:t>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271260" y="147066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拼雾星期三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276975" y="1728788"/>
            <a:ext cx="6762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频率：每周三</a:t>
            </a:r>
          </a:p>
        </p:txBody>
      </p:sp>
      <p:sp>
        <p:nvSpPr>
          <p:cNvPr id="33" name="Line 33"/>
          <p:cNvSpPr/>
          <p:nvPr/>
        </p:nvSpPr>
        <p:spPr>
          <a:xfrm>
            <a:off x="6286500" y="1905000"/>
            <a:ext cx="2190750" cy="9525"/>
          </a:xfrm>
          <a:custGeom>
            <a:avLst/>
            <a:gdLst/>
            <a:ahLst/>
            <a:cxnLst/>
            <a:rect l="l" t="t" r="r" b="b"/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6276022" y="2006441"/>
            <a:ext cx="16114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发布一个"本周主题"——居民用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276022" y="2215991"/>
            <a:ext cx="15993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碎片雾组件创作自己的"雾"。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276022" y="2425541"/>
            <a:ext cx="16536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作品被选中→进入官方组件库。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276975" y="2738438"/>
            <a:ext cx="17771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共创=社群粘性。"我的雾"=归属。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276975" y="2947988"/>
            <a:ext cx="166758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IKEA效应最大化——用户参与创造。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858250" y="1047750"/>
            <a:ext cx="2762250" cy="2000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8858250" y="1047750"/>
            <a:ext cx="2762250" cy="38100"/>
          </a:xfrm>
          <a:prstGeom prst="rect">
            <a:avLst/>
          </a:prstGeom>
          <a:solidFill>
            <a:srgbClr val="B8845A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031605" y="120681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B8845A"/>
                </a:solidFill>
                <a:latin typeface="Georgia"/>
                <a:ea typeface="KaiTi"/>
                <a:cs typeface="Georgia"/>
              </a:rPr>
              <a:t>4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33510" y="147066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你今天的形状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039225" y="1728788"/>
            <a:ext cx="6762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频率：每周一</a:t>
            </a:r>
          </a:p>
        </p:txBody>
      </p:sp>
      <p:sp>
        <p:nvSpPr>
          <p:cNvPr id="44" name="Line 44"/>
          <p:cNvSpPr/>
          <p:nvPr/>
        </p:nvSpPr>
        <p:spPr>
          <a:xfrm>
            <a:off x="9048750" y="1905000"/>
            <a:ext cx="2381250" cy="9525"/>
          </a:xfrm>
          <a:custGeom>
            <a:avLst/>
            <a:gdLst/>
            <a:ahLst/>
            <a:cxnLst/>
            <a:rect l="l" t="t" r="r" b="b"/>
            <a:pathLst>
              <a:path w="2381250" h="952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9038272" y="2006441"/>
            <a:ext cx="154516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一个开放式问题——"你今天是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038272" y="2215991"/>
            <a:ext cx="15993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什么形状？"用户用文字/图片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038272" y="2425541"/>
            <a:ext cx="17198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回答。精选放入每周"形状集"。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039225" y="2738438"/>
            <a:ext cx="170592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公海话题→吸引新用户。低门槛。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039225" y="2947988"/>
            <a:ext cx="122396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情绪词汇库的重要来源。</a:t>
            </a:r>
          </a:p>
        </p:txBody>
      </p:sp>
      <p:sp>
        <p:nvSpPr>
          <p:cNvPr id="50" name="Rectangle 50"/>
          <p:cNvSpPr/>
          <p:nvPr/>
        </p:nvSpPr>
        <p:spPr>
          <a:xfrm>
            <a:off x="571500" y="3286125"/>
            <a:ext cx="11049000" cy="2857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4520770" y="3372802"/>
            <a:ext cx="31504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5F0E8"/>
                </a:solidFill>
                <a:latin typeface="Georgia"/>
                <a:ea typeface="KaiTi"/>
                <a:cs typeface="Georgia"/>
              </a:rPr>
              <a:t>运营"慢"哲学——不是"快增长"，是"慢沉淀"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3667125"/>
            <a:ext cx="2143125" cy="1047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571500" y="3667125"/>
            <a:ext cx="2143125" cy="28575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02945" y="3827145"/>
            <a:ext cx="16100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原则一：不设"活跃度"KPI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04850" y="4071938"/>
            <a:ext cx="15525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用户不需要每天来。来的时候有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04850" y="4243388"/>
            <a:ext cx="146494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东西在等他们——比"每天打卡"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04850" y="4414838"/>
            <a:ext cx="122396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更符合情感陪伴的本质。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05802" y="4613434"/>
            <a:ext cx="129873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衡量：回来的那天说了什么。</a:t>
            </a:r>
          </a:p>
        </p:txBody>
      </p:sp>
      <p:sp>
        <p:nvSpPr>
          <p:cNvPr id="59" name="Rectangle 59"/>
          <p:cNvSpPr/>
          <p:nvPr/>
        </p:nvSpPr>
        <p:spPr>
          <a:xfrm>
            <a:off x="2809875" y="3667125"/>
            <a:ext cx="2143125" cy="1047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2809875" y="3667125"/>
            <a:ext cx="2143125" cy="28575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2941320" y="3827145"/>
            <a:ext cx="1541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原则二：不拉人、不群发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943225" y="4071938"/>
            <a:ext cx="140469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没有"邀请有礼"、没有"拉三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943225" y="4243388"/>
            <a:ext cx="150328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个朋友入群送雾人贴纸"。社群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943225" y="4414838"/>
            <a:ext cx="10048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增长只靠自然吸引。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944178" y="4613434"/>
            <a:ext cx="159448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衡量：自然入群率（非活动驱动）。</a:t>
            </a:r>
          </a:p>
        </p:txBody>
      </p:sp>
      <p:sp>
        <p:nvSpPr>
          <p:cNvPr id="66" name="Rectangle 66"/>
          <p:cNvSpPr/>
          <p:nvPr/>
        </p:nvSpPr>
        <p:spPr>
          <a:xfrm>
            <a:off x="5048250" y="3667125"/>
            <a:ext cx="2143125" cy="1047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67" name="Rectangle 67"/>
          <p:cNvSpPr/>
          <p:nvPr/>
        </p:nvSpPr>
        <p:spPr>
          <a:xfrm>
            <a:off x="5048250" y="3667125"/>
            <a:ext cx="2143125" cy="28575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5179695" y="3827145"/>
            <a:ext cx="12650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原则三：不制造焦虑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181600" y="4071938"/>
            <a:ext cx="140469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"你已经3天没看雾人日报了"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181600" y="4243388"/>
            <a:ext cx="156352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——这种提醒永远不会出现。沉默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181600" y="4414838"/>
            <a:ext cx="15525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不是问题，是关系的自然节奏。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182552" y="4613434"/>
            <a:ext cx="160434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回来的首条消息："嘿，你回来了"。</a:t>
            </a:r>
          </a:p>
        </p:txBody>
      </p:sp>
      <p:sp>
        <p:nvSpPr>
          <p:cNvPr id="73" name="Rectangle 73"/>
          <p:cNvSpPr/>
          <p:nvPr/>
        </p:nvSpPr>
        <p:spPr>
          <a:xfrm>
            <a:off x="7286625" y="3667125"/>
            <a:ext cx="2143125" cy="1047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4" name="Rectangle 74"/>
          <p:cNvSpPr/>
          <p:nvPr/>
        </p:nvSpPr>
        <p:spPr>
          <a:xfrm>
            <a:off x="7286625" y="3667125"/>
            <a:ext cx="2143125" cy="28575"/>
          </a:xfrm>
          <a:prstGeom prst="rect">
            <a:avLst/>
          </a:prstGeom>
          <a:solidFill>
            <a:srgbClr val="B8845A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7418070" y="3827145"/>
            <a:ext cx="16928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原则四：管理员不是"客服"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419975" y="4071938"/>
            <a:ext cx="161282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社群管理员不是"亲，有什么可以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7419975" y="4243388"/>
            <a:ext cx="152519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帮您"——而是角色的"代笔人"。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419975" y="4414838"/>
            <a:ext cx="1333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回复用户时用角色的语气。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7420928" y="4613434"/>
            <a:ext cx="160434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衡量：用户是否感受到"角色在回"。</a:t>
            </a:r>
          </a:p>
        </p:txBody>
      </p:sp>
      <p:sp>
        <p:nvSpPr>
          <p:cNvPr id="80" name="Rectangle 80"/>
          <p:cNvSpPr/>
          <p:nvPr/>
        </p:nvSpPr>
        <p:spPr>
          <a:xfrm>
            <a:off x="9525000" y="3667125"/>
            <a:ext cx="2095500" cy="1047750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81" name="Rectangle 81"/>
          <p:cNvSpPr/>
          <p:nvPr/>
        </p:nvSpPr>
        <p:spPr>
          <a:xfrm>
            <a:off x="9525000" y="3667125"/>
            <a:ext cx="2095500" cy="28575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82" name="TextBox 82"/>
          <p:cNvSpPr txBox="1"/>
          <p:nvPr/>
        </p:nvSpPr>
        <p:spPr>
          <a:xfrm>
            <a:off x="9656445" y="3827145"/>
            <a:ext cx="12857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原则五：仪式 &gt; 规模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9658350" y="4071938"/>
            <a:ext cx="12349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宁可只有50个深度居民，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9658350" y="4243388"/>
            <a:ext cx="11363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也不要5000个潜水者。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9658350" y="4414838"/>
            <a:ext cx="122396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每个居民都应该觉得自己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9658350" y="4586288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被看见。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4953000"/>
            <a:ext cx="5334000" cy="857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748665" y="5106352"/>
            <a:ext cx="22326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传统社群运营 vs 岛屿来信社群</a:t>
            </a:r>
          </a:p>
        </p:txBody>
      </p:sp>
      <p:sp>
        <p:nvSpPr>
          <p:cNvPr id="89" name="Line 89"/>
          <p:cNvSpPr/>
          <p:nvPr/>
        </p:nvSpPr>
        <p:spPr>
          <a:xfrm>
            <a:off x="762000" y="531495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752475" y="5462588"/>
            <a:ext cx="307514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传统：追求活跃度/群人数/消息量/转化率 → 群变成"流量池"。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752475" y="5653088"/>
            <a:ext cx="46086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岛屿：追求仪式感/关系深度/沉默留存/自然转化 → 群是"群岛"，每个人是一座岛，但不孤独。</a:t>
            </a:r>
          </a:p>
        </p:txBody>
      </p:sp>
      <p:sp>
        <p:nvSpPr>
          <p:cNvPr id="92" name="Rectangle 92"/>
          <p:cNvSpPr/>
          <p:nvPr/>
        </p:nvSpPr>
        <p:spPr>
          <a:xfrm>
            <a:off x="6096000" y="4953000"/>
            <a:ext cx="5524500" cy="857250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93" name="TextBox 93"/>
          <p:cNvSpPr txBox="1"/>
          <p:nvPr/>
        </p:nvSpPr>
        <p:spPr>
          <a:xfrm>
            <a:off x="6273165" y="5106352"/>
            <a:ext cx="26110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案例验证：Lululemon 社群"慢运营"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6276022" y="5387816"/>
            <a:ext cx="47984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Lululemon 的大使项目从不安置KPI——大使不是"带货主播"，是"社区瑜伽老师"。结果是：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6276022" y="5606891"/>
            <a:ext cx="48104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大使所在社区的复购率比非大使社区高40%。"慢"的社群运营带来的商业回报反而更持久。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61022" y="6197441"/>
            <a:ext cx="72926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定位一致性：运营"慢"哲学是"克制的陪伴"在社群维度的落地——不催促、不打扰、不把用户当流量。四个仪式不是"活动"，是"节奏"。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1457622" y="6681788"/>
            <a:ext cx="1724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P61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573131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渠道策略：四阶段演进——众筹→直营→精选零售→自有邮局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74275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不是"全渠道铺开"——是"一个一个渠道来，每个渠道都像一封信"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Line 6"/>
          <p:cNvSpPr/>
          <p:nvPr/>
        </p:nvSpPr>
        <p:spPr>
          <a:xfrm>
            <a:off x="1333500" y="1143000"/>
            <a:ext cx="9525" cy="4476750"/>
          </a:xfrm>
          <a:custGeom>
            <a:avLst/>
            <a:gdLst/>
            <a:ahLst/>
            <a:cxnLst/>
            <a:rect l="l" t="t" r="r" b="b"/>
            <a:pathLst>
              <a:path w="9525" h="4476750">
                <a:moveTo>
                  <a:pt x="0" y="0"/>
                </a:moveTo>
                <a:lnTo>
                  <a:pt x="0" y="4476750"/>
                </a:lnTo>
              </a:path>
            </a:pathLst>
          </a:custGeom>
          <a:noFill/>
          <a:ln w="19050">
            <a:solidFill>
              <a:srgbClr val="D5D0C8"/>
            </a:solidFill>
          </a:ln>
        </p:spPr>
      </p:sp>
      <p:sp>
        <p:nvSpPr>
          <p:cNvPr id="7" name="Ellipse 7"/>
          <p:cNvSpPr/>
          <p:nvPr/>
        </p:nvSpPr>
        <p:spPr>
          <a:xfrm>
            <a:off x="1219200" y="1362075"/>
            <a:ext cx="228600" cy="228600"/>
          </a:xfrm>
          <a:prstGeom prst="ellipse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1285875" y="1428750"/>
            <a:ext cx="95250" cy="95250"/>
          </a:xfrm>
          <a:prstGeom prst="ellipse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37618" y="1260634"/>
            <a:ext cx="39176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Q4 2026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714500" y="1143000"/>
            <a:ext cx="9906000" cy="762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1714500" y="1143000"/>
            <a:ext cx="990600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887855" y="1263968"/>
            <a:ext cx="17319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B7B8E"/>
                </a:solidFill>
                <a:latin typeface="Georgia"/>
                <a:ea typeface="KaiTi"/>
                <a:cs typeface="Georgia"/>
              </a:rPr>
              <a:t>Stage 1: 众筹验证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99522" y="1320641"/>
            <a:ext cx="10270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Q4 2026 · 1-2个月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4522" y="1549241"/>
            <a:ext cx="35754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平台：摩点网（国内）+ Kickstarter（海外）= 唯一的销售渠道。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95475" y="1747838"/>
            <a:ext cx="495371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核心任务：验证产品力（有没有人愿意付69元）+ 积累第一批用户（众筹支持者=天然的品牌共建者）+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95475" y="1900238"/>
            <a:ext cx="55014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积累内容资产（众筹故事/用户证言/开箱UGC）。为什么不是淘宝？众筹="支持一个想法"，淘宝="买一个产品"。</a:t>
            </a:r>
          </a:p>
        </p:txBody>
      </p:sp>
      <p:sp>
        <p:nvSpPr>
          <p:cNvPr id="17" name="Ellipse 17"/>
          <p:cNvSpPr/>
          <p:nvPr/>
        </p:nvSpPr>
        <p:spPr>
          <a:xfrm>
            <a:off x="1219200" y="2362200"/>
            <a:ext cx="228600" cy="228600"/>
          </a:xfrm>
          <a:prstGeom prst="ellipse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1285875" y="2428875"/>
            <a:ext cx="95250" cy="95250"/>
          </a:xfrm>
          <a:prstGeom prst="ellipse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49941" y="2260759"/>
            <a:ext cx="36711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Q1 2027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714500" y="2143125"/>
            <a:ext cx="9906000" cy="762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1714500" y="2143125"/>
            <a:ext cx="990600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887855" y="2264092"/>
            <a:ext cx="17836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Stage 2: 直营私域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99522" y="2320766"/>
            <a:ext cx="8282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Q1 2027 · 持续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94522" y="2549366"/>
            <a:ext cx="46056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平台：微信小程序商城 = 核心交易平台 | 公众号+小红书 = 内容引流 → 小程序 = 转化。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95475" y="2747962"/>
            <a:ext cx="590669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核心任务：建立直营交易闭环+用户数据资产积累+内容→交易的完整链路。为什么是微信小程序？不抽佣、可定制"信封式"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95475" y="2900362"/>
            <a:ext cx="425267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购买体验、私域用户可触达。淘宝/京东的标准化模板无法承载"一封信"的购买仪式感。</a:t>
            </a:r>
          </a:p>
        </p:txBody>
      </p:sp>
      <p:sp>
        <p:nvSpPr>
          <p:cNvPr id="27" name="Ellipse 27"/>
          <p:cNvSpPr/>
          <p:nvPr/>
        </p:nvSpPr>
        <p:spPr>
          <a:xfrm>
            <a:off x="1219200" y="3505200"/>
            <a:ext cx="228600" cy="228600"/>
          </a:xfrm>
          <a:prstGeom prst="ellipse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1285875" y="3571875"/>
            <a:ext cx="95250" cy="95250"/>
          </a:xfrm>
          <a:prstGeom prst="ellipse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58751" y="3403759"/>
            <a:ext cx="54949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A4B5"/>
                </a:solidFill>
                <a:latin typeface="Arial"/>
                <a:ea typeface="Microsoft YaHei"/>
                <a:cs typeface="Arial"/>
              </a:rPr>
              <a:t>Q1-Q2 2027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714500" y="3286125"/>
            <a:ext cx="9906000" cy="762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1714500" y="3286125"/>
            <a:ext cx="9906000" cy="38100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887855" y="3407092"/>
            <a:ext cx="21977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BA4B5"/>
                </a:solidFill>
                <a:latin typeface="Georgia"/>
                <a:ea typeface="KaiTi"/>
                <a:cs typeface="Georgia"/>
              </a:rPr>
              <a:t>Stage 3: 精选零售破圈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799522" y="3463766"/>
            <a:ext cx="10511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Q1-Q2 2027 · 持续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94522" y="3692366"/>
            <a:ext cx="451527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渠道：书店+买手店+生活方式集合店。不在玩具店卖——在可以"坐一会儿"的地方卖。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95475" y="3890962"/>
            <a:ext cx="483322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核心任务：场景破圈（让非小红书/公众号用户接触品牌）+ 品牌背书（精选渠道=品牌调性信号）。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895475" y="4043362"/>
            <a:ext cx="544115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为什么不是泡泡玛特门店？泡泡玛特=潮玩="抽盒"=随机快感。岛屿来信=情感陪伴="知道自己买什么"=确定性。</a:t>
            </a:r>
          </a:p>
        </p:txBody>
      </p:sp>
      <p:sp>
        <p:nvSpPr>
          <p:cNvPr id="37" name="Ellipse 37"/>
          <p:cNvSpPr/>
          <p:nvPr/>
        </p:nvSpPr>
        <p:spPr>
          <a:xfrm>
            <a:off x="1219200" y="4695825"/>
            <a:ext cx="228600" cy="228600"/>
          </a:xfrm>
          <a:prstGeom prst="ellipse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1285875" y="4762500"/>
            <a:ext cx="95250" cy="95250"/>
          </a:xfrm>
          <a:prstGeom prst="ellipse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080933" y="4594384"/>
            <a:ext cx="50513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2027-2028</a:t>
            </a:r>
          </a:p>
        </p:txBody>
      </p:sp>
      <p:sp>
        <p:nvSpPr>
          <p:cNvPr id="40" name="Rectangle 40"/>
          <p:cNvSpPr/>
          <p:nvPr/>
        </p:nvSpPr>
        <p:spPr>
          <a:xfrm>
            <a:off x="1714500" y="4476750"/>
            <a:ext cx="9906000" cy="762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1714500" y="4476750"/>
            <a:ext cx="9906000" cy="3810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887855" y="4597718"/>
            <a:ext cx="32535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Stage 4: 自有邮局——品牌体验空间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799522" y="4654391"/>
            <a:ext cx="9969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2027-2028 · 首店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894522" y="4882991"/>
            <a:ext cx="54370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形态：不是"门店"——是"岛屿邮局"。用户可以：买角色/寄一封信给朋友/写一封信给角色/坐一会儿。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895475" y="5081588"/>
            <a:ext cx="520017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首店选址逻辑：不是流量最大的位置——是"最适合收到一封信"的位置。可能是上海武康路/愚园路/安福路。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895475" y="5233988"/>
            <a:ext cx="454294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不是"扩张"逻辑——是"一个有邮局的城市就有一个情绪群岛"逻辑。首店成功后再考虑第二城。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" y="5476875"/>
            <a:ext cx="11049000" cy="590550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748665" y="5601652"/>
            <a:ext cx="47445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每个阶段的"进入信号"——不是按时间表推进，是"条件满足才进入"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51522" y="5864066"/>
            <a:ext cx="47683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Stage 1→2 信号：众筹达到目标150%以上 + 至少100条真实用户开箱分享 → 进入直营私域。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51522" y="6025991"/>
            <a:ext cx="57021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Stage 2→3 信号：小程序月销稳定&gt;500单 + 自然复购率&gt;15% + 至少2家精选渠道主动联系 → 进入精选零售。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1022" y="6387941"/>
            <a:ext cx="76540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定位一致性：渠道不是"越多越好"——是"每个渠道都是品牌的一封推荐信"。众筹=验证信，直营=日常信，精选零售=推荐信，自有邮局=家信。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P62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56508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渠道策略：渠道 x 品牌调性一致性矩阵 x "三不铺"原则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22837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"三不铺"——不是所有能卖的地方都该卖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58165" y="982028"/>
            <a:ext cx="25305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渠道 x 品牌调性打分矩阵（1-5分）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238250"/>
            <a:ext cx="11049000" cy="2857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399461" y="1357312"/>
            <a:ext cx="249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渠道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83932" y="13573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品牌调性匹配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07932" y="13573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用户场景匹配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89439" y="1357312"/>
            <a:ext cx="59412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体验可控度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37953" y="1357312"/>
            <a:ext cx="36409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利润率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13946" y="1357312"/>
            <a:ext cx="479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综合得分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57711" y="1357312"/>
            <a:ext cx="249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决策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1524000"/>
            <a:ext cx="11049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131094" y="1624012"/>
            <a:ext cx="7858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微信小程序直营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02817" y="163210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26817" y="163210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50817" y="163210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84317" y="163210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00207" y="1624012"/>
            <a:ext cx="3065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19/20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176510" y="1632109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核心渠道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71500" y="1790700"/>
            <a:ext cx="11049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85957" y="1890712"/>
            <a:ext cx="10760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众筹平台（摩点/KS）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202817" y="189880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26817" y="189880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250817" y="189880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84317" y="189880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800207" y="1890712"/>
            <a:ext cx="3065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14/20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176510" y="1898809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启动渠道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2057400"/>
            <a:ext cx="11049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91433" y="2157412"/>
            <a:ext cx="106513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书店/生活方式集合店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202817" y="216550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726817" y="216550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250817" y="216550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84317" y="216550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800207" y="2157412"/>
            <a:ext cx="3065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7BA4B5"/>
                </a:solidFill>
                <a:latin typeface="Arial"/>
                <a:ea typeface="Microsoft YaHei"/>
                <a:cs typeface="Arial"/>
              </a:rPr>
              <a:t>14/20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176510" y="2165509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A4B5"/>
                </a:solidFill>
                <a:latin typeface="Arial"/>
                <a:ea typeface="Microsoft YaHei"/>
                <a:cs typeface="Arial"/>
              </a:rPr>
              <a:t>扩展渠道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2324100"/>
            <a:ext cx="11049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100971" y="2424112"/>
            <a:ext cx="84605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淘宝/京东旗舰店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202817" y="243220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726817" y="243220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263140" y="2432209"/>
            <a:ext cx="4672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84317" y="243220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817459" y="2424112"/>
            <a:ext cx="2720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8/20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275094" y="2432209"/>
            <a:ext cx="21431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不铺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" y="2590800"/>
            <a:ext cx="11049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57250" y="2690812"/>
            <a:ext cx="1333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潮玩集合店（泡泡玛特等）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215140" y="2698909"/>
            <a:ext cx="4672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739140" y="2698909"/>
            <a:ext cx="4672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263140" y="2698909"/>
            <a:ext cx="4672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584317" y="269890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817459" y="2690812"/>
            <a:ext cx="2720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5/20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176510" y="2698909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坚决不铺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71500" y="2857500"/>
            <a:ext cx="11049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1046202" y="2957512"/>
            <a:ext cx="9555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抖音/快手直播带货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215140" y="2965609"/>
            <a:ext cx="4672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739140" y="2965609"/>
            <a:ext cx="4672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263140" y="2965609"/>
            <a:ext cx="4672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596640" y="2965609"/>
            <a:ext cx="4672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817459" y="2957512"/>
            <a:ext cx="2720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4/20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176510" y="2965609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坚决不铺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58165" y="3363278"/>
            <a:ext cx="45996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"三不铺"原则——不是"挑渠道"，是"品牌识别在渠道维度的落地"</a:t>
            </a:r>
          </a:p>
        </p:txBody>
      </p:sp>
      <p:sp>
        <p:nvSpPr>
          <p:cNvPr id="64" name="Rectangle 64"/>
          <p:cNvSpPr/>
          <p:nvPr/>
        </p:nvSpPr>
        <p:spPr>
          <a:xfrm>
            <a:off x="571500" y="3667125"/>
            <a:ext cx="3524250" cy="1714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571500" y="3667125"/>
            <a:ext cx="3524250" cy="38100"/>
          </a:xfrm>
          <a:prstGeom prst="rect">
            <a:avLst/>
          </a:prstGeom>
          <a:solidFill>
            <a:srgbClr val="B8845A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748665" y="3868102"/>
            <a:ext cx="16529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一不铺：不铺"快"渠道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51522" y="4197191"/>
            <a:ext cx="20512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直播带货=9.9秒杀+限时抢购+"最后一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51522" y="4387691"/>
            <a:ext cx="17982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天"——这和"一封信"的仪式感完全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51522" y="4578191"/>
            <a:ext cx="18524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对立。品牌承诺"不打折"——如果在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51522" y="4768691"/>
            <a:ext cx="1840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直播间做到"全网最低价"，品牌就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51522" y="4959191"/>
            <a:ext cx="13463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在否定自己的核心承诺。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52475" y="5233988"/>
            <a:ext cx="18647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渠道是品牌承诺的放大器或摧毁者。</a:t>
            </a:r>
          </a:p>
        </p:txBody>
      </p:sp>
      <p:sp>
        <p:nvSpPr>
          <p:cNvPr id="73" name="Rectangle 73"/>
          <p:cNvSpPr/>
          <p:nvPr/>
        </p:nvSpPr>
        <p:spPr>
          <a:xfrm>
            <a:off x="4333875" y="3667125"/>
            <a:ext cx="3524250" cy="1714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4" name="Rectangle 74"/>
          <p:cNvSpPr/>
          <p:nvPr/>
        </p:nvSpPr>
        <p:spPr>
          <a:xfrm>
            <a:off x="4333875" y="3667125"/>
            <a:ext cx="352425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4511040" y="3868102"/>
            <a:ext cx="16529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二不铺：不铺"杂"渠道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4513898" y="4197191"/>
            <a:ext cx="18102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潮玩集合店/名创优品/KKV——用户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4513898" y="4387691"/>
            <a:ext cx="17861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在这里的购物场景是"扫货/抽盒/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4513898" y="4578191"/>
            <a:ext cx="17741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猎奇"。雾人放在盲盒旁边会被当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513898" y="4768691"/>
            <a:ext cx="17198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成"又是另一个潮玩"。品牌定位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513898" y="4959191"/>
            <a:ext cx="1665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"情绪翻译者"在潮玩区=噪音。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514850" y="5233988"/>
            <a:ext cx="198524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不是你配不上渠道——是渠道配不上你。</a:t>
            </a:r>
          </a:p>
        </p:txBody>
      </p:sp>
      <p:sp>
        <p:nvSpPr>
          <p:cNvPr id="82" name="Rectangle 82"/>
          <p:cNvSpPr/>
          <p:nvPr/>
        </p:nvSpPr>
        <p:spPr>
          <a:xfrm>
            <a:off x="8096250" y="3667125"/>
            <a:ext cx="3524250" cy="1714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83" name="Rectangle 83"/>
          <p:cNvSpPr/>
          <p:nvPr/>
        </p:nvSpPr>
        <p:spPr>
          <a:xfrm>
            <a:off x="8096250" y="3667125"/>
            <a:ext cx="3524250" cy="3810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8273415" y="3868102"/>
            <a:ext cx="16529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三不铺：不铺"冷"渠道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276272" y="4197191"/>
            <a:ext cx="17861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大型电商平台=标准化货架=以"搜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8276272" y="4387691"/>
            <a:ext cx="17741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索"为核心的购物行为。但岛屿来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8276272" y="4578191"/>
            <a:ext cx="17319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信的用户不是"搜手办"找到你——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8276272" y="4768691"/>
            <a:ext cx="19488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是被雾人日报打动后主动找过来的。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8276272" y="4959191"/>
            <a:ext cx="1840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"搜索"路径与品牌增长逻辑相反。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8277225" y="5233988"/>
            <a:ext cx="19962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品牌的增长引擎是"内容"不是"搜索"。</a:t>
            </a:r>
          </a:p>
        </p:txBody>
      </p:sp>
      <p:sp>
        <p:nvSpPr>
          <p:cNvPr id="91" name="Rectangle 91"/>
          <p:cNvSpPr/>
          <p:nvPr/>
        </p:nvSpPr>
        <p:spPr>
          <a:xfrm>
            <a:off x="571500" y="5572125"/>
            <a:ext cx="11049000" cy="476250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92" name="TextBox 92"/>
          <p:cNvSpPr txBox="1"/>
          <p:nvPr/>
        </p:nvSpPr>
        <p:spPr>
          <a:xfrm>
            <a:off x="4862938" y="5715952"/>
            <a:ext cx="24661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渠道决策 = 品牌价值观的物理呈现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2868406" y="5930741"/>
            <a:ext cx="645518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不是"哪里能卖就去哪里"——是"哪里能让'一封信'的体验完整，就去哪里"。每一次渠道选择，都是对品牌承诺的再确认。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561022" y="6387941"/>
            <a:ext cx="82444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定位一致性：品牌价值观"克制的陪伴"在渠道策略上翻译为"三不铺"——不铺快的、不铺杂的、不铺冷的。每个入驻的渠道都必须能承载"一封信"的体验。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P63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547828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年度规划：Q3 2026 准备期 x Q4 2026 众筹期 甘特图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22968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Q3-Q4 2026：从0到第一封"收到信了"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2095500" y="952500"/>
            <a:ext cx="9525000" cy="2095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569021" y="1040130"/>
            <a:ext cx="157858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7月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69121" y="1040130"/>
            <a:ext cx="157858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8月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69221" y="1040130"/>
            <a:ext cx="157858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9月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55519" y="1040130"/>
            <a:ext cx="185461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10月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67121" y="1040130"/>
            <a:ext cx="162458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11月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55719" y="1040130"/>
            <a:ext cx="185461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12月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81123" y="1040130"/>
            <a:ext cx="134855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1月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69721" y="1040130"/>
            <a:ext cx="157858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2月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69821" y="1040130"/>
            <a:ext cx="157858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3月</a:t>
            </a:r>
          </a:p>
        </p:txBody>
      </p:sp>
      <p:sp>
        <p:nvSpPr>
          <p:cNvPr id="16" name="Line 16"/>
          <p:cNvSpPr/>
          <p:nvPr/>
        </p:nvSpPr>
        <p:spPr>
          <a:xfrm>
            <a:off x="3295650" y="952500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4762">
            <a:solidFill>
              <a:srgbClr val="F5F0E8"/>
            </a:solidFill>
          </a:ln>
        </p:spPr>
      </p:sp>
      <p:sp>
        <p:nvSpPr>
          <p:cNvPr id="17" name="Line 17"/>
          <p:cNvSpPr/>
          <p:nvPr/>
        </p:nvSpPr>
        <p:spPr>
          <a:xfrm>
            <a:off x="4895850" y="952500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4762">
            <a:solidFill>
              <a:srgbClr val="F5F0E8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2428123" y="887730"/>
            <a:ext cx="134855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Q3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028323" y="887730"/>
            <a:ext cx="134855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Q4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1238250"/>
            <a:ext cx="1524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04850" y="1338262"/>
            <a:ext cx="61137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1. 产品开发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1543050"/>
            <a:ext cx="1524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04850" y="1643062"/>
            <a:ext cx="64012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2. 内容储备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1847850"/>
            <a:ext cx="1524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04850" y="1947862"/>
            <a:ext cx="64012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3. 社群搭建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2152650"/>
            <a:ext cx="1524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04850" y="2252662"/>
            <a:ext cx="64012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4. 众筹准备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2457450"/>
            <a:ext cx="1524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04850" y="2557462"/>
            <a:ext cx="64012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5. 品牌基建</a:t>
            </a:r>
          </a:p>
        </p:txBody>
      </p:sp>
      <p:sp>
        <p:nvSpPr>
          <p:cNvPr id="30" name="Line 30"/>
          <p:cNvSpPr/>
          <p:nvPr/>
        </p:nvSpPr>
        <p:spPr>
          <a:xfrm>
            <a:off x="2095500" y="123825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1905">
            <a:solidFill>
              <a:srgbClr val="D5D0C8"/>
            </a:solidFill>
          </a:ln>
        </p:spPr>
      </p:sp>
      <p:sp>
        <p:nvSpPr>
          <p:cNvPr id="31" name="Line 31"/>
          <p:cNvSpPr/>
          <p:nvPr/>
        </p:nvSpPr>
        <p:spPr>
          <a:xfrm>
            <a:off x="2095500" y="150495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1905">
            <a:solidFill>
              <a:srgbClr val="D5D0C8"/>
            </a:solidFill>
          </a:ln>
        </p:spPr>
      </p:sp>
      <p:sp>
        <p:nvSpPr>
          <p:cNvPr id="32" name="Line 32"/>
          <p:cNvSpPr/>
          <p:nvPr/>
        </p:nvSpPr>
        <p:spPr>
          <a:xfrm>
            <a:off x="2095500" y="177165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1905">
            <a:solidFill>
              <a:srgbClr val="D5D0C8"/>
            </a:solidFill>
          </a:ln>
        </p:spPr>
      </p:sp>
      <p:sp>
        <p:nvSpPr>
          <p:cNvPr id="33" name="Line 33"/>
          <p:cNvSpPr/>
          <p:nvPr/>
        </p:nvSpPr>
        <p:spPr>
          <a:xfrm>
            <a:off x="2095500" y="207645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1905">
            <a:solidFill>
              <a:srgbClr val="D5D0C8"/>
            </a:solidFill>
          </a:ln>
        </p:spPr>
      </p:sp>
      <p:sp>
        <p:nvSpPr>
          <p:cNvPr id="34" name="Line 34"/>
          <p:cNvSpPr/>
          <p:nvPr/>
        </p:nvSpPr>
        <p:spPr>
          <a:xfrm>
            <a:off x="2095500" y="238125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1905">
            <a:solidFill>
              <a:srgbClr val="D5D0C8"/>
            </a:solidFill>
          </a:ln>
        </p:spPr>
      </p:sp>
      <p:sp>
        <p:nvSpPr>
          <p:cNvPr id="35" name="Line 35"/>
          <p:cNvSpPr/>
          <p:nvPr/>
        </p:nvSpPr>
        <p:spPr>
          <a:xfrm>
            <a:off x="2095500" y="268605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1905">
            <a:solidFill>
              <a:srgbClr val="D5D0C8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2095500" y="1285875"/>
            <a:ext cx="1600200" cy="171450"/>
          </a:xfrm>
          <a:prstGeom prst="rect">
            <a:avLst/>
          </a:prstGeom>
          <a:solidFill>
            <a:srgbClr val="7B7B8E">
              <a:alpha val="60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2561142" y="1362551"/>
            <a:ext cx="668917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雾人原型设计+打样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695700" y="1285875"/>
            <a:ext cx="1600200" cy="171450"/>
          </a:xfrm>
          <a:prstGeom prst="rect">
            <a:avLst/>
          </a:prstGeom>
          <a:solidFill>
            <a:srgbClr val="8B9D8B">
              <a:alpha val="60000"/>
            </a:srgbClr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123003" y="1362551"/>
            <a:ext cx="745593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模具开发+小批量试产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295900" y="1285875"/>
            <a:ext cx="800100" cy="171450"/>
          </a:xfrm>
          <a:prstGeom prst="rect">
            <a:avLst/>
          </a:prstGeom>
          <a:solidFill>
            <a:srgbClr val="7BA4B5">
              <a:alpha val="60000"/>
            </a:srgb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535930" y="1362551"/>
            <a:ext cx="320040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包装定稿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096000" y="1285875"/>
            <a:ext cx="1200150" cy="171450"/>
          </a:xfrm>
          <a:prstGeom prst="rect">
            <a:avLst/>
          </a:prstGeom>
          <a:solidFill>
            <a:srgbClr val="3C3C5C">
              <a:alpha val="40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438293" y="1362551"/>
            <a:ext cx="515564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大货生产+质检</a:t>
            </a:r>
          </a:p>
        </p:txBody>
      </p:sp>
      <p:sp>
        <p:nvSpPr>
          <p:cNvPr id="44" name="Rectangle 44"/>
          <p:cNvSpPr/>
          <p:nvPr/>
        </p:nvSpPr>
        <p:spPr>
          <a:xfrm>
            <a:off x="2095500" y="1590675"/>
            <a:ext cx="2400300" cy="171450"/>
          </a:xfrm>
          <a:prstGeom prst="rect">
            <a:avLst/>
          </a:prstGeom>
          <a:solidFill>
            <a:srgbClr val="7B7B8E">
              <a:alpha val="60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2664071" y="1667351"/>
            <a:ext cx="1263158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5角色信+雾人日报30期+情绪速写8篇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495800" y="1590675"/>
            <a:ext cx="1200150" cy="171450"/>
          </a:xfrm>
          <a:prstGeom prst="rect">
            <a:avLst/>
          </a:prstGeom>
          <a:solidFill>
            <a:srgbClr val="8B9D8B">
              <a:alpha val="60000"/>
            </a:srgbClr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4723078" y="1667351"/>
            <a:ext cx="745593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小红书+公众号冷启动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695950" y="1590675"/>
            <a:ext cx="1600200" cy="171450"/>
          </a:xfrm>
          <a:prstGeom prst="rect">
            <a:avLst/>
          </a:prstGeom>
          <a:solidFill>
            <a:srgbClr val="7BA4B5">
              <a:alpha val="60000"/>
            </a:srgbClr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046577" y="1667351"/>
            <a:ext cx="898946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众筹页面故事线+视频脚本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695700" y="1895475"/>
            <a:ext cx="800100" cy="171450"/>
          </a:xfrm>
          <a:prstGeom prst="rect">
            <a:avLst/>
          </a:prstGeom>
          <a:solidFill>
            <a:srgbClr val="7B7B8E">
              <a:alpha val="60000"/>
            </a:srgbClr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3859054" y="1972151"/>
            <a:ext cx="473392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社群规则搭建</a:t>
            </a:r>
          </a:p>
        </p:txBody>
      </p:sp>
      <p:sp>
        <p:nvSpPr>
          <p:cNvPr id="52" name="Rectangle 52"/>
          <p:cNvSpPr/>
          <p:nvPr/>
        </p:nvSpPr>
        <p:spPr>
          <a:xfrm>
            <a:off x="4495800" y="1895475"/>
            <a:ext cx="800100" cy="171450"/>
          </a:xfrm>
          <a:prstGeom prst="rect">
            <a:avLst/>
          </a:prstGeom>
          <a:solidFill>
            <a:srgbClr val="8B9D8B">
              <a:alpha val="60000"/>
            </a:srgbClr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4659154" y="1972151"/>
            <a:ext cx="473392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种子用户招募</a:t>
            </a:r>
          </a:p>
        </p:txBody>
      </p:sp>
      <p:sp>
        <p:nvSpPr>
          <p:cNvPr id="54" name="Rectangle 54"/>
          <p:cNvSpPr/>
          <p:nvPr/>
        </p:nvSpPr>
        <p:spPr>
          <a:xfrm>
            <a:off x="5295900" y="1895475"/>
            <a:ext cx="1600200" cy="171450"/>
          </a:xfrm>
          <a:prstGeom prst="rect">
            <a:avLst/>
          </a:prstGeom>
          <a:solidFill>
            <a:srgbClr val="7BA4B5">
              <a:alpha val="60000"/>
            </a:srgbClr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5774960" y="1972151"/>
            <a:ext cx="642080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内测+开箱UGC收集</a:t>
            </a:r>
          </a:p>
        </p:txBody>
      </p:sp>
      <p:sp>
        <p:nvSpPr>
          <p:cNvPr id="56" name="Rectangle 56"/>
          <p:cNvSpPr/>
          <p:nvPr/>
        </p:nvSpPr>
        <p:spPr>
          <a:xfrm>
            <a:off x="3695700" y="2200275"/>
            <a:ext cx="800100" cy="171450"/>
          </a:xfrm>
          <a:prstGeom prst="rect">
            <a:avLst/>
          </a:prstGeom>
          <a:solidFill>
            <a:srgbClr val="7B7B8E">
              <a:alpha val="60000"/>
            </a:srgbClr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3859054" y="2276951"/>
            <a:ext cx="473392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众筹页面设计</a:t>
            </a:r>
          </a:p>
        </p:txBody>
      </p:sp>
      <p:sp>
        <p:nvSpPr>
          <p:cNvPr id="58" name="Rectangle 58"/>
          <p:cNvSpPr/>
          <p:nvPr/>
        </p:nvSpPr>
        <p:spPr>
          <a:xfrm>
            <a:off x="4495800" y="2200275"/>
            <a:ext cx="800100" cy="171450"/>
          </a:xfrm>
          <a:prstGeom prst="rect">
            <a:avLst/>
          </a:prstGeom>
          <a:solidFill>
            <a:srgbClr val="8B9D8B">
              <a:alpha val="60000"/>
            </a:srgbClr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659154" y="2276951"/>
            <a:ext cx="473392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预热内容发布</a:t>
            </a:r>
          </a:p>
        </p:txBody>
      </p:sp>
      <p:sp>
        <p:nvSpPr>
          <p:cNvPr id="60" name="Rectangle 60"/>
          <p:cNvSpPr/>
          <p:nvPr/>
        </p:nvSpPr>
        <p:spPr>
          <a:xfrm>
            <a:off x="5295900" y="2200275"/>
            <a:ext cx="1600200" cy="171450"/>
          </a:xfrm>
          <a:prstGeom prst="rect">
            <a:avLst/>
          </a:prstGeom>
          <a:solidFill>
            <a:srgbClr val="B8845A">
              <a:alpha val="60000"/>
            </a:srgbClr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5746206" y="2276951"/>
            <a:ext cx="699587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★ 众筹上线 Q4 2026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896100" y="2200275"/>
            <a:ext cx="800100" cy="171450"/>
          </a:xfrm>
          <a:prstGeom prst="rect">
            <a:avLst/>
          </a:prstGeom>
          <a:solidFill>
            <a:srgbClr val="3C3C5C">
              <a:alpha val="40000"/>
            </a:srgbClr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7097792" y="2276951"/>
            <a:ext cx="396716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众筹期运营</a:t>
            </a:r>
          </a:p>
        </p:txBody>
      </p:sp>
      <p:sp>
        <p:nvSpPr>
          <p:cNvPr id="64" name="Rectangle 64"/>
          <p:cNvSpPr/>
          <p:nvPr/>
        </p:nvSpPr>
        <p:spPr>
          <a:xfrm>
            <a:off x="2095500" y="2505075"/>
            <a:ext cx="2400300" cy="171450"/>
          </a:xfrm>
          <a:prstGeom prst="rect">
            <a:avLst/>
          </a:prstGeom>
          <a:solidFill>
            <a:srgbClr val="7B7B8E">
              <a:alpha val="60000"/>
            </a:srgbClr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2710077" y="2581751"/>
            <a:ext cx="1171146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商标注册+小程序开发+供应链合同</a:t>
            </a:r>
          </a:p>
        </p:txBody>
      </p:sp>
      <p:sp>
        <p:nvSpPr>
          <p:cNvPr id="66" name="Rectangle 66"/>
          <p:cNvSpPr/>
          <p:nvPr/>
        </p:nvSpPr>
        <p:spPr>
          <a:xfrm>
            <a:off x="4495800" y="2505075"/>
            <a:ext cx="800100" cy="171450"/>
          </a:xfrm>
          <a:prstGeom prst="rect">
            <a:avLst/>
          </a:prstGeom>
          <a:solidFill>
            <a:srgbClr val="8B9D8B">
              <a:alpha val="60000"/>
            </a:srgbClr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4735830" y="2581751"/>
            <a:ext cx="320040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官网搭建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58165" y="2934652"/>
            <a:ext cx="16610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关键里程碑 &amp; 决策节点</a:t>
            </a:r>
          </a:p>
        </p:txBody>
      </p:sp>
      <p:sp>
        <p:nvSpPr>
          <p:cNvPr id="69" name="Line 69"/>
          <p:cNvSpPr/>
          <p:nvPr/>
        </p:nvSpPr>
        <p:spPr>
          <a:xfrm>
            <a:off x="571500" y="31623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70" name="Line 70"/>
          <p:cNvSpPr/>
          <p:nvPr/>
        </p:nvSpPr>
        <p:spPr>
          <a:xfrm>
            <a:off x="952500" y="342900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14288">
            <a:solidFill>
              <a:srgbClr val="D5D0C8"/>
            </a:solidFill>
          </a:ln>
        </p:spPr>
      </p:sp>
      <p:sp>
        <p:nvSpPr>
          <p:cNvPr id="71" name="Ellipse 71"/>
          <p:cNvSpPr/>
          <p:nvPr/>
        </p:nvSpPr>
        <p:spPr>
          <a:xfrm>
            <a:off x="2019300" y="3352800"/>
            <a:ext cx="152400" cy="152400"/>
          </a:xfrm>
          <a:prstGeom prst="ellipse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1961233" y="3241834"/>
            <a:ext cx="26853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7月初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866900" y="3633788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项目启动</a:t>
            </a:r>
          </a:p>
        </p:txBody>
      </p:sp>
      <p:sp>
        <p:nvSpPr>
          <p:cNvPr id="74" name="Ellipse 74"/>
          <p:cNvSpPr/>
          <p:nvPr/>
        </p:nvSpPr>
        <p:spPr>
          <a:xfrm>
            <a:off x="4019550" y="3352800"/>
            <a:ext cx="152400" cy="152400"/>
          </a:xfrm>
          <a:prstGeom prst="ellipse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3961483" y="3241834"/>
            <a:ext cx="26853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8月底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3867150" y="3633788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原型确认</a:t>
            </a:r>
          </a:p>
        </p:txBody>
      </p:sp>
      <p:sp>
        <p:nvSpPr>
          <p:cNvPr id="77" name="Ellipse 77"/>
          <p:cNvSpPr/>
          <p:nvPr/>
        </p:nvSpPr>
        <p:spPr>
          <a:xfrm>
            <a:off x="6019800" y="3352800"/>
            <a:ext cx="152400" cy="152400"/>
          </a:xfrm>
          <a:prstGeom prst="ellipse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5946946" y="3241834"/>
            <a:ext cx="29810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A4B5"/>
                </a:solidFill>
                <a:latin typeface="Arial"/>
                <a:ea typeface="Microsoft YaHei"/>
                <a:cs typeface="Arial"/>
              </a:rPr>
              <a:t>10月中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5757862" y="3633788"/>
            <a:ext cx="6762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内容储备完成</a:t>
            </a:r>
          </a:p>
        </p:txBody>
      </p:sp>
      <p:sp>
        <p:nvSpPr>
          <p:cNvPr id="80" name="Ellipse 80"/>
          <p:cNvSpPr/>
          <p:nvPr/>
        </p:nvSpPr>
        <p:spPr>
          <a:xfrm>
            <a:off x="8020050" y="3352800"/>
            <a:ext cx="152400" cy="152400"/>
          </a:xfrm>
          <a:prstGeom prst="ellipse">
            <a:avLst/>
          </a:prstGeom>
          <a:solidFill>
            <a:srgbClr val="B8845A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7959519" y="3241834"/>
            <a:ext cx="27346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11月初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821097" y="3633788"/>
            <a:ext cx="55030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众筹上线 ★</a:t>
            </a:r>
          </a:p>
        </p:txBody>
      </p:sp>
      <p:sp>
        <p:nvSpPr>
          <p:cNvPr id="83" name="Ellipse 83"/>
          <p:cNvSpPr/>
          <p:nvPr/>
        </p:nvSpPr>
        <p:spPr>
          <a:xfrm>
            <a:off x="10020300" y="3352800"/>
            <a:ext cx="152400" cy="152400"/>
          </a:xfrm>
          <a:prstGeom prst="ellipse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9947446" y="3241834"/>
            <a:ext cx="29810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12月底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9867900" y="3633788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众筹结束</a:t>
            </a:r>
          </a:p>
        </p:txBody>
      </p:sp>
      <p:sp>
        <p:nvSpPr>
          <p:cNvPr id="86" name="Rectangle 86"/>
          <p:cNvSpPr/>
          <p:nvPr/>
        </p:nvSpPr>
        <p:spPr>
          <a:xfrm>
            <a:off x="571500" y="4000500"/>
            <a:ext cx="5334000" cy="1238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87" name="TextBox 87"/>
          <p:cNvSpPr txBox="1"/>
          <p:nvPr/>
        </p:nvSpPr>
        <p:spPr>
          <a:xfrm>
            <a:off x="748665" y="4153852"/>
            <a:ext cx="19025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资源配置（Q3-Q4 2026）</a:t>
            </a:r>
          </a:p>
        </p:txBody>
      </p:sp>
      <p:sp>
        <p:nvSpPr>
          <p:cNvPr id="88" name="Line 88"/>
          <p:cNvSpPr/>
          <p:nvPr/>
        </p:nvSpPr>
        <p:spPr>
          <a:xfrm>
            <a:off x="762000" y="438150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89" name="TextBox 89"/>
          <p:cNvSpPr txBox="1"/>
          <p:nvPr/>
        </p:nvSpPr>
        <p:spPr>
          <a:xfrm>
            <a:off x="752475" y="4510088"/>
            <a:ext cx="355711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团队规模：4-5人（创始人+设计师+内容1人+社群运营1人+供应链兼职）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752475" y="4700588"/>
            <a:ext cx="326683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预算分配：产品开发40% + 内容生产20% + 众筹推广25% + 基建15%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752475" y="4891088"/>
            <a:ext cx="492633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关键风险：模具开发延期（缓释：提前2周启动模具）+ 内容储备不足（缓释：8月即启动内容生产）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752475" y="5081588"/>
            <a:ext cx="37159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成功定义：众筹达到15万目标 + 至少500个支持者 + 至少50条真实开箱分享</a:t>
            </a:r>
          </a:p>
        </p:txBody>
      </p:sp>
      <p:sp>
        <p:nvSpPr>
          <p:cNvPr id="93" name="Rectangle 93"/>
          <p:cNvSpPr/>
          <p:nvPr/>
        </p:nvSpPr>
        <p:spPr>
          <a:xfrm>
            <a:off x="6096000" y="4000500"/>
            <a:ext cx="5524500" cy="1238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94" name="TextBox 94"/>
          <p:cNvSpPr txBox="1"/>
          <p:nvPr/>
        </p:nvSpPr>
        <p:spPr>
          <a:xfrm>
            <a:off x="6273165" y="4153852"/>
            <a:ext cx="26593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Q3 准备期 x Q4 执行期：分阶段目标</a:t>
            </a:r>
          </a:p>
        </p:txBody>
      </p:sp>
      <p:sp>
        <p:nvSpPr>
          <p:cNvPr id="95" name="Line 95"/>
          <p:cNvSpPr/>
          <p:nvPr/>
        </p:nvSpPr>
        <p:spPr>
          <a:xfrm>
            <a:off x="6286500" y="438150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96" name="TextBox 96"/>
          <p:cNvSpPr txBox="1"/>
          <p:nvPr/>
        </p:nvSpPr>
        <p:spPr>
          <a:xfrm>
            <a:off x="6276975" y="4510088"/>
            <a:ext cx="307514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Q3 目标：完成原型设计+模具开发+内容储备60%+种子社群搭建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6276975" y="4700588"/>
            <a:ext cx="29875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Q4 目标：众筹上线→达到15万→大货生产启动→第一批用户交付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6276975" y="4891088"/>
            <a:ext cx="40171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核心原则：Q3是"慢工出细活"——宁可推迟众筹两周，不带着未完成的产品见用户。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6276975" y="5081588"/>
            <a:ext cx="332160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众筹不是"销售第一波"——是品牌第一次完整地讲"这封信"的故事。</a:t>
            </a:r>
          </a:p>
        </p:txBody>
      </p:sp>
      <p:sp>
        <p:nvSpPr>
          <p:cNvPr id="100" name="Rectangle 100"/>
          <p:cNvSpPr/>
          <p:nvPr/>
        </p:nvSpPr>
        <p:spPr>
          <a:xfrm>
            <a:off x="571500" y="5476875"/>
            <a:ext cx="11049000" cy="523875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101" name="TextBox 101"/>
          <p:cNvSpPr txBox="1"/>
          <p:nvPr/>
        </p:nvSpPr>
        <p:spPr>
          <a:xfrm>
            <a:off x="748665" y="560165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关键决策日期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752475" y="5843588"/>
            <a:ext cx="862322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8月W4：原型评审会——Go/No-Go决定是否进入模具开发 · 10月W2：内容储备评审——确认众筹故事线 · 10月W4：众筹页面终审 · 11月W1：众筹上线 · 12月W4：众筹结束+生产启动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P64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58808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年度规划：Q1 2027 交付扩展期 x Q2 2027 扩展期 甘特图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20602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Q1-Q2 2027：从交付到"邻居来了"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2095500" y="952500"/>
            <a:ext cx="9525000" cy="2095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580523" y="1040130"/>
            <a:ext cx="134855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1月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69121" y="1040130"/>
            <a:ext cx="157858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2月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69221" y="1040130"/>
            <a:ext cx="157858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3月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69321" y="1040130"/>
            <a:ext cx="157858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4月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69421" y="1040130"/>
            <a:ext cx="157858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5月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69521" y="1040130"/>
            <a:ext cx="157858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6月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69621" y="1040130"/>
            <a:ext cx="157858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7月</a:t>
            </a:r>
          </a:p>
        </p:txBody>
      </p:sp>
      <p:sp>
        <p:nvSpPr>
          <p:cNvPr id="14" name="Line 14"/>
          <p:cNvSpPr/>
          <p:nvPr/>
        </p:nvSpPr>
        <p:spPr>
          <a:xfrm>
            <a:off x="4095750" y="952500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4762">
            <a:solidFill>
              <a:srgbClr val="F5F0E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2439624" y="887730"/>
            <a:ext cx="111852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Q1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28423" y="887730"/>
            <a:ext cx="134855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Q2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1238250"/>
            <a:ext cx="1524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04850" y="1338262"/>
            <a:ext cx="61137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1. 产品交付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1543050"/>
            <a:ext cx="1524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04850" y="1643062"/>
            <a:ext cx="7838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2. Wave 2上线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1847850"/>
            <a:ext cx="1524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04850" y="1947862"/>
            <a:ext cx="64012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3. 内容运营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71500" y="2152650"/>
            <a:ext cx="1524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04850" y="2252662"/>
            <a:ext cx="64012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4. 社群扩展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2457450"/>
            <a:ext cx="1524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04850" y="2557462"/>
            <a:ext cx="64012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5. 渠道拓展</a:t>
            </a:r>
          </a:p>
        </p:txBody>
      </p:sp>
      <p:sp>
        <p:nvSpPr>
          <p:cNvPr id="27" name="Line 27"/>
          <p:cNvSpPr/>
          <p:nvPr/>
        </p:nvSpPr>
        <p:spPr>
          <a:xfrm>
            <a:off x="2095500" y="123825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1905">
            <a:solidFill>
              <a:srgbClr val="D5D0C8"/>
            </a:solidFill>
          </a:ln>
        </p:spPr>
      </p:sp>
      <p:sp>
        <p:nvSpPr>
          <p:cNvPr id="28" name="Line 28"/>
          <p:cNvSpPr/>
          <p:nvPr/>
        </p:nvSpPr>
        <p:spPr>
          <a:xfrm>
            <a:off x="2095500" y="150495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1905">
            <a:solidFill>
              <a:srgbClr val="D5D0C8"/>
            </a:solidFill>
          </a:ln>
        </p:spPr>
      </p:sp>
      <p:sp>
        <p:nvSpPr>
          <p:cNvPr id="29" name="Line 29"/>
          <p:cNvSpPr/>
          <p:nvPr/>
        </p:nvSpPr>
        <p:spPr>
          <a:xfrm>
            <a:off x="2095500" y="177165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1905">
            <a:solidFill>
              <a:srgbClr val="D5D0C8"/>
            </a:solidFill>
          </a:ln>
        </p:spPr>
      </p:sp>
      <p:sp>
        <p:nvSpPr>
          <p:cNvPr id="30" name="Line 30"/>
          <p:cNvSpPr/>
          <p:nvPr/>
        </p:nvSpPr>
        <p:spPr>
          <a:xfrm>
            <a:off x="2095500" y="207645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1905">
            <a:solidFill>
              <a:srgbClr val="D5D0C8"/>
            </a:solidFill>
          </a:ln>
        </p:spPr>
      </p:sp>
      <p:sp>
        <p:nvSpPr>
          <p:cNvPr id="31" name="Line 31"/>
          <p:cNvSpPr/>
          <p:nvPr/>
        </p:nvSpPr>
        <p:spPr>
          <a:xfrm>
            <a:off x="2095500" y="238125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1905">
            <a:solidFill>
              <a:srgbClr val="D5D0C8"/>
            </a:solidFill>
          </a:ln>
        </p:spPr>
      </p:sp>
      <p:sp>
        <p:nvSpPr>
          <p:cNvPr id="32" name="Line 32"/>
          <p:cNvSpPr/>
          <p:nvPr/>
        </p:nvSpPr>
        <p:spPr>
          <a:xfrm>
            <a:off x="2095500" y="268605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1905">
            <a:solidFill>
              <a:srgbClr val="D5D0C8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2095500" y="1285875"/>
            <a:ext cx="1200150" cy="171450"/>
          </a:xfrm>
          <a:prstGeom prst="rect">
            <a:avLst/>
          </a:prstGeom>
          <a:solidFill>
            <a:srgbClr val="7B7B8E">
              <a:alpha val="60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2361117" y="1362551"/>
            <a:ext cx="668917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众筹订单生产+发货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295650" y="1285875"/>
            <a:ext cx="1600200" cy="171450"/>
          </a:xfrm>
          <a:prstGeom prst="rect">
            <a:avLst/>
          </a:prstGeom>
          <a:solidFill>
            <a:srgbClr val="8B9D8B">
              <a:alpha val="60000"/>
            </a:srgbClr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3646277" y="1362551"/>
            <a:ext cx="898946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小程序商城上线+首月运营</a:t>
            </a:r>
          </a:p>
        </p:txBody>
      </p:sp>
      <p:sp>
        <p:nvSpPr>
          <p:cNvPr id="37" name="Rectangle 37"/>
          <p:cNvSpPr/>
          <p:nvPr/>
        </p:nvSpPr>
        <p:spPr>
          <a:xfrm>
            <a:off x="4895850" y="1285875"/>
            <a:ext cx="800100" cy="171450"/>
          </a:xfrm>
          <a:prstGeom prst="rect">
            <a:avLst/>
          </a:prstGeom>
          <a:solidFill>
            <a:srgbClr val="7BA4B5">
              <a:alpha val="60000"/>
            </a:srgbClr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020866" y="1362551"/>
            <a:ext cx="550069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碎片雾组件上线</a:t>
            </a:r>
          </a:p>
        </p:txBody>
      </p:sp>
      <p:sp>
        <p:nvSpPr>
          <p:cNvPr id="39" name="Rectangle 39"/>
          <p:cNvSpPr/>
          <p:nvPr/>
        </p:nvSpPr>
        <p:spPr>
          <a:xfrm>
            <a:off x="3695700" y="1590675"/>
            <a:ext cx="400050" cy="171450"/>
          </a:xfrm>
          <a:prstGeom prst="rect">
            <a:avLst/>
          </a:prstGeom>
          <a:solidFill>
            <a:srgbClr val="7B7B8E">
              <a:alpha val="60000"/>
            </a:srgbClr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824288" y="1675448"/>
            <a:ext cx="142875" cy="91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设计</a:t>
            </a:r>
          </a:p>
        </p:txBody>
      </p:sp>
      <p:sp>
        <p:nvSpPr>
          <p:cNvPr id="41" name="Rectangle 41"/>
          <p:cNvSpPr/>
          <p:nvPr/>
        </p:nvSpPr>
        <p:spPr>
          <a:xfrm>
            <a:off x="4095750" y="1590675"/>
            <a:ext cx="800100" cy="171450"/>
          </a:xfrm>
          <a:prstGeom prst="rect">
            <a:avLst/>
          </a:prstGeom>
          <a:solidFill>
            <a:srgbClr val="8B9D8B">
              <a:alpha val="60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4314694" y="1667351"/>
            <a:ext cx="362212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模具+打样</a:t>
            </a:r>
          </a:p>
        </p:txBody>
      </p:sp>
      <p:sp>
        <p:nvSpPr>
          <p:cNvPr id="43" name="Rectangle 43"/>
          <p:cNvSpPr/>
          <p:nvPr/>
        </p:nvSpPr>
        <p:spPr>
          <a:xfrm>
            <a:off x="4895850" y="1590675"/>
            <a:ext cx="800100" cy="171450"/>
          </a:xfrm>
          <a:prstGeom prst="rect">
            <a:avLst/>
          </a:prstGeom>
          <a:solidFill>
            <a:srgbClr val="7BA4B5">
              <a:alpha val="60000"/>
            </a:srgbClr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038118" y="1667351"/>
            <a:ext cx="515564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暖光+根根生产</a:t>
            </a:r>
          </a:p>
        </p:txBody>
      </p:sp>
      <p:sp>
        <p:nvSpPr>
          <p:cNvPr id="45" name="Rectangle 45"/>
          <p:cNvSpPr/>
          <p:nvPr/>
        </p:nvSpPr>
        <p:spPr>
          <a:xfrm>
            <a:off x="5695950" y="1590675"/>
            <a:ext cx="1200150" cy="171450"/>
          </a:xfrm>
          <a:prstGeom prst="rect">
            <a:avLst/>
          </a:prstGeom>
          <a:solidFill>
            <a:srgbClr val="3C3C5C">
              <a:alpha val="40000"/>
            </a:srgbClr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5978819" y="1667351"/>
            <a:ext cx="634413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Wave 2正式上线 ★</a:t>
            </a:r>
          </a:p>
        </p:txBody>
      </p:sp>
      <p:sp>
        <p:nvSpPr>
          <p:cNvPr id="47" name="Rectangle 47"/>
          <p:cNvSpPr/>
          <p:nvPr/>
        </p:nvSpPr>
        <p:spPr>
          <a:xfrm>
            <a:off x="2095500" y="1895475"/>
            <a:ext cx="4000500" cy="171450"/>
          </a:xfrm>
          <a:prstGeom prst="rect">
            <a:avLst/>
          </a:prstGeom>
          <a:solidFill>
            <a:srgbClr val="7B7B8E">
              <a:alpha val="60000"/>
            </a:srgbClr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3318486" y="1972151"/>
            <a:ext cx="1554528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持续：雾人日报每日+角色来信每周+情绪速写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096000" y="1895475"/>
            <a:ext cx="1200150" cy="171450"/>
          </a:xfrm>
          <a:prstGeom prst="rect">
            <a:avLst/>
          </a:prstGeom>
          <a:solidFill>
            <a:srgbClr val="8B9D8B">
              <a:alpha val="60000"/>
            </a:srgbClr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382702" y="1972151"/>
            <a:ext cx="626745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新角色内容线启动</a:t>
            </a:r>
          </a:p>
        </p:txBody>
      </p:sp>
      <p:sp>
        <p:nvSpPr>
          <p:cNvPr id="51" name="Rectangle 51"/>
          <p:cNvSpPr/>
          <p:nvPr/>
        </p:nvSpPr>
        <p:spPr>
          <a:xfrm>
            <a:off x="2095500" y="2200275"/>
            <a:ext cx="1600200" cy="171450"/>
          </a:xfrm>
          <a:prstGeom prst="rect">
            <a:avLst/>
          </a:prstGeom>
          <a:solidFill>
            <a:srgbClr val="7B7B8E">
              <a:alpha val="60000"/>
            </a:srgbClr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2574560" y="2276951"/>
            <a:ext cx="642080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开箱季·UGC收集中</a:t>
            </a:r>
          </a:p>
        </p:txBody>
      </p:sp>
      <p:sp>
        <p:nvSpPr>
          <p:cNvPr id="53" name="Rectangle 53"/>
          <p:cNvSpPr/>
          <p:nvPr/>
        </p:nvSpPr>
        <p:spPr>
          <a:xfrm>
            <a:off x="3695700" y="2200275"/>
            <a:ext cx="1600200" cy="171450"/>
          </a:xfrm>
          <a:prstGeom prst="rect">
            <a:avLst/>
          </a:prstGeom>
          <a:solidFill>
            <a:srgbClr val="8B9D8B">
              <a:alpha val="60000"/>
            </a:srgbClr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4182428" y="2276951"/>
            <a:ext cx="626745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拼雾星期三常态化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295900" y="2200275"/>
            <a:ext cx="1200150" cy="171450"/>
          </a:xfrm>
          <a:prstGeom prst="rect">
            <a:avLst/>
          </a:prstGeom>
          <a:solidFill>
            <a:srgbClr val="7BA4B5">
              <a:alpha val="60000"/>
            </a:srgbClr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515511" y="2276951"/>
            <a:ext cx="760928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首批"群岛居民"500人</a:t>
            </a:r>
          </a:p>
        </p:txBody>
      </p:sp>
      <p:sp>
        <p:nvSpPr>
          <p:cNvPr id="57" name="Rectangle 57"/>
          <p:cNvSpPr/>
          <p:nvPr/>
        </p:nvSpPr>
        <p:spPr>
          <a:xfrm>
            <a:off x="3695700" y="2505075"/>
            <a:ext cx="800100" cy="171450"/>
          </a:xfrm>
          <a:prstGeom prst="rect">
            <a:avLst/>
          </a:prstGeom>
          <a:solidFill>
            <a:srgbClr val="7B7B8E">
              <a:alpha val="60000"/>
            </a:srgbClr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3859054" y="2581751"/>
            <a:ext cx="473392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精选渠道洽谈</a:t>
            </a:r>
          </a:p>
        </p:txBody>
      </p:sp>
      <p:sp>
        <p:nvSpPr>
          <p:cNvPr id="59" name="Rectangle 59"/>
          <p:cNvSpPr/>
          <p:nvPr/>
        </p:nvSpPr>
        <p:spPr>
          <a:xfrm>
            <a:off x="4495800" y="2505075"/>
            <a:ext cx="800100" cy="171450"/>
          </a:xfrm>
          <a:prstGeom prst="rect">
            <a:avLst/>
          </a:prstGeom>
          <a:solidFill>
            <a:srgbClr val="8B9D8B">
              <a:alpha val="60000"/>
            </a:srgbClr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4659154" y="2581751"/>
            <a:ext cx="473392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首家合作落地</a:t>
            </a:r>
          </a:p>
        </p:txBody>
      </p:sp>
      <p:sp>
        <p:nvSpPr>
          <p:cNvPr id="61" name="Rectangle 61"/>
          <p:cNvSpPr/>
          <p:nvPr/>
        </p:nvSpPr>
        <p:spPr>
          <a:xfrm>
            <a:off x="5295900" y="2505075"/>
            <a:ext cx="1600200" cy="171450"/>
          </a:xfrm>
          <a:prstGeom prst="rect">
            <a:avLst/>
          </a:prstGeom>
          <a:solidFill>
            <a:srgbClr val="7BA4B5">
              <a:alpha val="60000"/>
            </a:srgbClr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5707868" y="2581751"/>
            <a:ext cx="776264" cy="106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1-2家书店/买手店入驻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58165" y="2934652"/>
            <a:ext cx="1725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关键里程碑 &amp; KPI检查点</a:t>
            </a:r>
          </a:p>
        </p:txBody>
      </p:sp>
      <p:sp>
        <p:nvSpPr>
          <p:cNvPr id="64" name="Line 64"/>
          <p:cNvSpPr/>
          <p:nvPr/>
        </p:nvSpPr>
        <p:spPr>
          <a:xfrm>
            <a:off x="571500" y="31623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5" name="Line 65"/>
          <p:cNvSpPr/>
          <p:nvPr/>
        </p:nvSpPr>
        <p:spPr>
          <a:xfrm>
            <a:off x="952500" y="342900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14288">
            <a:solidFill>
              <a:srgbClr val="D5D0C8"/>
            </a:solidFill>
          </a:ln>
        </p:spPr>
      </p:sp>
      <p:sp>
        <p:nvSpPr>
          <p:cNvPr id="66" name="Ellipse 66"/>
          <p:cNvSpPr/>
          <p:nvPr/>
        </p:nvSpPr>
        <p:spPr>
          <a:xfrm>
            <a:off x="2019300" y="3352800"/>
            <a:ext cx="152400" cy="152400"/>
          </a:xfrm>
          <a:prstGeom prst="ellipse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1973556" y="3241834"/>
            <a:ext cx="24388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1月底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757362" y="3633788"/>
            <a:ext cx="6762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首批交付完成</a:t>
            </a:r>
          </a:p>
        </p:txBody>
      </p:sp>
      <p:sp>
        <p:nvSpPr>
          <p:cNvPr id="69" name="Ellipse 69"/>
          <p:cNvSpPr/>
          <p:nvPr/>
        </p:nvSpPr>
        <p:spPr>
          <a:xfrm>
            <a:off x="4019550" y="3352800"/>
            <a:ext cx="152400" cy="152400"/>
          </a:xfrm>
          <a:prstGeom prst="ellipse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3961483" y="3241834"/>
            <a:ext cx="26853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2月底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3812381" y="3633788"/>
            <a:ext cx="56673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小程序上线</a:t>
            </a:r>
          </a:p>
        </p:txBody>
      </p:sp>
      <p:sp>
        <p:nvSpPr>
          <p:cNvPr id="72" name="Ellipse 72"/>
          <p:cNvSpPr/>
          <p:nvPr/>
        </p:nvSpPr>
        <p:spPr>
          <a:xfrm>
            <a:off x="6019800" y="3352800"/>
            <a:ext cx="152400" cy="152400"/>
          </a:xfrm>
          <a:prstGeom prst="ellipse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5961733" y="3241834"/>
            <a:ext cx="26853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A4B5"/>
                </a:solidFill>
                <a:latin typeface="Arial"/>
                <a:ea typeface="Microsoft YaHei"/>
                <a:cs typeface="Arial"/>
              </a:rPr>
              <a:t>3月底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5744170" y="3633788"/>
            <a:ext cx="70365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"三点检查" #1</a:t>
            </a:r>
          </a:p>
        </p:txBody>
      </p:sp>
      <p:sp>
        <p:nvSpPr>
          <p:cNvPr id="75" name="Ellipse 75"/>
          <p:cNvSpPr/>
          <p:nvPr/>
        </p:nvSpPr>
        <p:spPr>
          <a:xfrm>
            <a:off x="8020050" y="3352800"/>
            <a:ext cx="152400" cy="152400"/>
          </a:xfrm>
          <a:prstGeom prst="ellipse">
            <a:avLst/>
          </a:prstGeom>
          <a:solidFill>
            <a:srgbClr val="B8845A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7961983" y="3241834"/>
            <a:ext cx="26853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5月底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7799189" y="3633788"/>
            <a:ext cx="59412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Wave 2上线</a:t>
            </a:r>
          </a:p>
        </p:txBody>
      </p:sp>
      <p:sp>
        <p:nvSpPr>
          <p:cNvPr id="78" name="Ellipse 78"/>
          <p:cNvSpPr/>
          <p:nvPr/>
        </p:nvSpPr>
        <p:spPr>
          <a:xfrm>
            <a:off x="10020300" y="3352800"/>
            <a:ext cx="152400" cy="152400"/>
          </a:xfrm>
          <a:prstGeom prst="ellipse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9962233" y="3241834"/>
            <a:ext cx="26853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6月底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730978" y="3633788"/>
            <a:ext cx="7310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"三点检查" #2</a:t>
            </a:r>
          </a:p>
        </p:txBody>
      </p:sp>
      <p:sp>
        <p:nvSpPr>
          <p:cNvPr id="81" name="Rectangle 81"/>
          <p:cNvSpPr/>
          <p:nvPr/>
        </p:nvSpPr>
        <p:spPr>
          <a:xfrm>
            <a:off x="571500" y="4000500"/>
            <a:ext cx="5334000" cy="1238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82" name="TextBox 82"/>
          <p:cNvSpPr txBox="1"/>
          <p:nvPr/>
        </p:nvSpPr>
        <p:spPr>
          <a:xfrm>
            <a:off x="748665" y="4153852"/>
            <a:ext cx="18622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资源配置（Q1-Q2 2027）</a:t>
            </a:r>
          </a:p>
        </p:txBody>
      </p:sp>
      <p:sp>
        <p:nvSpPr>
          <p:cNvPr id="83" name="Line 83"/>
          <p:cNvSpPr/>
          <p:nvPr/>
        </p:nvSpPr>
        <p:spPr>
          <a:xfrm>
            <a:off x="762000" y="438150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84" name="TextBox 84"/>
          <p:cNvSpPr txBox="1"/>
          <p:nvPr/>
        </p:nvSpPr>
        <p:spPr>
          <a:xfrm>
            <a:off x="752475" y="4510088"/>
            <a:ext cx="263151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团队规模：6-8人（+内容1人+客服1人+渠道BD兼职）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752475" y="4700588"/>
            <a:ext cx="412122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预算分配：产品交付30% + Wave 2开发25% + 内容运营20% + 渠道拓展15% + 储备10%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752475" y="4891088"/>
            <a:ext cx="470725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关键风险：交付延迟（缓释：提前预留2周缓冲）+ 复购低于预期（缓释：内容深度+礼品场景）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752475" y="5081588"/>
            <a:ext cx="345305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成功定义：90天复购率&gt;15% + 这我指数&gt;15% + 小程序月销稳定&gt;500单</a:t>
            </a:r>
          </a:p>
        </p:txBody>
      </p:sp>
      <p:sp>
        <p:nvSpPr>
          <p:cNvPr id="88" name="Rectangle 88"/>
          <p:cNvSpPr/>
          <p:nvPr/>
        </p:nvSpPr>
        <p:spPr>
          <a:xfrm>
            <a:off x="6096000" y="4000500"/>
            <a:ext cx="5524500" cy="1238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89" name="TextBox 89"/>
          <p:cNvSpPr txBox="1"/>
          <p:nvPr/>
        </p:nvSpPr>
        <p:spPr>
          <a:xfrm>
            <a:off x="6273165" y="4153852"/>
            <a:ext cx="26190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Q1 交付期 x Q2 扩展期：分阶段目标</a:t>
            </a:r>
          </a:p>
        </p:txBody>
      </p:sp>
      <p:sp>
        <p:nvSpPr>
          <p:cNvPr id="90" name="Line 90"/>
          <p:cNvSpPr/>
          <p:nvPr/>
        </p:nvSpPr>
        <p:spPr>
          <a:xfrm>
            <a:off x="6286500" y="438150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91" name="TextBox 91"/>
          <p:cNvSpPr txBox="1"/>
          <p:nvPr/>
        </p:nvSpPr>
        <p:spPr>
          <a:xfrm>
            <a:off x="6276975" y="4510088"/>
            <a:ext cx="359544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Q1 目标：完成全部众筹订单交付+小程序上线+日内容节奏稳定+开箱季UGC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6276975" y="4700588"/>
            <a:ext cx="379809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Q2 目标：Wave 2（暖光+根根）上线+首家精选零售合作+碎片雾组件独立产品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6276975" y="4891088"/>
            <a:ext cx="375975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核心原则：交付质量 &gt; 扩展速度。第一批用户的体验决定了品牌的口碑基础。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6276975" y="5081588"/>
            <a:ext cx="33599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每一个收到雾人的人=品牌的第一个"邻居"。邻居说好，街坊才来。</a:t>
            </a:r>
          </a:p>
        </p:txBody>
      </p:sp>
      <p:sp>
        <p:nvSpPr>
          <p:cNvPr id="95" name="Rectangle 95"/>
          <p:cNvSpPr/>
          <p:nvPr/>
        </p:nvSpPr>
        <p:spPr>
          <a:xfrm>
            <a:off x="571500" y="5476875"/>
            <a:ext cx="11049000" cy="523875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96" name="TextBox 96"/>
          <p:cNvSpPr txBox="1"/>
          <p:nvPr/>
        </p:nvSpPr>
        <p:spPr>
          <a:xfrm>
            <a:off x="748665" y="5601652"/>
            <a:ext cx="11699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"三点检查"节点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752475" y="5843588"/>
            <a:ext cx="865060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第1点（3月底·众筹交付完成）：检查交付满意度&gt;85%+开箱分享率&gt;25%+第一封信阅读完成率&gt;80% · 第2点（6月底·Wave 2上线）：检查复购率&gt;15%+这我指数&gt;15%+自然转发率&gt;8%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P65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98371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年度规划：预算分配与现金流管理——150万怎么花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40582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150万——不是"钱够不够"，是"花在哪里的每一分钱都在翻译品牌定位"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58165" y="982028"/>
            <a:ext cx="25707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预算瀑布图（Year 1，单位：万元）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" y="1381125"/>
            <a:ext cx="1143000" cy="2476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62465" y="1252538"/>
            <a:ext cx="18007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150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75522" y="1463516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总预算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52500" y="1762125"/>
            <a:ext cx="523875" cy="24765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38413" y="1852612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-55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56398" y="1844516"/>
            <a:ext cx="21476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产品开发（模具+打样+首批生产+包装）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476375" y="1762125"/>
            <a:ext cx="904875" cy="247650"/>
          </a:xfrm>
          <a:prstGeom prst="rect">
            <a:avLst/>
          </a:prstGeom>
          <a:solidFill>
            <a:srgbClr val="EDE8E0"/>
          </a:solidFill>
          <a:ln w="4762">
            <a:solidFill>
              <a:srgbClr val="D5D0C8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811965" y="1860709"/>
            <a:ext cx="22417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剩95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52500" y="2143125"/>
            <a:ext cx="285750" cy="24765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38413" y="2233612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-30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18272" y="2225516"/>
            <a:ext cx="1906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内容生产（拍摄+文案+设计+视频）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238250" y="2143125"/>
            <a:ext cx="619125" cy="247650"/>
          </a:xfrm>
          <a:prstGeom prst="rect">
            <a:avLst/>
          </a:prstGeom>
          <a:solidFill>
            <a:srgbClr val="EDE8E0"/>
          </a:solidFill>
          <a:ln w="4762">
            <a:solidFill>
              <a:srgbClr val="D5D0C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430965" y="2241709"/>
            <a:ext cx="22417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剩65</a:t>
            </a:r>
          </a:p>
        </p:txBody>
      </p:sp>
      <p:sp>
        <p:nvSpPr>
          <p:cNvPr id="20" name="Rectangle 20"/>
          <p:cNvSpPr/>
          <p:nvPr/>
        </p:nvSpPr>
        <p:spPr>
          <a:xfrm>
            <a:off x="952500" y="2524125"/>
            <a:ext cx="238125" cy="247650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38413" y="2614612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7BA4B5"/>
                </a:solidFill>
                <a:latin typeface="Arial"/>
                <a:ea typeface="Microsoft YaHei"/>
                <a:cs typeface="Arial"/>
              </a:rPr>
              <a:t>-25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70648" y="2606516"/>
            <a:ext cx="21476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日常运营（人力+服务器+小程序+工具）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190625" y="2524125"/>
            <a:ext cx="381000" cy="247650"/>
          </a:xfrm>
          <a:prstGeom prst="rect">
            <a:avLst/>
          </a:prstGeom>
          <a:solidFill>
            <a:srgbClr val="EDE8E0"/>
          </a:solidFill>
          <a:ln w="4762">
            <a:solidFill>
              <a:srgbClr val="D5D0C8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269040" y="2622709"/>
            <a:ext cx="22417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剩40</a:t>
            </a:r>
          </a:p>
        </p:txBody>
      </p:sp>
      <p:sp>
        <p:nvSpPr>
          <p:cNvPr id="25" name="Rectangle 25"/>
          <p:cNvSpPr/>
          <p:nvPr/>
        </p:nvSpPr>
        <p:spPr>
          <a:xfrm>
            <a:off x="952500" y="2905125"/>
            <a:ext cx="238125" cy="247650"/>
          </a:xfrm>
          <a:prstGeom prst="rect">
            <a:avLst/>
          </a:prstGeom>
          <a:solidFill>
            <a:srgbClr val="B8845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38413" y="2995612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-25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70648" y="2987516"/>
            <a:ext cx="195484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营销推广（众筹广告+PR+KOL种子）</a:t>
            </a:r>
          </a:p>
        </p:txBody>
      </p:sp>
      <p:sp>
        <p:nvSpPr>
          <p:cNvPr id="28" name="Rectangle 28"/>
          <p:cNvSpPr/>
          <p:nvPr/>
        </p:nvSpPr>
        <p:spPr>
          <a:xfrm>
            <a:off x="1190625" y="2905125"/>
            <a:ext cx="142875" cy="247650"/>
          </a:xfrm>
          <a:prstGeom prst="rect">
            <a:avLst/>
          </a:prstGeom>
          <a:solidFill>
            <a:srgbClr val="EDE8E0"/>
          </a:solidFill>
          <a:ln w="4762">
            <a:solidFill>
              <a:srgbClr val="D5D0C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157538" y="3003709"/>
            <a:ext cx="19952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剩15</a:t>
            </a:r>
          </a:p>
        </p:txBody>
      </p:sp>
      <p:sp>
        <p:nvSpPr>
          <p:cNvPr id="30" name="Rectangle 30"/>
          <p:cNvSpPr/>
          <p:nvPr/>
        </p:nvSpPr>
        <p:spPr>
          <a:xfrm>
            <a:off x="952500" y="3286125"/>
            <a:ext cx="142875" cy="247650"/>
          </a:xfrm>
          <a:prstGeom prst="rect">
            <a:avLst/>
          </a:prstGeom>
          <a:solidFill>
            <a:srgbClr val="3C3C5C">
              <a:alpha val="40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26043" y="3376612"/>
            <a:ext cx="1121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75398" y="3368516"/>
            <a:ext cx="14822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储备金（应急+机会窗口）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511165" y="122015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各模块占比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524500" y="1524000"/>
            <a:ext cx="4191000" cy="28575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705475" y="1633538"/>
            <a:ext cx="11746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产品开发 36.7% (55万)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524500" y="1857375"/>
            <a:ext cx="2286000" cy="28575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705475" y="1966912"/>
            <a:ext cx="10541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内容生产 20% (30万)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524500" y="2190750"/>
            <a:ext cx="1905000" cy="285750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705475" y="2300288"/>
            <a:ext cx="11472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日常运营 16.7% (25万)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524500" y="2524125"/>
            <a:ext cx="1524000" cy="285750"/>
          </a:xfrm>
          <a:prstGeom prst="rect">
            <a:avLst/>
          </a:prstGeom>
          <a:solidFill>
            <a:srgbClr val="B8845A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705475" y="2633662"/>
            <a:ext cx="11472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营销推广 16.7% (25万)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524500" y="2857500"/>
            <a:ext cx="1143000" cy="285750"/>
          </a:xfrm>
          <a:prstGeom prst="rect">
            <a:avLst/>
          </a:prstGeom>
          <a:solidFill>
            <a:srgbClr val="3C3C5C">
              <a:alpha val="40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705475" y="2967038"/>
            <a:ext cx="53387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储备金 10%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58165" y="37919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详细预算拆解</a:t>
            </a:r>
          </a:p>
        </p:txBody>
      </p:sp>
      <p:sp>
        <p:nvSpPr>
          <p:cNvPr id="45" name="Rectangle 45"/>
          <p:cNvSpPr/>
          <p:nvPr/>
        </p:nvSpPr>
        <p:spPr>
          <a:xfrm>
            <a:off x="571500" y="4048125"/>
            <a:ext cx="11049000" cy="238125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1360158" y="4146709"/>
            <a:ext cx="32768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预算项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507415" y="4146709"/>
            <a:ext cx="22417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明细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828645" y="4146709"/>
            <a:ext cx="53471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金额（万）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507915" y="4146709"/>
            <a:ext cx="22417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占比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309402" y="4146709"/>
            <a:ext cx="43119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定位翻译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4286250"/>
            <a:ext cx="11049000" cy="2095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1318260" y="4365784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产品开发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954655" y="4373880"/>
            <a:ext cx="1329690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模具25+打样5+首批生产15+包装10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033206" y="4365784"/>
            <a:ext cx="12558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475875" y="4365784"/>
            <a:ext cx="28825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36.7%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770334" y="4373880"/>
            <a:ext cx="1509331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"产品是信的载体"——信封式包装占10万</a:t>
            </a:r>
          </a:p>
        </p:txBody>
      </p:sp>
      <p:sp>
        <p:nvSpPr>
          <p:cNvPr id="57" name="Rectangle 57"/>
          <p:cNvSpPr/>
          <p:nvPr/>
        </p:nvSpPr>
        <p:spPr>
          <a:xfrm>
            <a:off x="571500" y="4495800"/>
            <a:ext cx="11049000" cy="2095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1318260" y="4575334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内容生产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869216" y="4583430"/>
            <a:ext cx="1500569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摄影5+文案5+设计8+视频8+众筹内容4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033206" y="4575334"/>
            <a:ext cx="12558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530096" y="4575334"/>
            <a:ext cx="17980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20%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750618" y="4583430"/>
            <a:ext cx="1548765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"内容=信的内容"——30期日报+20封来信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4705350"/>
            <a:ext cx="11049000" cy="2095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1318260" y="4784884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日常运营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680811" y="4792980"/>
            <a:ext cx="1877378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人力12+小程序开发6+服务器2+工具订阅2+杂项3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033206" y="4784884"/>
            <a:ext cx="12558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488198" y="4784884"/>
            <a:ext cx="26360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16.7%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783479" y="4792980"/>
            <a:ext cx="1483042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"信要寄到"——小程序=邮局，不是商城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4914900"/>
            <a:ext cx="11049000" cy="2095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1318260" y="4994434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营销推广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2862644" y="5002530"/>
            <a:ext cx="1513713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众筹广告10+PR5+KOL种子5+线下活动5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033206" y="4994434"/>
            <a:ext cx="12558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488198" y="4994434"/>
            <a:ext cx="26360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16.7%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851392" y="5002530"/>
            <a:ext cx="1347216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"让对的人先收到信"——不走信息流</a:t>
            </a:r>
          </a:p>
        </p:txBody>
      </p:sp>
      <p:sp>
        <p:nvSpPr>
          <p:cNvPr id="75" name="Rectangle 75"/>
          <p:cNvSpPr/>
          <p:nvPr/>
        </p:nvSpPr>
        <p:spPr>
          <a:xfrm>
            <a:off x="571500" y="5124450"/>
            <a:ext cx="11049000" cy="2095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1367552" y="5203984"/>
            <a:ext cx="31289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储备金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2845118" y="5212080"/>
            <a:ext cx="1548765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应急储备10+机会窗口5（如快闪/联名）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045529" y="5203984"/>
            <a:ext cx="10094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7542419" y="5203984"/>
            <a:ext cx="15516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10%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186577" y="5212080"/>
            <a:ext cx="676846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留有余地=不焦虑</a:t>
            </a:r>
          </a:p>
        </p:txBody>
      </p:sp>
      <p:sp>
        <p:nvSpPr>
          <p:cNvPr id="81" name="Rectangle 81"/>
          <p:cNvSpPr/>
          <p:nvPr/>
        </p:nvSpPr>
        <p:spPr>
          <a:xfrm>
            <a:off x="571500" y="5524500"/>
            <a:ext cx="5334000" cy="571500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82" name="TextBox 82"/>
          <p:cNvSpPr txBox="1"/>
          <p:nvPr/>
        </p:nvSpPr>
        <p:spPr>
          <a:xfrm>
            <a:off x="748665" y="5649278"/>
            <a:ext cx="26351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预算哲学——"每一分钱都在翻译品牌"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52475" y="5919788"/>
            <a:ext cx="409932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最大支出=产品开发（36.7%）→ 定位承诺"产品是信的载体"要求产品本身必须成立。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52475" y="6091238"/>
            <a:ext cx="459771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第二大=内容生产（20%）→ 品牌70%的叙事由内容驱动，内容不是营销成本——是产品的一部分。</a:t>
            </a:r>
          </a:p>
        </p:txBody>
      </p:sp>
      <p:sp>
        <p:nvSpPr>
          <p:cNvPr id="85" name="Rectangle 85"/>
          <p:cNvSpPr/>
          <p:nvPr/>
        </p:nvSpPr>
        <p:spPr>
          <a:xfrm>
            <a:off x="6096000" y="5524500"/>
            <a:ext cx="5524500" cy="5715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86" name="TextBox 86"/>
          <p:cNvSpPr txBox="1"/>
          <p:nvPr/>
        </p:nvSpPr>
        <p:spPr>
          <a:xfrm>
            <a:off x="6273165" y="5649278"/>
            <a:ext cx="29572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现金流节奏——"先紧后松，先验证后放大"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6276975" y="5919788"/>
            <a:ext cx="344757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Q3 2026（准备期）：花40万（产品+内容）→ 在众筹前完成核心资产。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6276975" y="6091238"/>
            <a:ext cx="33380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Q4 2026（众筹期）：花35万（营销+内容）→ 众筹回款补充现金流。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561022" y="6387941"/>
            <a:ext cx="80215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定位一致性：预算结构=品牌策略的财务翻译。产品第一（信要有信的品质），内容第二（信要有信的内容），营销克制（信寄给对的人，不群发）。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P66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81119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年度规划：关键里程碑 x KPI面板——"三点检查"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74275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不是"年底再看"——是"三个时间点各检查一次，每次检查三个数"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Line 6"/>
          <p:cNvSpPr/>
          <p:nvPr/>
        </p:nvSpPr>
        <p:spPr>
          <a:xfrm>
            <a:off x="952500" y="133350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19050">
            <a:solidFill>
              <a:srgbClr val="D5D0C8"/>
            </a:solidFill>
          </a:ln>
        </p:spPr>
      </p:sp>
      <p:sp>
        <p:nvSpPr>
          <p:cNvPr id="7" name="Ellipse 7"/>
          <p:cNvSpPr/>
          <p:nvPr/>
        </p:nvSpPr>
        <p:spPr>
          <a:xfrm>
            <a:off x="1962150" y="1200150"/>
            <a:ext cx="266700" cy="266700"/>
          </a:xfrm>
          <a:prstGeom prst="ellipse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2038350" y="1276350"/>
            <a:ext cx="114300" cy="114300"/>
          </a:xfrm>
          <a:prstGeom prst="ellipse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60125" y="1029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7B7B8E"/>
                </a:solidFill>
                <a:latin typeface="Georgia"/>
                <a:ea typeface="KaiTi"/>
                <a:cs typeface="Georgia"/>
              </a:rPr>
              <a:t>检查点一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54624" y="1585912"/>
            <a:ext cx="68175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2026年12月底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66900" y="1747838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众筹结束</a:t>
            </a:r>
          </a:p>
        </p:txBody>
      </p:sp>
      <p:sp>
        <p:nvSpPr>
          <p:cNvPr id="12" name="Line 12"/>
          <p:cNvSpPr/>
          <p:nvPr/>
        </p:nvSpPr>
        <p:spPr>
          <a:xfrm>
            <a:off x="3238500" y="133350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14288">
            <a:solidFill>
              <a:srgbClr val="D5D0C8"/>
            </a:solidFill>
            <a:custDash>
              <a:ds d="400000" sp="266666"/>
            </a:custDash>
          </a:ln>
        </p:spPr>
      </p:sp>
      <p:sp>
        <p:nvSpPr>
          <p:cNvPr id="13" name="Ellipse 13"/>
          <p:cNvSpPr/>
          <p:nvPr/>
        </p:nvSpPr>
        <p:spPr>
          <a:xfrm>
            <a:off x="5962650" y="1200150"/>
            <a:ext cx="266700" cy="266700"/>
          </a:xfrm>
          <a:prstGeom prst="ellipse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6038850" y="1276350"/>
            <a:ext cx="114300" cy="114300"/>
          </a:xfrm>
          <a:prstGeom prst="ellipse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760625" y="1029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检查点二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71555" y="1585912"/>
            <a:ext cx="64889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2027年3月底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67400" y="1747838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交付完成</a:t>
            </a:r>
          </a:p>
        </p:txBody>
      </p:sp>
      <p:sp>
        <p:nvSpPr>
          <p:cNvPr id="18" name="Line 18"/>
          <p:cNvSpPr/>
          <p:nvPr/>
        </p:nvSpPr>
        <p:spPr>
          <a:xfrm>
            <a:off x="7239000" y="133350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14288">
            <a:solidFill>
              <a:srgbClr val="D5D0C8"/>
            </a:solidFill>
            <a:custDash>
              <a:ds d="400000" sp="266666"/>
            </a:custDash>
          </a:ln>
        </p:spPr>
      </p:sp>
      <p:sp>
        <p:nvSpPr>
          <p:cNvPr id="19" name="Ellipse 19"/>
          <p:cNvSpPr/>
          <p:nvPr/>
        </p:nvSpPr>
        <p:spPr>
          <a:xfrm>
            <a:off x="9963150" y="1200150"/>
            <a:ext cx="266700" cy="266700"/>
          </a:xfrm>
          <a:prstGeom prst="ellipse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10039350" y="1276350"/>
            <a:ext cx="114300" cy="114300"/>
          </a:xfrm>
          <a:prstGeom prst="ellipse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761125" y="10296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检查点三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72055" y="1585912"/>
            <a:ext cx="64889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2027年6月底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799439" y="1747838"/>
            <a:ext cx="59412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Wave 2上线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2095500"/>
            <a:ext cx="3619500" cy="18573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571500" y="2095500"/>
            <a:ext cx="361950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46760" y="2270760"/>
            <a:ext cx="26252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7B7B8E"/>
                </a:solidFill>
                <a:latin typeface="Georgia"/>
                <a:ea typeface="KaiTi"/>
                <a:cs typeface="Georgia"/>
              </a:rPr>
              <a:t>检查点一：验证"有人需要这个"</a:t>
            </a:r>
          </a:p>
        </p:txBody>
      </p:sp>
      <p:sp>
        <p:nvSpPr>
          <p:cNvPr id="27" name="Line 27"/>
          <p:cNvSpPr/>
          <p:nvPr/>
        </p:nvSpPr>
        <p:spPr>
          <a:xfrm>
            <a:off x="762000" y="2524125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762000" y="2647950"/>
            <a:ext cx="3238500" cy="333375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93445" y="2722245"/>
            <a:ext cx="11269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KPI 1：众筹达成率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5350" y="2909888"/>
            <a:ext cx="441150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目标：≥150%（22.5万）。红色线：100%（15万）——低于100%=商业模式假设需要重新验证。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62000" y="3048000"/>
            <a:ext cx="3238500" cy="333375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93445" y="3122295"/>
            <a:ext cx="11615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KPI 2：支持者人数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95350" y="3309938"/>
            <a:ext cx="269176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目标：≥500人。低于300=品牌故事没有打动足够的人。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62000" y="3448050"/>
            <a:ext cx="3238500" cy="428625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93445" y="3522345"/>
            <a:ext cx="21276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KPI 3：自然分享率（非活动驱动）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95350" y="3709988"/>
            <a:ext cx="334899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目标：≥5%支持者主动分享众筹链接。低于5%=产品没有"替人说话"。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3428" y="3880009"/>
            <a:ext cx="261975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决策：低于任一红线 → 延迟Wave 2，先解决品牌表达问题。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333875" y="2095500"/>
            <a:ext cx="3524250" cy="18573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4333875" y="2095500"/>
            <a:ext cx="352425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509135" y="2270760"/>
            <a:ext cx="20731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检查点二：验证"收到了"</a:t>
            </a:r>
          </a:p>
        </p:txBody>
      </p:sp>
      <p:sp>
        <p:nvSpPr>
          <p:cNvPr id="41" name="Line 41"/>
          <p:cNvSpPr/>
          <p:nvPr/>
        </p:nvSpPr>
        <p:spPr>
          <a:xfrm>
            <a:off x="4524375" y="2524125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4524375" y="2647950"/>
            <a:ext cx="3143250" cy="333375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4655820" y="2722245"/>
            <a:ext cx="11269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KPI 1：交付满意度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657725" y="2909888"/>
            <a:ext cx="28998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目标：≥85%。核心问法："收到信的那一刻，感觉怎么样？"</a:t>
            </a:r>
          </a:p>
        </p:txBody>
      </p:sp>
      <p:sp>
        <p:nvSpPr>
          <p:cNvPr id="45" name="Rectangle 45"/>
          <p:cNvSpPr/>
          <p:nvPr/>
        </p:nvSpPr>
        <p:spPr>
          <a:xfrm>
            <a:off x="4524375" y="3048000"/>
            <a:ext cx="3143250" cy="333375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4655820" y="3122295"/>
            <a:ext cx="11615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KPI 2：开箱分享率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657725" y="3309938"/>
            <a:ext cx="256032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目标：≥25%。用户拆开信封后主动拍照分享的比例。</a:t>
            </a:r>
          </a:p>
        </p:txBody>
      </p:sp>
      <p:sp>
        <p:nvSpPr>
          <p:cNvPr id="48" name="Rectangle 48"/>
          <p:cNvSpPr/>
          <p:nvPr/>
        </p:nvSpPr>
        <p:spPr>
          <a:xfrm>
            <a:off x="4524375" y="3448050"/>
            <a:ext cx="3143250" cy="428625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655820" y="3522345"/>
            <a:ext cx="18653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KPI 3："第一封信"阅读完成率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657725" y="3709988"/>
            <a:ext cx="24507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目标：≥80%。用户是否读完了角色的第一封来信。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515802" y="3880009"/>
            <a:ext cx="269369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决策：满意度&lt;80% → 暂停Wave 2开发，优化包装+来信体验。</a:t>
            </a:r>
          </a:p>
        </p:txBody>
      </p:sp>
      <p:sp>
        <p:nvSpPr>
          <p:cNvPr id="52" name="Rectangle 52"/>
          <p:cNvSpPr/>
          <p:nvPr/>
        </p:nvSpPr>
        <p:spPr>
          <a:xfrm>
            <a:off x="8001000" y="2095500"/>
            <a:ext cx="3619500" cy="185737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8001000" y="2095500"/>
            <a:ext cx="3619500" cy="3810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176260" y="2270760"/>
            <a:ext cx="24411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检查点三：验证"有人离不开"</a:t>
            </a:r>
          </a:p>
        </p:txBody>
      </p:sp>
      <p:sp>
        <p:nvSpPr>
          <p:cNvPr id="55" name="Line 55"/>
          <p:cNvSpPr/>
          <p:nvPr/>
        </p:nvSpPr>
        <p:spPr>
          <a:xfrm>
            <a:off x="8191500" y="2524125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56" name="Rectangle 56"/>
          <p:cNvSpPr/>
          <p:nvPr/>
        </p:nvSpPr>
        <p:spPr>
          <a:xfrm>
            <a:off x="8191500" y="2647950"/>
            <a:ext cx="3238500" cy="333375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322945" y="2722245"/>
            <a:ext cx="20448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KPI 1：90天复购率（自购+礼品）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324850" y="2909888"/>
            <a:ext cx="22207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目标：≥15%。低于10%="好看"但不够"懂我"。</a:t>
            </a:r>
          </a:p>
        </p:txBody>
      </p:sp>
      <p:sp>
        <p:nvSpPr>
          <p:cNvPr id="59" name="Rectangle 59"/>
          <p:cNvSpPr/>
          <p:nvPr/>
        </p:nvSpPr>
        <p:spPr>
          <a:xfrm>
            <a:off x="8191500" y="3048000"/>
            <a:ext cx="3238500" cy="333375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322945" y="3122295"/>
            <a:ext cx="11753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KPI 2："这我指数"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324850" y="3309938"/>
            <a:ext cx="27629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目标：≥15%。内容下用户回复"说的是我"类评论的比例。</a:t>
            </a:r>
          </a:p>
        </p:txBody>
      </p:sp>
      <p:sp>
        <p:nvSpPr>
          <p:cNvPr id="62" name="Rectangle 62"/>
          <p:cNvSpPr/>
          <p:nvPr/>
        </p:nvSpPr>
        <p:spPr>
          <a:xfrm>
            <a:off x="8191500" y="3448050"/>
            <a:ext cx="3238500" cy="428625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8322945" y="3522345"/>
            <a:ext cx="11615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KPI 3：沉默留存率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324850" y="3709988"/>
            <a:ext cx="29601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目标：≥60%。不互动但未取关=品牌已经是"桌子上的雾人"。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182928" y="3880009"/>
            <a:ext cx="304859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决策：复购&lt;10% → 加强礼品场景+角色来信频次，"让角色多说一点"。</a:t>
            </a:r>
          </a:p>
        </p:txBody>
      </p:sp>
      <p:sp>
        <p:nvSpPr>
          <p:cNvPr id="66" name="Rectangle 66"/>
          <p:cNvSpPr/>
          <p:nvPr/>
        </p:nvSpPr>
        <p:spPr>
          <a:xfrm>
            <a:off x="571500" y="4191000"/>
            <a:ext cx="11049000" cy="952500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748665" y="4344352"/>
            <a:ext cx="37623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每个检查点的决策逻辑——不是"好就继续，不好就停"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51522" y="4625816"/>
            <a:ext cx="17078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三个检查点分别验证三层假设：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51522" y="4844891"/>
            <a:ext cx="521412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检查点一验证"品牌故事有没有人听"（需求假设）→ 不通过 → 回到品牌定位重新表达，不是降价。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51522" y="5035391"/>
            <a:ext cx="55213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检查点二验证"产品体验能不能兑现品牌承诺"（体验假设）→ 不通过 → 优化包装+来信，不是增加功能。</a:t>
            </a:r>
          </a:p>
        </p:txBody>
      </p:sp>
      <p:sp>
        <p:nvSpPr>
          <p:cNvPr id="71" name="Rectangle 71"/>
          <p:cNvSpPr/>
          <p:nvPr/>
        </p:nvSpPr>
        <p:spPr>
          <a:xfrm>
            <a:off x="571500" y="5334000"/>
            <a:ext cx="5334000" cy="762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748665" y="5487352"/>
            <a:ext cx="13309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Year 1 北极星指标</a:t>
            </a:r>
          </a:p>
        </p:txBody>
      </p:sp>
      <p:sp>
        <p:nvSpPr>
          <p:cNvPr id="73" name="Line 73"/>
          <p:cNvSpPr/>
          <p:nvPr/>
        </p:nvSpPr>
        <p:spPr>
          <a:xfrm>
            <a:off x="762000" y="571500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751522" y="5816441"/>
            <a:ext cx="33465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累计售出：≥3,000体 · 群岛居民：≥500人 · 这我指数：≥15%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52475" y="6015038"/>
            <a:ext cx="33051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北极星= "有多少人说'它说的是我'"。不是销售额——是认同人数。</a:t>
            </a:r>
          </a:p>
        </p:txBody>
      </p:sp>
      <p:sp>
        <p:nvSpPr>
          <p:cNvPr id="76" name="Rectangle 76"/>
          <p:cNvSpPr/>
          <p:nvPr/>
        </p:nvSpPr>
        <p:spPr>
          <a:xfrm>
            <a:off x="6096000" y="5334000"/>
            <a:ext cx="5524500" cy="762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6273165" y="5487352"/>
            <a:ext cx="38428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如果KPI达不到——不是"策略错了"，是"哪个假设错了"</a:t>
            </a:r>
          </a:p>
        </p:txBody>
      </p:sp>
      <p:sp>
        <p:nvSpPr>
          <p:cNvPr id="78" name="Line 78"/>
          <p:cNvSpPr/>
          <p:nvPr/>
        </p:nvSpPr>
        <p:spPr>
          <a:xfrm>
            <a:off x="6286500" y="571500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6276975" y="5824538"/>
            <a:ext cx="332160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众筹低于目标 → 检查：品牌故事表述是否清晰？受众定位是否准确？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6276975" y="5995988"/>
            <a:ext cx="266438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复购低于目标 → 检查：产品体验是否兑现了品牌承诺？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P67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264892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Part 3 小结：我们怎么做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43934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产品→定价→创始人IP→内容→社群→渠道→年度规划——每个模块都在说同一句话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00125"/>
            <a:ext cx="11049000" cy="238125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18461" y="1090612"/>
            <a:ext cx="249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模块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98946" y="1090612"/>
            <a:ext cx="479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核心决策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83925" y="1090612"/>
            <a:ext cx="82415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定位一致性检验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62553" y="1090612"/>
            <a:ext cx="77239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关键案例/数据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33961" y="1090612"/>
            <a:ext cx="249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自检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1285875"/>
            <a:ext cx="110490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571500" y="1285875"/>
            <a:ext cx="38100" cy="3810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31580" y="14187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7B7B8E"/>
                </a:solidFill>
                <a:latin typeface="Georgia"/>
                <a:ea typeface="KaiTi"/>
                <a:cs typeface="Georgia"/>
              </a:rPr>
              <a:t>产品策略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98094" y="1443038"/>
            <a:ext cx="268081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"一个角色=一封信+一个雾人"——不是手办，是信的载体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68152" y="1443038"/>
            <a:ext cx="36556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定位"情绪翻译者"→产品是翻译的物理载体。碎片雾组件=翻译权还给用户。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44794" y="1451134"/>
            <a:ext cx="100791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IKEA效应+4波产品节奏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822817" y="1451134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1714500"/>
            <a:ext cx="110490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1714500"/>
            <a:ext cx="38100" cy="3810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31580" y="1847374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定价策略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66555" y="1871662"/>
            <a:ext cx="254388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"69元=不打折=品牌承诺的确定感"——69元=两杯喜茶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17444" y="1871662"/>
            <a:ext cx="355711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价值观"克制的陪伴"→价格=确定的、不波动的。"信的价值不随时间变"。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44794" y="1879759"/>
            <a:ext cx="100791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Le Labo+Jellycat案例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822817" y="187975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2143125"/>
            <a:ext cx="110490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2143125"/>
            <a:ext cx="38100" cy="381000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42794" y="2275999"/>
            <a:ext cx="6004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7BA4B5"/>
                </a:solidFill>
                <a:latin typeface="Georgia"/>
                <a:ea typeface="KaiTi"/>
                <a:cs typeface="Georgia"/>
              </a:rPr>
              <a:t>创始人IP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015847" y="2300288"/>
            <a:ext cx="244530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"不是打造IP——是让创始人成为品牌第一个'角色'"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240768" y="2300288"/>
            <a:ext cx="37104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创始人=品牌10%叙事+三个故事（起源/方法论/信仰）——只在关键时刻出现。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41281" y="2308384"/>
            <a:ext cx="121493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三类发声主体分工10/20/70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822817" y="2308384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2571750"/>
            <a:ext cx="110490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571500" y="2571750"/>
            <a:ext cx="38100" cy="381000"/>
          </a:xfrm>
          <a:prstGeom prst="rect">
            <a:avLst/>
          </a:prstGeom>
          <a:solidFill>
            <a:srgbClr val="B8845A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31580" y="2704624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B8845A"/>
                </a:solidFill>
                <a:latin typeface="Georgia"/>
                <a:ea typeface="KaiTi"/>
                <a:cs typeface="Georgia"/>
              </a:rPr>
              <a:t>内容营销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177415" y="2728912"/>
            <a:ext cx="212217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"不是品牌在说话——是五个角色各自在生活"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369475" y="2728912"/>
            <a:ext cx="345305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角色叙事70%——四不原则——这我指数替代赞评比——AISAS→Silence修正。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438817" y="2737009"/>
            <a:ext cx="121986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5角色×7系列矩阵+每周日历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822817" y="273700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3000375"/>
            <a:ext cx="110490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571500" y="3000375"/>
            <a:ext cx="38100" cy="38100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31580" y="31332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社群建设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451259" y="3157538"/>
            <a:ext cx="15744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"不是建群——是建一个情绪群岛"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678918" y="3157538"/>
            <a:ext cx="28341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三层同心圆+四个仪式+运营"慢"五原则——不设活跃度KPI。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613803" y="3165634"/>
            <a:ext cx="86989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Lululemon大使项目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822817" y="3165634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" y="3429000"/>
            <a:ext cx="110490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571500" y="3429000"/>
            <a:ext cx="38100" cy="3810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31580" y="3561874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7B7B8E"/>
                </a:solidFill>
                <a:latin typeface="Georgia"/>
                <a:ea typeface="KaiTi"/>
                <a:cs typeface="Georgia"/>
              </a:rPr>
              <a:t>渠道策略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202061" y="3586162"/>
            <a:ext cx="207287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"四阶段：众筹→直营→精选零售→自有邮局"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676180" y="3586162"/>
            <a:ext cx="28396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每个渠道都是"一封推荐信"——三不铺+品牌调性打分矩阵。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421564" y="3594259"/>
            <a:ext cx="125437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渠道=品牌价值观的物理呈现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822817" y="3594259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54" name="Rectangle 54"/>
          <p:cNvSpPr/>
          <p:nvPr/>
        </p:nvSpPr>
        <p:spPr>
          <a:xfrm>
            <a:off x="571500" y="3857625"/>
            <a:ext cx="110490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571500" y="3857625"/>
            <a:ext cx="38100" cy="3810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831580" y="399049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年度规划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991201" y="4014788"/>
            <a:ext cx="249459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"150万分四块——每一分钱都是品牌定位的财务翻译"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191476" y="4014788"/>
            <a:ext cx="380904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产品第一（36.7%）+内容第二（20%）+三点检查机制——验证假设不是盯数据。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473321" y="4022884"/>
            <a:ext cx="115085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甘特图+预算瀑布+KPI面板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822817" y="4022884"/>
            <a:ext cx="713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61" name="Rectangle 61"/>
          <p:cNvSpPr/>
          <p:nvPr/>
        </p:nvSpPr>
        <p:spPr>
          <a:xfrm>
            <a:off x="571500" y="4476750"/>
            <a:ext cx="11049000" cy="904875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746760" y="4613910"/>
            <a:ext cx="285523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Part 3 一致性自检：一个价值循环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51522" y="4911566"/>
            <a:ext cx="100819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产品（信的载体）→ 定价（信的价值确定不变）→ 创始人（第一个写"信"的人）→ 内容（角色每天在写"信"）→ 社群（收到"信"的人聚在一起）→ 渠道（"信"寄到对的地方）→ 年度规划（每一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51522" y="5102066"/>
            <a:ext cx="1840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分钱都在传递"这封信"的价值）。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51522" y="5292566"/>
            <a:ext cx="55939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七个模块不是七件事——是一件事的七个面。那一件事是："让每一种说不清的情绪收到一封回信"。</a:t>
            </a:r>
          </a:p>
        </p:txBody>
      </p:sp>
      <p:sp>
        <p:nvSpPr>
          <p:cNvPr id="66" name="Rectangle 66"/>
          <p:cNvSpPr/>
          <p:nvPr/>
        </p:nvSpPr>
        <p:spPr>
          <a:xfrm>
            <a:off x="3524250" y="5667375"/>
            <a:ext cx="5143500" cy="476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3863283" y="5795010"/>
            <a:ext cx="44654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Part 1 发现价值 → Part 2 创造价值 → Part 3 传播价值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494961" y="6025991"/>
            <a:ext cx="520207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三段不是线性步骤，是一个价值正向循环。附录：理论溯源、完整性验证、待验证假设、灵感来源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P68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8906" r="0" b="289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3C5C">
              <a:alpha val="4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571500" y="342900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14288">
            <a:solidFill>
              <a:srgbClr val="8B9D8B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25780" y="2849880"/>
            <a:ext cx="1195578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5F0E8"/>
                </a:solidFill>
                <a:latin typeface="Georgia"/>
                <a:ea typeface="KaiTi"/>
                <a:cs typeface="Georgia"/>
              </a:rPr>
              <a:t>附录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4355" y="3616642"/>
            <a:ext cx="42635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5D0C8"/>
                </a:solidFill>
                <a:latin typeface="Arial"/>
                <a:ea typeface="Microsoft YaHei"/>
                <a:cs typeface="Arial"/>
              </a:rPr>
              <a:t>理论溯源 · 完整性检查 · 待验证假设 · 灵感来源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9118" y="3990499"/>
            <a:ext cx="29154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不是"补充材料"——是"这份方案的方法论地基"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P69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00609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理论溯源：7个框架 x 7个关键决策依据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44131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7个框架，7个关键决策——不是"贴标签"，是"每个框架真实影响了哪个决策"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00125"/>
            <a:ext cx="3524250" cy="1238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000125"/>
            <a:ext cx="352425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6760" y="1184910"/>
            <a:ext cx="20087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7B7B8E"/>
                </a:solidFill>
                <a:latin typeface="Georgia"/>
                <a:ea typeface="KaiTi"/>
                <a:cs typeface="Georgia"/>
              </a:rPr>
              <a:t>1. PESTEL 宏观环境分析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2475" y="1443038"/>
            <a:ext cx="28396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框架用途：扫描政治/经济/社会/技术/环境/法律六大宏观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2475" y="1614488"/>
            <a:ext cx="15525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环境，判断行业是否值得进入。</a:t>
            </a:r>
          </a:p>
        </p:txBody>
      </p:sp>
      <p:sp>
        <p:nvSpPr>
          <p:cNvPr id="11" name="Line 11"/>
          <p:cNvSpPr/>
          <p:nvPr/>
        </p:nvSpPr>
        <p:spPr>
          <a:xfrm>
            <a:off x="762000" y="179070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752475" y="1881188"/>
            <a:ext cx="1333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岛屿来信真实用到的决策：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2475" y="2071688"/>
            <a:ext cx="29382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社会维度（独居率42% → 情绪陪伴需求）→ 确认行业有机会。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333875" y="1000125"/>
            <a:ext cx="3524250" cy="1238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4333875" y="1000125"/>
            <a:ext cx="352425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509135" y="1184910"/>
            <a:ext cx="17602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2. 波特五力竞争分析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14850" y="1443038"/>
            <a:ext cx="26698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框架用途：五力模型评估行业竞争强度——供应商/买家/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14850" y="1614488"/>
            <a:ext cx="145399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新进入者/替代品/现有竞争。</a:t>
            </a:r>
          </a:p>
        </p:txBody>
      </p:sp>
      <p:sp>
        <p:nvSpPr>
          <p:cNvPr id="19" name="Line 19"/>
          <p:cNvSpPr/>
          <p:nvPr/>
        </p:nvSpPr>
        <p:spPr>
          <a:xfrm>
            <a:off x="4524375" y="179070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4514850" y="1881188"/>
            <a:ext cx="1333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岛屿来信真实用到的决策：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14850" y="2071688"/>
            <a:ext cx="259318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供应商议价力低（PVC工厂多）→ 产品开发成本可控。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096250" y="1000125"/>
            <a:ext cx="3524250" cy="1238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8096250" y="1000125"/>
            <a:ext cx="3524250" cy="38100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271510" y="1184910"/>
            <a:ext cx="2137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7BA4B5"/>
                </a:solidFill>
                <a:latin typeface="Georgia"/>
                <a:ea typeface="KaiTi"/>
                <a:cs typeface="Georgia"/>
              </a:rPr>
              <a:t>3. SWOT-TOWS 交叉分析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77225" y="1443038"/>
            <a:ext cx="221527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框架用途：S-O/S-T/W-O/W-T四象限交叉，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77225" y="1614488"/>
            <a:ext cx="205644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把独立的SWOT元素组合成可执行的策略。</a:t>
            </a:r>
          </a:p>
        </p:txBody>
      </p:sp>
      <p:sp>
        <p:nvSpPr>
          <p:cNvPr id="27" name="Line 27"/>
          <p:cNvSpPr/>
          <p:nvPr/>
        </p:nvSpPr>
        <p:spPr>
          <a:xfrm>
            <a:off x="8286750" y="179070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277225" y="1881188"/>
            <a:ext cx="1333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岛屿来信真实用到的决策：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77225" y="2071688"/>
            <a:ext cx="270271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S-T策略（用情感绑定防御巨头竞争）→ 品牌壁垒设计。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2381250"/>
            <a:ext cx="3524250" cy="1238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571500" y="2381250"/>
            <a:ext cx="3524250" cy="38100"/>
          </a:xfrm>
          <a:prstGeom prst="rect">
            <a:avLst/>
          </a:prstGeom>
          <a:solidFill>
            <a:srgbClr val="B8845A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46760" y="2566035"/>
            <a:ext cx="19443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8845A"/>
                </a:solidFill>
                <a:latin typeface="Georgia"/>
                <a:ea typeface="KaiTi"/>
                <a:cs typeface="Georgia"/>
              </a:rPr>
              <a:t>4. 四种定位方法决策树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2475" y="2824162"/>
            <a:ext cx="28286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框架用途：四种定位方法（品类占位/竞争对立/情感价值/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2475" y="2995612"/>
            <a:ext cx="17716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价值主张）通过四个问题依次过滤。</a:t>
            </a:r>
          </a:p>
        </p:txBody>
      </p:sp>
      <p:sp>
        <p:nvSpPr>
          <p:cNvPr id="35" name="Line 35"/>
          <p:cNvSpPr/>
          <p:nvPr/>
        </p:nvSpPr>
        <p:spPr>
          <a:xfrm>
            <a:off x="762000" y="3171825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752475" y="3262312"/>
            <a:ext cx="1333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岛屿来信真实用到的决策：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2475" y="3452812"/>
            <a:ext cx="22317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功能同质化→情感价值型→"情绪翻译者"定位。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333875" y="2381250"/>
            <a:ext cx="3524250" cy="1238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4333875" y="2381250"/>
            <a:ext cx="3524250" cy="3810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509135" y="2566035"/>
            <a:ext cx="13922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5. 品牌价值画布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514850" y="2824162"/>
            <a:ext cx="26096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框架用途：把生态位翻译成品牌价值主张——功能价值/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514850" y="2995612"/>
            <a:ext cx="20345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情感价值/自我表达价值/社会价值 四层。</a:t>
            </a:r>
          </a:p>
        </p:txBody>
      </p:sp>
      <p:sp>
        <p:nvSpPr>
          <p:cNvPr id="43" name="Line 43"/>
          <p:cNvSpPr/>
          <p:nvPr/>
        </p:nvSpPr>
        <p:spPr>
          <a:xfrm>
            <a:off x="4524375" y="3171825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4514850" y="3262312"/>
            <a:ext cx="1333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岛屿来信真实用到的决策：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514850" y="3452812"/>
            <a:ext cx="239053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情感价值主导→功能+情感+关系三层价值金字塔。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096250" y="2381250"/>
            <a:ext cx="3524250" cy="1238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8096250" y="2381250"/>
            <a:ext cx="352425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271510" y="2566035"/>
            <a:ext cx="2091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7B7B8E"/>
                </a:solidFill>
                <a:latin typeface="Georgia"/>
                <a:ea typeface="KaiTi"/>
                <a:cs typeface="Georgia"/>
              </a:rPr>
              <a:t>6. AISAS 消费者行为模型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277225" y="2824162"/>
            <a:ext cx="288345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框架用途：Attention→Interest→Search→Action→Share，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277225" y="2995612"/>
            <a:ext cx="15525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互联网时代的消费者决策路径。</a:t>
            </a:r>
          </a:p>
        </p:txBody>
      </p:sp>
      <p:sp>
        <p:nvSpPr>
          <p:cNvPr id="51" name="Line 51"/>
          <p:cNvSpPr/>
          <p:nvPr/>
        </p:nvSpPr>
        <p:spPr>
          <a:xfrm>
            <a:off x="8286750" y="3171825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8277225" y="3262312"/>
            <a:ext cx="1333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岛屿来信真实用到的决策：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277225" y="3452812"/>
            <a:ext cx="224813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Search→Silence修正 → 内容策略的核心差异。</a:t>
            </a:r>
          </a:p>
        </p:txBody>
      </p:sp>
      <p:sp>
        <p:nvSpPr>
          <p:cNvPr id="54" name="Rectangle 54"/>
          <p:cNvSpPr/>
          <p:nvPr/>
        </p:nvSpPr>
        <p:spPr>
          <a:xfrm>
            <a:off x="571500" y="3762375"/>
            <a:ext cx="5334000" cy="1238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571500" y="3762375"/>
            <a:ext cx="533400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746760" y="3947160"/>
            <a:ext cx="16774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7. 信任螺旋6层漏斗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52475" y="4205288"/>
            <a:ext cx="327779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框架用途：知道→兴趣→信任→购买→复购→共建，六层逐层加深的信任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52475" y="4376738"/>
            <a:ext cx="214407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建立过程，每层对应不同的内容策略和KPI。</a:t>
            </a:r>
          </a:p>
        </p:txBody>
      </p:sp>
      <p:sp>
        <p:nvSpPr>
          <p:cNvPr id="59" name="Line 59"/>
          <p:cNvSpPr/>
          <p:nvPr/>
        </p:nvSpPr>
        <p:spPr>
          <a:xfrm>
            <a:off x="762000" y="455295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752475" y="4643438"/>
            <a:ext cx="1333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岛屿来信真实用到的决策：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52475" y="4833938"/>
            <a:ext cx="65146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6层分别对应：短视频（知道）→角色故事（兴趣）→创始人故事（信任）→众筹页面（购买）→角色日报（复购）→拼雾星期三（共建）。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096000" y="3762375"/>
            <a:ext cx="5524500" cy="1238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6096000" y="3762375"/>
            <a:ext cx="5524500" cy="38100"/>
          </a:xfrm>
          <a:prstGeom prst="rect">
            <a:avLst/>
          </a:prstGeom>
          <a:solidFill>
            <a:srgbClr val="B8845A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271260" y="3947160"/>
            <a:ext cx="39133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B8845A"/>
                </a:solidFill>
                <a:latin typeface="Georgia"/>
                <a:ea typeface="KaiTi"/>
                <a:cs typeface="Georgia"/>
              </a:rPr>
              <a:t>+ 品牌原型理论（卡尔·荣格 / 玛格丽特·马克）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276975" y="4205288"/>
            <a:ext cx="385833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框架用途：12种品牌原型帮助品牌找到"人格"——品牌不是一个公司，是一个人。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276975" y="4376738"/>
            <a:ext cx="395692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岛屿来信选择"照顾者+诗人"融合——照顾者说"我在这里"，诗人说"我帮你翻译"。</a:t>
            </a:r>
          </a:p>
        </p:txBody>
      </p:sp>
      <p:sp>
        <p:nvSpPr>
          <p:cNvPr id="67" name="Line 67"/>
          <p:cNvSpPr/>
          <p:nvPr/>
        </p:nvSpPr>
        <p:spPr>
          <a:xfrm>
            <a:off x="6286500" y="455295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6276975" y="4643438"/>
            <a:ext cx="1333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岛屿来信真实用到的决策：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276975" y="4833938"/>
            <a:ext cx="385833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排除英雄/天真者/智者/创造者 → 品牌人格=照顾者×诗人融合 → 内容语气设计。</a:t>
            </a:r>
          </a:p>
        </p:txBody>
      </p:sp>
      <p:sp>
        <p:nvSpPr>
          <p:cNvPr id="70" name="Rectangle 70"/>
          <p:cNvSpPr/>
          <p:nvPr/>
        </p:nvSpPr>
        <p:spPr>
          <a:xfrm>
            <a:off x="571500" y="5238750"/>
            <a:ext cx="11049000" cy="619125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748665" y="5392102"/>
            <a:ext cx="1975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框架使用原则——三用三不用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51522" y="5644991"/>
            <a:ext cx="57442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用框架做"决策的拐杖"——不是用框架做"PPT的装饰"。每个框架后面跟一个真实决策。框架说的=品牌做的。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52475" y="5824538"/>
            <a:ext cx="71170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不用框架"证明自己专业"——用框架"避免自己拍脑袋"。不用框架"贴标签"——用框架"验证直觉"。不用框架"凑页数"——每个框架回答一个具体问题。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561022" y="6197441"/>
            <a:ext cx="606359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以上7个框架+品牌原型理论是这份方案的"方法论地基"。它们不是一个书单——是每个策略选择背后都有迹可循。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P70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6386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完整性检查：Layer 0-3 四层质量门逐项自检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34667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Layer 0-3 四层质量门——不是"感觉差不多了"，是逐项检查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00125"/>
            <a:ext cx="11049000" cy="28575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6760" y="1070610"/>
            <a:ext cx="36741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0E8"/>
                </a:solidFill>
                <a:latin typeface="Georgia"/>
                <a:ea typeface="KaiTi"/>
                <a:cs typeface="Georgia"/>
              </a:rPr>
              <a:t>Layer 0：结构完整性——"该有的都有了吗？"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285875"/>
            <a:ext cx="11049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52475" y="1385888"/>
            <a:ext cx="79988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0.1 市场调研模块（P05-P24）——PESTEL ✓ | 波特五力 ✓ | 竞品10家全景 ✓ | 用户画像 ✓ | 用户旅程 ✓ | 用户极简卡片 ✓ | SWOT ✓ | AI行业应用 ✓ | 跨界启发 ✓ | 生态位 ✓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552575"/>
            <a:ext cx="11049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52475" y="1652588"/>
            <a:ext cx="1138904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0.2 战略定位模块（P26-P43）——定位方法选择 ✓ | 价值画布 ✓ | 翻译三部曲 ✓ | 使命 ✓ | 愿景 ✓ | 价值观 ✓ | 品牌人格 ✓ | 语气指南 ✓ | 创始人故事 ✓ | 故事验证 ✓ | 命名 ✓ | 广告语 ✓ | 色彩系统 ✓ | 视觉方向 ✓ | Logo/字体 ✓ | Part 2小结 ✓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1819275"/>
            <a:ext cx="11049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52475" y="1919288"/>
            <a:ext cx="1378791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0.3 战略执行模块（P44-P68）——产品策略（四波+Why雾人+雾人MVP+碎片雾+一致性）✓ | 定价（三层价值+不打折）✓ | 创始人IP（三个故事+内容分工）✓ | 内容（漏斗+AISAS+矩阵+KPI）✓ | 社群（三层架构+仪式+慢哲学）✓ | 渠道（四阶段+三不铺）✓ | 年度规划（甘特图+预算+KPI）✓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2085975"/>
            <a:ext cx="11049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52475" y="2185988"/>
            <a:ext cx="499752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0.4 附录模块（P69-P74）——理论溯源 ✓ | 完整性检查（本页）✓ | 待验证假设 ✓ | 巨人的肩膀 ✓ | 封底 ✓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352675"/>
            <a:ext cx="11049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52475" y="2452688"/>
            <a:ext cx="355163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Layer 0 结论：74页结构完整，三大阶段+附录全覆盖。无缺失模块。 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2762250"/>
            <a:ext cx="11049000" cy="28575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46760" y="2832735"/>
            <a:ext cx="38121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0E8"/>
                </a:solidFill>
                <a:latin typeface="Georgia"/>
                <a:ea typeface="KaiTi"/>
                <a:cs typeface="Georgia"/>
              </a:rPr>
              <a:t>Layer 1：逻辑自洽——"每个结论都有依据吗？"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3048000"/>
            <a:ext cx="11049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52475" y="3148012"/>
            <a:ext cx="579167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1.1 生态位→定位方法链：市场调研发现"功能同质化+情感空白"→定位方法决策树指向"情感价值型"→所有下游模块一致 ✓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3314700"/>
            <a:ext cx="11049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52475" y="3414712"/>
            <a:ext cx="48934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1.2 定位→产品链："情绪翻译者"定位→产品是"信的载体"→雾人+碎片雾组件→四不做原则与定位一致 ✓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581400"/>
            <a:ext cx="11049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52475" y="3681412"/>
            <a:ext cx="52823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1.3 定位→内容链："情绪翻译者"→五个角色是"翻译员"→每个角色有性格/有语气/有专属内容系列→四不原则 ✓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3848100"/>
            <a:ext cx="11049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52475" y="3948112"/>
            <a:ext cx="524946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1.4 价值观→行为链："克制的陪伴"→社群不设活跃度KPI→渠道"三不铺"→内容AISAS修正（Silence）→不打折 ✓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4114800"/>
            <a:ext cx="11049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52475" y="4214812"/>
            <a:ext cx="542472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Layer 1 结论：从生态位到定位到执行，逻辑链路完整。每一个执行决策都能追溯到定位策略。无逻辑断裂。 ✓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4524375"/>
            <a:ext cx="11049000" cy="285750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46760" y="4594860"/>
            <a:ext cx="42446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0E8"/>
                </a:solidFill>
                <a:latin typeface="Georgia"/>
                <a:ea typeface="KaiTi"/>
                <a:cs typeface="Georgia"/>
              </a:rPr>
              <a:t>Layer 2：洞察深度——"每个结论都有'所以呢'吗？"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4810125"/>
            <a:ext cx="11049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52475" y="4910138"/>
            <a:ext cx="778525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2.1 每个策略模块是否配有真实商业案例？——Le Labo（不打折）/ Jellycat（礼品场景）/ Lululemon（慢运营）/ 三顿半（情感价值型）/ 小仙炖（品类占位）✓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5076825"/>
            <a:ext cx="11049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52475" y="5176838"/>
            <a:ext cx="544663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2.2 每个结论是否从数据/事实推导，而非主观判断？——关键数据有来源标注，不确定的数据标注"待调研确认" ✓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343525"/>
            <a:ext cx="11049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52475" y="5443538"/>
            <a:ext cx="632841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2.3 是否挖到了"非显而易见的结论"？——AISAS的S不是Search是Silence / 拼雾星期三的IKEA效应 / 不打折=对"信"的价值的确定 ✓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5610225"/>
            <a:ext cx="11049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52475" y="5710238"/>
            <a:ext cx="557260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Layer 2 结论：有案例佐证、有数据来源、有非显而易见洞察。部分数据（竞品财务数据）标注"待调研确认"。 ✓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019800"/>
            <a:ext cx="11049000" cy="2857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46760" y="6090285"/>
            <a:ext cx="44102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0E8"/>
                </a:solidFill>
                <a:latin typeface="Georgia"/>
                <a:ea typeface="KaiTi"/>
                <a:cs typeface="Georgia"/>
              </a:rPr>
              <a:t>Layer 3：可执行性——"创始人明天能按这个行动吗？"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6305550"/>
            <a:ext cx="11049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752475" y="6405562"/>
            <a:ext cx="540281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3.1 是否有明确的时间线和里程碑？——甘特图（P64-P65）✓、三点检查（P67）✓、阶段进入/退出条件（P62）✓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6572250"/>
            <a:ext cx="11049000" cy="2667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752475" y="6672262"/>
            <a:ext cx="38857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3.2 是否有可衡量的KPI？——这我指数、沉默留存率、开箱分享率、北极星指标 ✓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52475" y="660558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457622" y="6681788"/>
            <a:ext cx="1724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P71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527125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待验证假设：P0/P1/P2 三级假设 x 验证方法 x 时机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41370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不是"我们的判断一定对"——是"我们知道哪些需要验证，什么时候验证"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00125"/>
            <a:ext cx="11049000" cy="285750"/>
          </a:xfrm>
          <a:prstGeom prst="rect">
            <a:avLst/>
          </a:prstGeom>
          <a:solidFill>
            <a:srgbClr val="B8845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6760" y="1070610"/>
            <a:ext cx="55051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0E8"/>
                </a:solidFill>
                <a:latin typeface="Georgia"/>
                <a:ea typeface="KaiTi"/>
                <a:cs typeface="Georgia"/>
              </a:rPr>
              <a:t>P0：必须验证——不做就死。验证失败=商业模式假设需要重新审视。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285875"/>
            <a:ext cx="11049000" cy="2857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18461" y="1404938"/>
            <a:ext cx="249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假设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12939" y="1404938"/>
            <a:ext cx="59412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为什么关键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27946" y="1404938"/>
            <a:ext cx="479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验证方法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09196" y="1404938"/>
            <a:ext cx="479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验证时机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23696" y="1404938"/>
            <a:ext cx="479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成功标准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571625"/>
            <a:ext cx="11049000" cy="476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55853" y="1652588"/>
            <a:ext cx="197429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P0-1: "用户愿意为情绪陪伴付费69元"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68506" y="1660684"/>
            <a:ext cx="448298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整个商业模式建立在"69元=两杯喜茶的价格买情感陪伴"上。如果用户不付费，产品-定价假设不成立。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87933" y="1660684"/>
            <a:ext cx="335913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众筹验证：1000体=69,000元基础目标。观察转化率+支持者画像+评论内容。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57117" y="1660684"/>
            <a:ext cx="98326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众筹期间（Q4 2026）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71985" y="1660684"/>
            <a:ext cx="138253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≥500人付费，平均客单价≥69元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047875"/>
            <a:ext cx="11049000" cy="476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-31046" y="2128838"/>
            <a:ext cx="234809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P0-2: "角色来信+日报=用户留存的核心动力"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01962" y="2136934"/>
            <a:ext cx="461607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如果用户买了雾人但不读来信/日报，品牌的核心差异化（内容体验）没有兑现。只剩一个"好看的摆件"。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022437" y="2136934"/>
            <a:ext cx="329012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小程序数据：第一封信阅读率+日报打开率+"回来那天说了什么"定性访谈。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51140" y="2136934"/>
            <a:ext cx="119522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交付后1-3个月（Q1 2027）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96999" y="2136934"/>
            <a:ext cx="173250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第一封信阅读率&gt;80%，日报打开率&gt;40%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2524125"/>
            <a:ext cx="11049000" cy="476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-25295" y="2605088"/>
            <a:ext cx="233659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B8845A"/>
                </a:solidFill>
                <a:latin typeface="Arial"/>
                <a:ea typeface="Microsoft YaHei"/>
                <a:cs typeface="Arial"/>
              </a:rPr>
              <a:t>P0-3: "情感价值型品牌在中国潮玩市场成立"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47740" y="2613184"/>
            <a:ext cx="472451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中国潮玩以"收藏+盲盒"为主流。用户是否有"情感陪伴"这个需求维度？如果用户只认盲盒，不走情感路线。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214676" y="2613184"/>
            <a:ext cx="290564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众筹评论文本分析+用户调研（"你为什么支持？"）+"这我指数"。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29326" y="2613184"/>
            <a:ext cx="163884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众筹后+交付后（Q4 2026-Q1 2027）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98415" y="2613184"/>
            <a:ext cx="192967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&gt;30%用户提及"感动/懂我/替我说"等情感词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3143250"/>
            <a:ext cx="11049000" cy="28575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46760" y="3213735"/>
            <a:ext cx="55419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0E8"/>
                </a:solidFill>
                <a:latin typeface="Georgia"/>
                <a:ea typeface="KaiTi"/>
                <a:cs typeface="Georgia"/>
              </a:rPr>
              <a:t>P1：重要但可延后——不立即验证不会死，但验证结果影响策略方向。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3429000"/>
            <a:ext cx="11049000" cy="28575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18461" y="3548062"/>
            <a:ext cx="2490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假设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512939" y="3548062"/>
            <a:ext cx="59412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为什么重要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427946" y="3548062"/>
            <a:ext cx="479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验证方法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809196" y="3548062"/>
            <a:ext cx="479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验证时机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523696" y="3548062"/>
            <a:ext cx="479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F0E8"/>
                </a:solidFill>
                <a:latin typeface="Arial"/>
                <a:ea typeface="Microsoft YaHei"/>
                <a:cs typeface="Arial"/>
              </a:rPr>
              <a:t>成功标准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3714750"/>
            <a:ext cx="110490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279493" y="3776662"/>
            <a:ext cx="172701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P1-1: "礼品场景占总销售额30%+"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717006" y="3784759"/>
            <a:ext cx="218598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影响渠道策略和产品设计（礼盒装是否值得投入）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618869" y="3784759"/>
            <a:ext cx="209726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小程序购买场景标签（自购/送礼）+送礼者回访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712387" y="3784759"/>
            <a:ext cx="67272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交付后3-6个月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224790" y="3784759"/>
            <a:ext cx="107692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送礼占比&gt;20%=方向正确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4095750"/>
            <a:ext cx="11049000" cy="38100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276618" y="4157662"/>
            <a:ext cx="17327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P1-2: "精选零售渠道能有效破圈"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160633" y="4165759"/>
            <a:ext cx="129873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影响渠道扩展节奏和谈判策略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793855" y="4165759"/>
            <a:ext cx="174729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首家合作渠道的销售数据+新客来源问卷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852868" y="4165759"/>
            <a:ext cx="39176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Q2 2027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251900" y="4165759"/>
            <a:ext cx="102269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渠道客群中&gt;40%为新客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4667250"/>
            <a:ext cx="11049000" cy="285750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746760" y="4737735"/>
            <a:ext cx="50359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0E8"/>
                </a:solidFill>
                <a:latin typeface="Georgia"/>
                <a:ea typeface="KaiTi"/>
                <a:cs typeface="Georgia"/>
              </a:rPr>
              <a:t>P2：锦上添花——验证成功可以放大，不验证也不影响基本盘。</a:t>
            </a:r>
          </a:p>
        </p:txBody>
      </p:sp>
      <p:sp>
        <p:nvSpPr>
          <p:cNvPr id="54" name="Rectangle 54"/>
          <p:cNvSpPr/>
          <p:nvPr/>
        </p:nvSpPr>
        <p:spPr>
          <a:xfrm>
            <a:off x="571500" y="4953000"/>
            <a:ext cx="5334000" cy="6191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571500" y="4953000"/>
            <a:ext cx="5334000" cy="28575"/>
          </a:xfrm>
          <a:prstGeom prst="rect">
            <a:avLst/>
          </a:prstGeom>
          <a:solidFill>
            <a:srgbClr val="7BA4B5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750570" y="5093970"/>
            <a:ext cx="23553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P2-1: "自有邮局体验空间首店能盈利"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52475" y="5300662"/>
            <a:ext cx="585192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验证方法：快闪店测试（3天）+用户付费意愿调研。时机：2027年下半年。标准：日均客流&gt;50人+单日销售额&gt;5000元。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096000" y="4953000"/>
            <a:ext cx="5524500" cy="6191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6096000" y="4953000"/>
            <a:ext cx="5524500" cy="28575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275070" y="5093970"/>
            <a:ext cx="35423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P2-2: "海外Kickstarter众筹=打开海外市场的有效方式"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276975" y="5300662"/>
            <a:ext cx="631745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验证方法：KS众筹测试（目标$5,000）。时机：国内众筹成功后3个月。标准：达到目标+海外用户反馈中的情感关键词出现频率。</a:t>
            </a:r>
          </a:p>
        </p:txBody>
      </p:sp>
      <p:sp>
        <p:nvSpPr>
          <p:cNvPr id="62" name="Rectangle 62"/>
          <p:cNvSpPr/>
          <p:nvPr/>
        </p:nvSpPr>
        <p:spPr>
          <a:xfrm>
            <a:off x="571500" y="5762625"/>
            <a:ext cx="11049000" cy="428625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748665" y="5887402"/>
            <a:ext cx="11538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假设验证的节奏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51522" y="6102191"/>
            <a:ext cx="83830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众筹结束（Q4 2026）：验证P0-1、P0-3 → 交付后1-3月（Q1 2027）：验证P0-2 → 交付后3-6月（Q2 2027）：验证P1-1、P1-2 → Q3-Q4 2027：验证P2级假设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61022" y="6387941"/>
            <a:ext cx="53285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这份方案的诚实之处：不是每页都写着"一定对"——是知道哪些需要验证，给验证留了时间和方法。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P72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295275"/>
            <a:ext cx="489170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巨人的肩膀：三层同心圆——从吉卜力到杉本博司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0070" y="588645"/>
            <a:ext cx="26911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不是"参考竞品"——是"站到更高的地方往下看"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8001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D5D0C8"/>
            </a:solidFill>
          </a:ln>
        </p:spPr>
      </p:sp>
      <p:sp>
        <p:nvSpPr>
          <p:cNvPr id="6" name="Ellipse 6"/>
          <p:cNvSpPr/>
          <p:nvPr/>
        </p:nvSpPr>
        <p:spPr>
          <a:xfrm>
            <a:off x="3905250" y="1619250"/>
            <a:ext cx="4381500" cy="4381500"/>
          </a:xfrm>
          <a:prstGeom prst="ellipse">
            <a:avLst/>
          </a:prstGeom>
          <a:solidFill>
            <a:srgbClr val="EDE8E0"/>
          </a:solidFill>
          <a:ln w="4762">
            <a:solidFill>
              <a:srgbClr val="D5D0C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391626" y="1574006"/>
            <a:ext cx="14087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7B7B8E"/>
                </a:solidFill>
                <a:latin typeface="Georgia"/>
                <a:ea typeface="KaiTi"/>
                <a:cs typeface="Georgia"/>
              </a:rPr>
              <a:t>外圈：方法论工具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17444" y="1785938"/>
            <a:ext cx="355711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PESTEL / 波特五力 / SWOT / 定位四方法 / AISAS / 信任螺旋 / 品牌原型</a:t>
            </a:r>
          </a:p>
        </p:txBody>
      </p:sp>
      <p:sp>
        <p:nvSpPr>
          <p:cNvPr id="9" name="Ellipse 9"/>
          <p:cNvSpPr/>
          <p:nvPr/>
        </p:nvSpPr>
        <p:spPr>
          <a:xfrm>
            <a:off x="4619625" y="2333625"/>
            <a:ext cx="2952750" cy="2952750"/>
          </a:xfrm>
          <a:prstGeom prst="ellipse">
            <a:avLst/>
          </a:prstGeom>
          <a:solidFill>
            <a:srgbClr val="EDE8E0"/>
          </a:solidFill>
          <a:ln w="9525">
            <a:solidFill>
              <a:srgbClr val="8B9D8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5477887" y="2288381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中圈：品类启发</a:t>
            </a:r>
          </a:p>
        </p:txBody>
      </p:sp>
      <p:sp>
        <p:nvSpPr>
          <p:cNvPr id="11" name="Ellipse 11"/>
          <p:cNvSpPr/>
          <p:nvPr/>
        </p:nvSpPr>
        <p:spPr>
          <a:xfrm>
            <a:off x="5334000" y="3048000"/>
            <a:ext cx="1524000" cy="1524000"/>
          </a:xfrm>
          <a:prstGeom prst="ellipse">
            <a:avLst/>
          </a:prstGeom>
          <a:solidFill>
            <a:srgbClr val="3C3C5C">
              <a:alpha val="6000"/>
            </a:srgbClr>
          </a:solidFill>
          <a:ln w="14288">
            <a:solidFill>
              <a:srgbClr val="3C3C5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664803" y="35499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精神内核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69004" y="3824288"/>
            <a:ext cx="145399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吉卜力·杉本博司·谷川俊太郎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000125"/>
            <a:ext cx="2095500" cy="1809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571500" y="1000125"/>
            <a:ext cx="2095500" cy="3810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48665" y="1201102"/>
            <a:ext cx="11538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内圈：精神内核</a:t>
            </a:r>
          </a:p>
        </p:txBody>
      </p:sp>
      <p:sp>
        <p:nvSpPr>
          <p:cNvPr id="17" name="Line 17"/>
          <p:cNvSpPr/>
          <p:nvPr/>
        </p:nvSpPr>
        <p:spPr>
          <a:xfrm>
            <a:off x="762000" y="1428750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751522" y="1577816"/>
            <a:ext cx="7800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吉卜力工作室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2475" y="1776412"/>
            <a:ext cx="36556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启发：把"日常中的神性"画出来。龙猫不拯救世界——它陪你在雨中等巴士。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2475" y="2062162"/>
            <a:ext cx="18647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雾人不是英雄。它只是和你一样灰。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1522" y="231124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杉本博司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2475" y="2509838"/>
            <a:ext cx="388572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启发：时间本身就是一种表达。长时间曝光的海景——不是"拍海"，是"拍时间"。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2475" y="2700338"/>
            <a:ext cx="18866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根根的"慢"——不是懒。是时间在长。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525000" y="1000125"/>
            <a:ext cx="2095500" cy="12382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9525000" y="1000125"/>
            <a:ext cx="2095500" cy="38100"/>
          </a:xfrm>
          <a:prstGeom prst="rect">
            <a:avLst/>
          </a:prstGeom>
          <a:solidFill>
            <a:srgbClr val="3C3C5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705022" y="1225391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谷川俊太郎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05975" y="1423988"/>
            <a:ext cx="349686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启发：最简单的语言说出最复杂的情感。"活着/现在活着"——没有修辞，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05975" y="1595438"/>
            <a:ext cx="1662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只有陈述。但陈述本身就是力量。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705975" y="1824038"/>
            <a:ext cx="26534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雾人日报的语言——"今天不想说话。就坐这儿陪你。"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4095750"/>
            <a:ext cx="2095500" cy="1809750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571500" y="4095750"/>
            <a:ext cx="2095500" cy="38100"/>
          </a:xfrm>
          <a:prstGeom prst="rect">
            <a:avLst/>
          </a:prstGeom>
          <a:solidFill>
            <a:srgbClr val="8B9D8B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48665" y="4296728"/>
            <a:ext cx="11538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B9D8B"/>
                </a:solidFill>
                <a:latin typeface="Georgia"/>
                <a:ea typeface="KaiTi"/>
                <a:cs typeface="Georgia"/>
              </a:rPr>
              <a:t>中圈：品类启发</a:t>
            </a:r>
          </a:p>
        </p:txBody>
      </p:sp>
      <p:sp>
        <p:nvSpPr>
          <p:cNvPr id="33" name="Line 33"/>
          <p:cNvSpPr/>
          <p:nvPr/>
        </p:nvSpPr>
        <p:spPr>
          <a:xfrm>
            <a:off x="762000" y="4524375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751522" y="4654391"/>
            <a:ext cx="5143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Jellycat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52475" y="4852988"/>
            <a:ext cx="389667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每个玩偶有名字+性格+生日。买了不是"拥有一个玩偶"——是"认识了一个朋友"。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1522" y="5149691"/>
            <a:ext cx="4764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Le Labo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2475" y="5348288"/>
            <a:ext cx="299847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不打折。全球统一定价。"配方值这个价——今天明天都一样"。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51522" y="5625941"/>
            <a:ext cx="8369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C3C5C"/>
                </a:solidFill>
                <a:latin typeface="Arial"/>
                <a:ea typeface="Microsoft YaHei"/>
                <a:cs typeface="Arial"/>
              </a:rPr>
              <a:t>MUJI 无印良品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52475" y="5805488"/>
            <a:ext cx="235219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不是"没有品牌"——是"够好的产品不需要大声"。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525000" y="4191000"/>
            <a:ext cx="2095500" cy="1381125"/>
          </a:xfrm>
          <a:prstGeom prst="rect">
            <a:avLst/>
          </a:prstGeom>
          <a:solidFill>
            <a:srgbClr val="EDE8E0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9525000" y="4191000"/>
            <a:ext cx="2095500" cy="38100"/>
          </a:xfrm>
          <a:prstGeom prst="rect">
            <a:avLst/>
          </a:prstGeom>
          <a:solidFill>
            <a:srgbClr val="7B7B8E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702165" y="4391978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B7B8E"/>
                </a:solidFill>
                <a:latin typeface="Georgia"/>
                <a:ea typeface="KaiTi"/>
                <a:cs typeface="Georgia"/>
              </a:rPr>
              <a:t>外圈：方法论</a:t>
            </a:r>
          </a:p>
        </p:txBody>
      </p:sp>
      <p:sp>
        <p:nvSpPr>
          <p:cNvPr id="43" name="Line 43"/>
          <p:cNvSpPr/>
          <p:nvPr/>
        </p:nvSpPr>
        <p:spPr>
          <a:xfrm>
            <a:off x="9715500" y="4619625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2858">
            <a:solidFill>
              <a:srgbClr val="D5D0C8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9705975" y="4729162"/>
            <a:ext cx="9884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波特《竞争战略》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705975" y="4900612"/>
            <a:ext cx="87891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特劳特《定位》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705975" y="5072062"/>
            <a:ext cx="88987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电通 AISAS 模型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705975" y="5243512"/>
            <a:ext cx="9884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· 荣格品牌原型理论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705975" y="5414962"/>
            <a:ext cx="88987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→ 框架不是装饰——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705975" y="5586412"/>
            <a:ext cx="7858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D8B"/>
                </a:solidFill>
                <a:latin typeface="Arial"/>
                <a:ea typeface="Microsoft YaHei"/>
                <a:cs typeface="Arial"/>
              </a:rPr>
              <a:t>是决策的拐杖。</a:t>
            </a:r>
          </a:p>
        </p:txBody>
      </p:sp>
      <p:sp>
        <p:nvSpPr>
          <p:cNvPr id="50" name="Rectangle 50"/>
          <p:cNvSpPr/>
          <p:nvPr/>
        </p:nvSpPr>
        <p:spPr>
          <a:xfrm>
            <a:off x="571500" y="6143625"/>
            <a:ext cx="11049000" cy="381000"/>
          </a:xfrm>
          <a:prstGeom prst="rect">
            <a:avLst/>
          </a:prstGeom>
          <a:solidFill>
            <a:srgbClr val="3C3C5C">
              <a:alpha val="4000"/>
            </a:srgbClr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2926671" y="6268402"/>
            <a:ext cx="63386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C3C5C"/>
                </a:solidFill>
                <a:latin typeface="Georgia"/>
                <a:ea typeface="KaiTi"/>
                <a:cs typeface="Georgia"/>
              </a:rPr>
              <a:t>"站在巨人的肩膀上不是模仿——是看清楚他们看到了什么，然后往自己的方向走远一点。"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P73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1875" r="0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3C5C">
              <a:alpha val="5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384800" y="2756535"/>
            <a:ext cx="342239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5F0E8"/>
                </a:solidFill>
                <a:latin typeface="Georgia"/>
                <a:ea typeface="KaiTi"/>
                <a:cs typeface="Georgia"/>
              </a:rPr>
              <a:t>这封信写了74页。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91451" y="3280410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F5F0E8"/>
                </a:solidFill>
                <a:latin typeface="Georgia"/>
                <a:ea typeface="KaiTi"/>
                <a:cs typeface="Georgia"/>
              </a:rPr>
              <a:t>接下来，该寄出去了。</a:t>
            </a:r>
          </a:p>
        </p:txBody>
      </p:sp>
      <p:sp>
        <p:nvSpPr>
          <p:cNvPr id="7" name="Line 7"/>
          <p:cNvSpPr/>
          <p:nvPr/>
        </p:nvSpPr>
        <p:spPr>
          <a:xfrm>
            <a:off x="5143500" y="39052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8B9D8B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607558" y="4156710"/>
            <a:ext cx="9768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5D0C8"/>
                </a:solidFill>
                <a:latin typeface="Arial"/>
                <a:ea typeface="Microsoft YaHei"/>
                <a:cs typeface="Arial"/>
              </a:rPr>
              <a:t>—— 岛屿来信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71027" y="4855845"/>
            <a:ext cx="18499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品牌全案策略方案 · 2026年5月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00638" y="6396038"/>
            <a:ext cx="19907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B7B8E"/>
                </a:solidFill>
                <a:latin typeface="Arial"/>
                <a:ea typeface="Microsoft YaHei"/>
                <a:cs typeface="Arial"/>
              </a:rPr>
              <a:t>让每一种说不清的情绪，收到一封回信。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2475" y="6586538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岛屿来信 · 品牌全案策略方案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30238" y="66817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E9EAD"/>
                </a:solidFill>
                <a:latin typeface="Arial"/>
                <a:ea typeface="Microsoft YaHei"/>
                <a:cs typeface="Arial"/>
              </a:rPr>
              <a:t>P74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